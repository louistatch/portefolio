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828800"/>
          </a:xfrm>
          <a:prstGeom prst="rect">
            <a:avLst/>
          </a:prstGeom>
          <a:noFill/>
        </p:spPr>
        <p:txBody>
          <a:bodyPr wrap="square">
            <a:spAutoFit/>
          </a:bodyPr>
          <a:lstStyle/>
          <a:p>
            <a:pPr algn="ctr">
              <a:defRPr sz="4000" b="1">
                <a:solidFill>
                  <a:srgbClr val="FFFFFF"/>
                </a:solidFill>
              </a:defRPr>
            </a:pPr>
            <a:r>
              <a:t>Formation des Formateurs</a:t>
            </a:r>
            <a:br/>
            <a:r>
              <a:t>Gestion Financière Paysanne</a:t>
            </a:r>
          </a:p>
          <a:p>
            <a:pPr algn="ctr">
              <a:spcBef>
                <a:spcPts val="1600"/>
              </a:spcBef>
              <a:defRPr sz="2000">
                <a:solidFill>
                  <a:srgbClr val="CCFBF1"/>
                </a:solidFill>
              </a:defRPr>
            </a:pPr>
            <a:r>
              <a:t>Parcours andragogique de 3 mois — 12 sessions</a:t>
            </a:r>
            <a:br/>
            <a:r>
              <a:t>DataMEAL Academy | TOF-FIN-01</a:t>
            </a:r>
          </a:p>
        </p:txBody>
      </p:sp>
      <p:sp>
        <p:nvSpPr>
          <p:cNvPr id="4" name="TextBox 3"/>
          <p:cNvSpPr txBox="1"/>
          <p:nvPr/>
        </p:nvSpPr>
        <p:spPr>
          <a:xfrm>
            <a:off x="914400" y="5486400"/>
            <a:ext cx="10058400" cy="548640"/>
          </a:xfrm>
          <a:prstGeom prst="rect">
            <a:avLst/>
          </a:prstGeom>
          <a:noFill/>
        </p:spPr>
        <p:txBody>
          <a:bodyPr wrap="none">
            <a:spAutoFit/>
          </a:bodyPr>
          <a:lstStyle/>
          <a:p>
            <a:pPr algn="ctr">
              <a:defRPr sz="1200">
                <a:solidFill>
                  <a:srgbClr val="99F6E4"/>
                </a:solidFill>
              </a:defRPr>
            </a:pPr>
            <a:r>
              <a:t>DataMEAL Academy — Formation des Formateurs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Programme — 12 sessions sur 3 mois</a:t>
            </a:r>
          </a:p>
        </p:txBody>
      </p:sp>
      <p:graphicFrame>
        <p:nvGraphicFramePr>
          <p:cNvPr id="4" name="Table 3"/>
          <p:cNvGraphicFramePr>
            <a:graphicFrameLocks noGrp="1"/>
          </p:cNvGraphicFramePr>
          <p:nvPr/>
        </p:nvGraphicFramePr>
        <p:xfrm>
          <a:off x="548640" y="1371600"/>
          <a:ext cx="10515600.0" cy="5943600"/>
        </p:xfrm>
        <a:graphic>
          <a:graphicData uri="http://schemas.openxmlformats.org/drawingml/2006/table">
            <a:tbl>
              <a:tblPr firstRow="1" bandRow="1">
                <a:tableStyleId>{5C22544A-7EE6-4342-B048-85BDC9FD1C3A}</a:tableStyleId>
              </a:tblPr>
              <a:tblGrid>
                <a:gridCol w="2628900"/>
                <a:gridCol w="2628900"/>
                <a:gridCol w="2628900"/>
                <a:gridCol w="2628900"/>
              </a:tblGrid>
              <a:tr h="457200">
                <a:tc>
                  <a:txBody>
                    <a:bodyPr/>
                    <a:lstStyle/>
                    <a:p>
                      <a:pPr>
                        <a:defRPr sz="1300" b="1">
                          <a:solidFill>
                            <a:srgbClr val="FFFFFF"/>
                          </a:solidFill>
                        </a:defRPr>
                      </a:pPr>
                      <a:r>
                        <a:t>#</a:t>
                      </a:r>
                    </a:p>
                  </a:txBody>
                  <a:tcPr>
                    <a:solidFill>
                      <a:srgbClr val="0D9488"/>
                    </a:solidFill>
                  </a:tcPr>
                </a:tc>
                <a:tc>
                  <a:txBody>
                    <a:bodyPr/>
                    <a:lstStyle/>
                    <a:p>
                      <a:pPr>
                        <a:defRPr sz="1300" b="1">
                          <a:solidFill>
                            <a:srgbClr val="FFFFFF"/>
                          </a:solidFill>
                        </a:defRPr>
                      </a:pPr>
                      <a:r>
                        <a:t>Période</a:t>
                      </a:r>
                    </a:p>
                  </a:txBody>
                  <a:tcPr>
                    <a:solidFill>
                      <a:srgbClr val="0D9488"/>
                    </a:solidFill>
                  </a:tcPr>
                </a:tc>
                <a:tc>
                  <a:txBody>
                    <a:bodyPr/>
                    <a:lstStyle/>
                    <a:p>
                      <a:pPr>
                        <a:defRPr sz="1300" b="1">
                          <a:solidFill>
                            <a:srgbClr val="FFFFFF"/>
                          </a:solidFill>
                        </a:defRPr>
                      </a:pPr>
                      <a:r>
                        <a:t>Thème</a:t>
                      </a:r>
                    </a:p>
                  </a:txBody>
                  <a:tcPr>
                    <a:solidFill>
                      <a:srgbClr val="0D9488"/>
                    </a:solidFill>
                  </a:tcPr>
                </a:tc>
                <a:tc>
                  <a:txBody>
                    <a:bodyPr/>
                    <a:lstStyle/>
                    <a:p>
                      <a:pPr>
                        <a:defRPr sz="1300" b="1">
                          <a:solidFill>
                            <a:srgbClr val="FFFFFF"/>
                          </a:solidFill>
                        </a:defRPr>
                      </a:pPr>
                      <a:r>
                        <a:t>Activité pratique</a:t>
                      </a:r>
                    </a:p>
                  </a:txBody>
                  <a:tcPr>
                    <a:solidFill>
                      <a:srgbClr val="0D9488"/>
                    </a:solidFill>
                  </a:tcPr>
                </a:tc>
              </a:tr>
              <a:tr h="457200">
                <a:tc>
                  <a:txBody>
                    <a:bodyPr/>
                    <a:lstStyle/>
                    <a:p>
                      <a:pPr>
                        <a:defRPr sz="1200">
                          <a:solidFill>
                            <a:srgbClr val="1E293B"/>
                          </a:solidFill>
                        </a:defRPr>
                      </a:pPr>
                      <a:r>
                        <a:t>1</a:t>
                      </a:r>
                    </a:p>
                  </a:txBody>
                  <a:tcPr>
                    <a:solidFill>
                      <a:srgbClr val="FFFFFF"/>
                    </a:solidFill>
                  </a:tcPr>
                </a:tc>
                <a:tc>
                  <a:txBody>
                    <a:bodyPr/>
                    <a:lstStyle/>
                    <a:p>
                      <a:pPr>
                        <a:defRPr sz="1200">
                          <a:solidFill>
                            <a:srgbClr val="1E293B"/>
                          </a:solidFill>
                        </a:defRPr>
                      </a:pPr>
                      <a:r>
                        <a:t>Mois 1 - S1</a:t>
                      </a:r>
                    </a:p>
                  </a:txBody>
                  <a:tcPr>
                    <a:solidFill>
                      <a:srgbClr val="FFFFFF"/>
                    </a:solidFill>
                  </a:tcPr>
                </a:tc>
                <a:tc>
                  <a:txBody>
                    <a:bodyPr/>
                    <a:lstStyle/>
                    <a:p>
                      <a:pPr>
                        <a:defRPr sz="1200">
                          <a:solidFill>
                            <a:srgbClr val="1E293B"/>
                          </a:solidFill>
                        </a:defRPr>
                      </a:pPr>
                      <a:r>
                        <a:t>Posture du formateur rural</a:t>
                      </a:r>
                    </a:p>
                  </a:txBody>
                  <a:tcPr>
                    <a:solidFill>
                      <a:srgbClr val="FFFFFF"/>
                    </a:solidFill>
                  </a:tcPr>
                </a:tc>
                <a:tc>
                  <a:txBody>
                    <a:bodyPr/>
                    <a:lstStyle/>
                    <a:p>
                      <a:pPr>
                        <a:defRPr sz="1200">
                          <a:solidFill>
                            <a:srgbClr val="1E293B"/>
                          </a:solidFill>
                        </a:defRPr>
                      </a:pPr>
                      <a:r>
                        <a:t>Cercle de parole</a:t>
                      </a:r>
                    </a:p>
                  </a:txBody>
                  <a:tcPr>
                    <a:solidFill>
                      <a:srgbClr val="FFFFFF"/>
                    </a:solidFill>
                  </a:tcPr>
                </a:tc>
              </a:tr>
              <a:tr h="457200">
                <a:tc>
                  <a:txBody>
                    <a:bodyPr/>
                    <a:lstStyle/>
                    <a:p>
                      <a:pPr>
                        <a:defRPr sz="1200">
                          <a:solidFill>
                            <a:srgbClr val="1E293B"/>
                          </a:solidFill>
                        </a:defRPr>
                      </a:pPr>
                      <a:r>
                        <a:t>2</a:t>
                      </a:r>
                    </a:p>
                  </a:txBody>
                  <a:tcPr>
                    <a:solidFill>
                      <a:srgbClr val="F1F5F9"/>
                    </a:solidFill>
                  </a:tcPr>
                </a:tc>
                <a:tc>
                  <a:txBody>
                    <a:bodyPr/>
                    <a:lstStyle/>
                    <a:p>
                      <a:pPr>
                        <a:defRPr sz="1200">
                          <a:solidFill>
                            <a:srgbClr val="1E293B"/>
                          </a:solidFill>
                        </a:defRPr>
                      </a:pPr>
                      <a:r>
                        <a:t>Mois 1 - S2</a:t>
                      </a:r>
                    </a:p>
                  </a:txBody>
                  <a:tcPr>
                    <a:solidFill>
                      <a:srgbClr val="F1F5F9"/>
                    </a:solidFill>
                  </a:tcPr>
                </a:tc>
                <a:tc>
                  <a:txBody>
                    <a:bodyPr/>
                    <a:lstStyle/>
                    <a:p>
                      <a:pPr>
                        <a:defRPr sz="1200">
                          <a:solidFill>
                            <a:srgbClr val="1E293B"/>
                          </a:solidFill>
                        </a:defRPr>
                      </a:pPr>
                      <a:r>
                        <a:t>D'où vient et où va l'argent ?</a:t>
                      </a:r>
                    </a:p>
                  </a:txBody>
                  <a:tcPr>
                    <a:solidFill>
                      <a:srgbClr val="F1F5F9"/>
                    </a:solidFill>
                  </a:tcPr>
                </a:tc>
                <a:tc>
                  <a:txBody>
                    <a:bodyPr/>
                    <a:lstStyle/>
                    <a:p>
                      <a:pPr>
                        <a:defRPr sz="1200">
                          <a:solidFill>
                            <a:srgbClr val="1E293B"/>
                          </a:solidFill>
                        </a:defRPr>
                      </a:pPr>
                      <a:r>
                        <a:t>Cailloux entrants/sortants</a:t>
                      </a:r>
                    </a:p>
                  </a:txBody>
                  <a:tcPr>
                    <a:solidFill>
                      <a:srgbClr val="F1F5F9"/>
                    </a:solidFill>
                  </a:tcPr>
                </a:tc>
              </a:tr>
              <a:tr h="457200">
                <a:tc>
                  <a:txBody>
                    <a:bodyPr/>
                    <a:lstStyle/>
                    <a:p>
                      <a:pPr>
                        <a:defRPr sz="1200">
                          <a:solidFill>
                            <a:srgbClr val="1E293B"/>
                          </a:solidFill>
                        </a:defRPr>
                      </a:pPr>
                      <a:r>
                        <a:t>3</a:t>
                      </a:r>
                    </a:p>
                  </a:txBody>
                  <a:tcPr>
                    <a:solidFill>
                      <a:srgbClr val="FFFFFF"/>
                    </a:solidFill>
                  </a:tcPr>
                </a:tc>
                <a:tc>
                  <a:txBody>
                    <a:bodyPr/>
                    <a:lstStyle/>
                    <a:p>
                      <a:pPr>
                        <a:defRPr sz="1200">
                          <a:solidFill>
                            <a:srgbClr val="1E293B"/>
                          </a:solidFill>
                        </a:defRPr>
                      </a:pPr>
                      <a:r>
                        <a:t>Mois 1 - S3</a:t>
                      </a:r>
                    </a:p>
                  </a:txBody>
                  <a:tcPr>
                    <a:solidFill>
                      <a:srgbClr val="FFFFFF"/>
                    </a:solidFill>
                  </a:tcPr>
                </a:tc>
                <a:tc>
                  <a:txBody>
                    <a:bodyPr/>
                    <a:lstStyle/>
                    <a:p>
                      <a:pPr>
                        <a:defRPr sz="1200">
                          <a:solidFill>
                            <a:srgbClr val="1E293B"/>
                          </a:solidFill>
                        </a:defRPr>
                      </a:pPr>
                      <a:r>
                        <a:t>Budget familial en graines</a:t>
                      </a:r>
                    </a:p>
                  </a:txBody>
                  <a:tcPr>
                    <a:solidFill>
                      <a:srgbClr val="FFFFFF"/>
                    </a:solidFill>
                  </a:tcPr>
                </a:tc>
                <a:tc>
                  <a:txBody>
                    <a:bodyPr/>
                    <a:lstStyle/>
                    <a:p>
                      <a:pPr>
                        <a:defRPr sz="1200">
                          <a:solidFill>
                            <a:srgbClr val="1E293B"/>
                          </a:solidFill>
                        </a:defRPr>
                      </a:pPr>
                      <a:r>
                        <a:t>12 tas + graines maïs/haricots</a:t>
                      </a:r>
                    </a:p>
                  </a:txBody>
                  <a:tcPr>
                    <a:solidFill>
                      <a:srgbClr val="FFFFFF"/>
                    </a:solidFill>
                  </a:tcPr>
                </a:tc>
              </a:tr>
              <a:tr h="457200">
                <a:tc>
                  <a:txBody>
                    <a:bodyPr/>
                    <a:lstStyle/>
                    <a:p>
                      <a:pPr>
                        <a:defRPr sz="1200">
                          <a:solidFill>
                            <a:srgbClr val="1E293B"/>
                          </a:solidFill>
                        </a:defRPr>
                      </a:pPr>
                      <a:r>
                        <a:t>4</a:t>
                      </a:r>
                    </a:p>
                  </a:txBody>
                  <a:tcPr>
                    <a:solidFill>
                      <a:srgbClr val="F1F5F9"/>
                    </a:solidFill>
                  </a:tcPr>
                </a:tc>
                <a:tc>
                  <a:txBody>
                    <a:bodyPr/>
                    <a:lstStyle/>
                    <a:p>
                      <a:pPr>
                        <a:defRPr sz="1200">
                          <a:solidFill>
                            <a:srgbClr val="1E293B"/>
                          </a:solidFill>
                        </a:defRPr>
                      </a:pPr>
                      <a:r>
                        <a:t>Mois 1 - S4</a:t>
                      </a:r>
                    </a:p>
                  </a:txBody>
                  <a:tcPr>
                    <a:solidFill>
                      <a:srgbClr val="F1F5F9"/>
                    </a:solidFill>
                  </a:tcPr>
                </a:tc>
                <a:tc>
                  <a:txBody>
                    <a:bodyPr/>
                    <a:lstStyle/>
                    <a:p>
                      <a:pPr>
                        <a:defRPr sz="1200">
                          <a:solidFill>
                            <a:srgbClr val="1E293B"/>
                          </a:solidFill>
                        </a:defRPr>
                      </a:pPr>
                      <a:r>
                        <a:t>Épargne, tontine et AVEC</a:t>
                      </a:r>
                    </a:p>
                  </a:txBody>
                  <a:tcPr>
                    <a:solidFill>
                      <a:srgbClr val="F1F5F9"/>
                    </a:solidFill>
                  </a:tcPr>
                </a:tc>
                <a:tc>
                  <a:txBody>
                    <a:bodyPr/>
                    <a:lstStyle/>
                    <a:p>
                      <a:pPr>
                        <a:defRPr sz="1200">
                          <a:solidFill>
                            <a:srgbClr val="1E293B"/>
                          </a:solidFill>
                        </a:defRPr>
                      </a:pPr>
                      <a:r>
                        <a:t>Simulation tontine en cercle</a:t>
                      </a:r>
                    </a:p>
                  </a:txBody>
                  <a:tcPr>
                    <a:solidFill>
                      <a:srgbClr val="F1F5F9"/>
                    </a:solidFill>
                  </a:tcPr>
                </a:tc>
              </a:tr>
              <a:tr h="457200">
                <a:tc>
                  <a:txBody>
                    <a:bodyPr/>
                    <a:lstStyle/>
                    <a:p>
                      <a:pPr>
                        <a:defRPr sz="1200">
                          <a:solidFill>
                            <a:srgbClr val="1E293B"/>
                          </a:solidFill>
                        </a:defRPr>
                      </a:pPr>
                      <a:r>
                        <a:t>5</a:t>
                      </a:r>
                    </a:p>
                  </a:txBody>
                  <a:tcPr>
                    <a:solidFill>
                      <a:srgbClr val="FFFFFF"/>
                    </a:solidFill>
                  </a:tcPr>
                </a:tc>
                <a:tc>
                  <a:txBody>
                    <a:bodyPr/>
                    <a:lstStyle/>
                    <a:p>
                      <a:pPr>
                        <a:defRPr sz="1200">
                          <a:solidFill>
                            <a:srgbClr val="1E293B"/>
                          </a:solidFill>
                        </a:defRPr>
                      </a:pPr>
                      <a:r>
                        <a:t>Mois 2 - S5</a:t>
                      </a:r>
                    </a:p>
                  </a:txBody>
                  <a:tcPr>
                    <a:solidFill>
                      <a:srgbClr val="FFFFFF"/>
                    </a:solidFill>
                  </a:tcPr>
                </a:tc>
                <a:tc>
                  <a:txBody>
                    <a:bodyPr/>
                    <a:lstStyle/>
                    <a:p>
                      <a:pPr>
                        <a:defRPr sz="1200">
                          <a:solidFill>
                            <a:srgbClr val="1E293B"/>
                          </a:solidFill>
                        </a:defRPr>
                      </a:pPr>
                      <a:r>
                        <a:t>Coût de production agricole</a:t>
                      </a:r>
                    </a:p>
                  </a:txBody>
                  <a:tcPr>
                    <a:solidFill>
                      <a:srgbClr val="FFFFFF"/>
                    </a:solidFill>
                  </a:tcPr>
                </a:tc>
                <a:tc>
                  <a:txBody>
                    <a:bodyPr/>
                    <a:lstStyle/>
                    <a:p>
                      <a:pPr>
                        <a:defRPr sz="1200">
                          <a:solidFill>
                            <a:srgbClr val="1E293B"/>
                          </a:solidFill>
                        </a:defRPr>
                      </a:pPr>
                      <a:r>
                        <a:t>Calcul collectif au tableau</a:t>
                      </a:r>
                    </a:p>
                  </a:txBody>
                  <a:tcPr>
                    <a:solidFill>
                      <a:srgbClr val="FFFFFF"/>
                    </a:solidFill>
                  </a:tcPr>
                </a:tc>
              </a:tr>
              <a:tr h="457200">
                <a:tc>
                  <a:txBody>
                    <a:bodyPr/>
                    <a:lstStyle/>
                    <a:p>
                      <a:pPr>
                        <a:defRPr sz="1200">
                          <a:solidFill>
                            <a:srgbClr val="1E293B"/>
                          </a:solidFill>
                        </a:defRPr>
                      </a:pPr>
                      <a:r>
                        <a:t>6</a:t>
                      </a:r>
                    </a:p>
                  </a:txBody>
                  <a:tcPr>
                    <a:solidFill>
                      <a:srgbClr val="F1F5F9"/>
                    </a:solidFill>
                  </a:tcPr>
                </a:tc>
                <a:tc>
                  <a:txBody>
                    <a:bodyPr/>
                    <a:lstStyle/>
                    <a:p>
                      <a:pPr>
                        <a:defRPr sz="1200">
                          <a:solidFill>
                            <a:srgbClr val="1E293B"/>
                          </a:solidFill>
                        </a:defRPr>
                      </a:pPr>
                      <a:r>
                        <a:t>Mois 2 - S6</a:t>
                      </a:r>
                    </a:p>
                  </a:txBody>
                  <a:tcPr>
                    <a:solidFill>
                      <a:srgbClr val="F1F5F9"/>
                    </a:solidFill>
                  </a:tcPr>
                </a:tc>
                <a:tc>
                  <a:txBody>
                    <a:bodyPr/>
                    <a:lstStyle/>
                    <a:p>
                      <a:pPr>
                        <a:defRPr sz="1200">
                          <a:solidFill>
                            <a:srgbClr val="1E293B"/>
                          </a:solidFill>
                        </a:defRPr>
                      </a:pPr>
                      <a:r>
                        <a:t>Planifier la campagne</a:t>
                      </a:r>
                    </a:p>
                  </a:txBody>
                  <a:tcPr>
                    <a:solidFill>
                      <a:srgbClr val="F1F5F9"/>
                    </a:solidFill>
                  </a:tcPr>
                </a:tc>
                <a:tc>
                  <a:txBody>
                    <a:bodyPr/>
                    <a:lstStyle/>
                    <a:p>
                      <a:pPr>
                        <a:defRPr sz="1200">
                          <a:solidFill>
                            <a:srgbClr val="1E293B"/>
                          </a:solidFill>
                        </a:defRPr>
                      </a:pPr>
                      <a:r>
                        <a:t>Corde des saisons</a:t>
                      </a:r>
                    </a:p>
                  </a:txBody>
                  <a:tcPr>
                    <a:solidFill>
                      <a:srgbClr val="F1F5F9"/>
                    </a:solidFill>
                  </a:tcPr>
                </a:tc>
              </a:tr>
              <a:tr h="457200">
                <a:tc>
                  <a:txBody>
                    <a:bodyPr/>
                    <a:lstStyle/>
                    <a:p>
                      <a:pPr>
                        <a:defRPr sz="1200">
                          <a:solidFill>
                            <a:srgbClr val="1E293B"/>
                          </a:solidFill>
                        </a:defRPr>
                      </a:pPr>
                      <a:r>
                        <a:t>7</a:t>
                      </a:r>
                    </a:p>
                  </a:txBody>
                  <a:tcPr>
                    <a:solidFill>
                      <a:srgbClr val="FFFFFF"/>
                    </a:solidFill>
                  </a:tcPr>
                </a:tc>
                <a:tc>
                  <a:txBody>
                    <a:bodyPr/>
                    <a:lstStyle/>
                    <a:p>
                      <a:pPr>
                        <a:defRPr sz="1200">
                          <a:solidFill>
                            <a:srgbClr val="1E293B"/>
                          </a:solidFill>
                        </a:defRPr>
                      </a:pPr>
                      <a:r>
                        <a:t>Mois 2 - S7</a:t>
                      </a:r>
                    </a:p>
                  </a:txBody>
                  <a:tcPr>
                    <a:solidFill>
                      <a:srgbClr val="FFFFFF"/>
                    </a:solidFill>
                  </a:tcPr>
                </a:tc>
                <a:tc>
                  <a:txBody>
                    <a:bodyPr/>
                    <a:lstStyle/>
                    <a:p>
                      <a:pPr>
                        <a:defRPr sz="1200">
                          <a:solidFill>
                            <a:srgbClr val="1E293B"/>
                          </a:solidFill>
                        </a:defRPr>
                      </a:pPr>
                      <a:r>
                        <a:t>Le crédit : opportunité ou piège ?</a:t>
                      </a:r>
                    </a:p>
                  </a:txBody>
                  <a:tcPr>
                    <a:solidFill>
                      <a:srgbClr val="FFFFFF"/>
                    </a:solidFill>
                  </a:tcPr>
                </a:tc>
                <a:tc>
                  <a:txBody>
                    <a:bodyPr/>
                    <a:lstStyle/>
                    <a:p>
                      <a:pPr>
                        <a:defRPr sz="1200">
                          <a:solidFill>
                            <a:srgbClr val="1E293B"/>
                          </a:solidFill>
                        </a:defRPr>
                      </a:pPr>
                      <a:r>
                        <a:t>Jeu de rôle 3 prêteurs</a:t>
                      </a:r>
                    </a:p>
                  </a:txBody>
                  <a:tcPr>
                    <a:solidFill>
                      <a:srgbClr val="FFFFFF"/>
                    </a:solidFill>
                  </a:tcPr>
                </a:tc>
              </a:tr>
              <a:tr h="457200">
                <a:tc>
                  <a:txBody>
                    <a:bodyPr/>
                    <a:lstStyle/>
                    <a:p>
                      <a:pPr>
                        <a:defRPr sz="1200">
                          <a:solidFill>
                            <a:srgbClr val="1E293B"/>
                          </a:solidFill>
                        </a:defRPr>
                      </a:pPr>
                      <a:r>
                        <a:t>8</a:t>
                      </a:r>
                    </a:p>
                  </a:txBody>
                  <a:tcPr>
                    <a:solidFill>
                      <a:srgbClr val="F1F5F9"/>
                    </a:solidFill>
                  </a:tcPr>
                </a:tc>
                <a:tc>
                  <a:txBody>
                    <a:bodyPr/>
                    <a:lstStyle/>
                    <a:p>
                      <a:pPr>
                        <a:defRPr sz="1200">
                          <a:solidFill>
                            <a:srgbClr val="1E293B"/>
                          </a:solidFill>
                        </a:defRPr>
                      </a:pPr>
                      <a:r>
                        <a:t>Mois 2 - S8</a:t>
                      </a:r>
                    </a:p>
                  </a:txBody>
                  <a:tcPr>
                    <a:solidFill>
                      <a:srgbClr val="F1F5F9"/>
                    </a:solidFill>
                  </a:tcPr>
                </a:tc>
                <a:tc>
                  <a:txBody>
                    <a:bodyPr/>
                    <a:lstStyle/>
                    <a:p>
                      <a:pPr>
                        <a:defRPr sz="1200">
                          <a:solidFill>
                            <a:srgbClr val="1E293B"/>
                          </a:solidFill>
                        </a:defRPr>
                      </a:pPr>
                      <a:r>
                        <a:t>Vendre au bon moment</a:t>
                      </a:r>
                    </a:p>
                  </a:txBody>
                  <a:tcPr>
                    <a:solidFill>
                      <a:srgbClr val="F1F5F9"/>
                    </a:solidFill>
                  </a:tcPr>
                </a:tc>
                <a:tc>
                  <a:txBody>
                    <a:bodyPr/>
                    <a:lstStyle/>
                    <a:p>
                      <a:pPr>
                        <a:defRPr sz="1200">
                          <a:solidFill>
                            <a:srgbClr val="1E293B"/>
                          </a:solidFill>
                        </a:defRPr>
                      </a:pPr>
                      <a:r>
                        <a:t>Courbe des prix au sol</a:t>
                      </a:r>
                    </a:p>
                  </a:txBody>
                  <a:tcPr>
                    <a:solidFill>
                      <a:srgbClr val="F1F5F9"/>
                    </a:solidFill>
                  </a:tcPr>
                </a:tc>
              </a:tr>
              <a:tr h="457200">
                <a:tc>
                  <a:txBody>
                    <a:bodyPr/>
                    <a:lstStyle/>
                    <a:p>
                      <a:pPr>
                        <a:defRPr sz="1200">
                          <a:solidFill>
                            <a:srgbClr val="1E293B"/>
                          </a:solidFill>
                        </a:defRPr>
                      </a:pPr>
                      <a:r>
                        <a:t>9</a:t>
                      </a:r>
                    </a:p>
                  </a:txBody>
                  <a:tcPr>
                    <a:solidFill>
                      <a:srgbClr val="FFFFFF"/>
                    </a:solidFill>
                  </a:tcPr>
                </a:tc>
                <a:tc>
                  <a:txBody>
                    <a:bodyPr/>
                    <a:lstStyle/>
                    <a:p>
                      <a:pPr>
                        <a:defRPr sz="1200">
                          <a:solidFill>
                            <a:srgbClr val="1E293B"/>
                          </a:solidFill>
                        </a:defRPr>
                      </a:pPr>
                      <a:r>
                        <a:t>Mois 3 - S9</a:t>
                      </a:r>
                    </a:p>
                  </a:txBody>
                  <a:tcPr>
                    <a:solidFill>
                      <a:srgbClr val="FFFFFF"/>
                    </a:solidFill>
                  </a:tcPr>
                </a:tc>
                <a:tc>
                  <a:txBody>
                    <a:bodyPr/>
                    <a:lstStyle/>
                    <a:p>
                      <a:pPr>
                        <a:defRPr sz="1200">
                          <a:solidFill>
                            <a:srgbClr val="1E293B"/>
                          </a:solidFill>
                        </a:defRPr>
                      </a:pPr>
                      <a:r>
                        <a:t>Gérer les risques financiers</a:t>
                      </a:r>
                    </a:p>
                  </a:txBody>
                  <a:tcPr>
                    <a:solidFill>
                      <a:srgbClr val="FFFFFF"/>
                    </a:solidFill>
                  </a:tcPr>
                </a:tc>
                <a:tc>
                  <a:txBody>
                    <a:bodyPr/>
                    <a:lstStyle/>
                    <a:p>
                      <a:pPr>
                        <a:defRPr sz="1200">
                          <a:solidFill>
                            <a:srgbClr val="1E293B"/>
                          </a:solidFill>
                        </a:defRPr>
                      </a:pPr>
                      <a:r>
                        <a:t>Méthode des 3 enveloppes</a:t>
                      </a:r>
                    </a:p>
                  </a:txBody>
                  <a:tcPr>
                    <a:solidFill>
                      <a:srgbClr val="FFFFFF"/>
                    </a:solidFill>
                  </a:tcPr>
                </a:tc>
              </a:tr>
              <a:tr h="457200">
                <a:tc>
                  <a:txBody>
                    <a:bodyPr/>
                    <a:lstStyle/>
                    <a:p>
                      <a:pPr>
                        <a:defRPr sz="1200">
                          <a:solidFill>
                            <a:srgbClr val="1E293B"/>
                          </a:solidFill>
                        </a:defRPr>
                      </a:pPr>
                      <a:r>
                        <a:t>10</a:t>
                      </a:r>
                    </a:p>
                  </a:txBody>
                  <a:tcPr>
                    <a:solidFill>
                      <a:srgbClr val="F1F5F9"/>
                    </a:solidFill>
                  </a:tcPr>
                </a:tc>
                <a:tc>
                  <a:txBody>
                    <a:bodyPr/>
                    <a:lstStyle/>
                    <a:p>
                      <a:pPr>
                        <a:defRPr sz="1200">
                          <a:solidFill>
                            <a:srgbClr val="1E293B"/>
                          </a:solidFill>
                        </a:defRPr>
                      </a:pPr>
                      <a:r>
                        <a:t>Mois 3 - S10</a:t>
                      </a:r>
                    </a:p>
                  </a:txBody>
                  <a:tcPr>
                    <a:solidFill>
                      <a:srgbClr val="F1F5F9"/>
                    </a:solidFill>
                  </a:tcPr>
                </a:tc>
                <a:tc>
                  <a:txBody>
                    <a:bodyPr/>
                    <a:lstStyle/>
                    <a:p>
                      <a:pPr>
                        <a:defRPr sz="1200">
                          <a:solidFill>
                            <a:srgbClr val="1E293B"/>
                          </a:solidFill>
                        </a:defRPr>
                      </a:pPr>
                      <a:r>
                        <a:t>Structurer une session APCA</a:t>
                      </a:r>
                    </a:p>
                  </a:txBody>
                  <a:tcPr>
                    <a:solidFill>
                      <a:srgbClr val="F1F5F9"/>
                    </a:solidFill>
                  </a:tcPr>
                </a:tc>
                <a:tc>
                  <a:txBody>
                    <a:bodyPr/>
                    <a:lstStyle/>
                    <a:p>
                      <a:pPr>
                        <a:defRPr sz="1200">
                          <a:solidFill>
                            <a:srgbClr val="1E293B"/>
                          </a:solidFill>
                        </a:defRPr>
                      </a:pPr>
                      <a:r>
                        <a:t>Préparer une fiche de session</a:t>
                      </a:r>
                    </a:p>
                  </a:txBody>
                  <a:tcPr>
                    <a:solidFill>
                      <a:srgbClr val="F1F5F9"/>
                    </a:solidFill>
                  </a:tcPr>
                </a:tc>
              </a:tr>
              <a:tr h="457200">
                <a:tc>
                  <a:txBody>
                    <a:bodyPr/>
                    <a:lstStyle/>
                    <a:p>
                      <a:pPr>
                        <a:defRPr sz="1200">
                          <a:solidFill>
                            <a:srgbClr val="1E293B"/>
                          </a:solidFill>
                        </a:defRPr>
                      </a:pPr>
                      <a:r>
                        <a:t>11</a:t>
                      </a:r>
                    </a:p>
                  </a:txBody>
                  <a:tcPr>
                    <a:solidFill>
                      <a:srgbClr val="FFFFFF"/>
                    </a:solidFill>
                  </a:tcPr>
                </a:tc>
                <a:tc>
                  <a:txBody>
                    <a:bodyPr/>
                    <a:lstStyle/>
                    <a:p>
                      <a:pPr>
                        <a:defRPr sz="1200">
                          <a:solidFill>
                            <a:srgbClr val="1E293B"/>
                          </a:solidFill>
                        </a:defRPr>
                      </a:pPr>
                      <a:r>
                        <a:t>Mois 3 - S11</a:t>
                      </a:r>
                    </a:p>
                  </a:txBody>
                  <a:tcPr>
                    <a:solidFill>
                      <a:srgbClr val="FFFFFF"/>
                    </a:solidFill>
                  </a:tcPr>
                </a:tc>
                <a:tc>
                  <a:txBody>
                    <a:bodyPr/>
                    <a:lstStyle/>
                    <a:p>
                      <a:pPr>
                        <a:defRPr sz="1200">
                          <a:solidFill>
                            <a:srgbClr val="1E293B"/>
                          </a:solidFill>
                        </a:defRPr>
                      </a:pPr>
                      <a:r>
                        <a:t>Pratique supervisée</a:t>
                      </a:r>
                    </a:p>
                  </a:txBody>
                  <a:tcPr>
                    <a:solidFill>
                      <a:srgbClr val="FFFFFF"/>
                    </a:solidFill>
                  </a:tcPr>
                </a:tc>
                <a:tc>
                  <a:txBody>
                    <a:bodyPr/>
                    <a:lstStyle/>
                    <a:p>
                      <a:pPr>
                        <a:defRPr sz="1200">
                          <a:solidFill>
                            <a:srgbClr val="1E293B"/>
                          </a:solidFill>
                        </a:defRPr>
                      </a:pPr>
                      <a:r>
                        <a:t>Chaque stagiaire anime 20 min</a:t>
                      </a:r>
                    </a:p>
                  </a:txBody>
                  <a:tcPr>
                    <a:solidFill>
                      <a:srgbClr val="FFFFFF"/>
                    </a:solidFill>
                  </a:tcPr>
                </a:tc>
              </a:tr>
              <a:tr h="457200">
                <a:tc>
                  <a:txBody>
                    <a:bodyPr/>
                    <a:lstStyle/>
                    <a:p>
                      <a:pPr>
                        <a:defRPr sz="1200">
                          <a:solidFill>
                            <a:srgbClr val="1E293B"/>
                          </a:solidFill>
                        </a:defRPr>
                      </a:pPr>
                      <a:r>
                        <a:t>12</a:t>
                      </a:r>
                    </a:p>
                  </a:txBody>
                  <a:tcPr>
                    <a:solidFill>
                      <a:srgbClr val="F1F5F9"/>
                    </a:solidFill>
                  </a:tcPr>
                </a:tc>
                <a:tc>
                  <a:txBody>
                    <a:bodyPr/>
                    <a:lstStyle/>
                    <a:p>
                      <a:pPr>
                        <a:defRPr sz="1200">
                          <a:solidFill>
                            <a:srgbClr val="1E293B"/>
                          </a:solidFill>
                        </a:defRPr>
                      </a:pPr>
                      <a:r>
                        <a:t>Mois 3 - S12</a:t>
                      </a:r>
                    </a:p>
                  </a:txBody>
                  <a:tcPr>
                    <a:solidFill>
                      <a:srgbClr val="F1F5F9"/>
                    </a:solidFill>
                  </a:tcPr>
                </a:tc>
                <a:tc>
                  <a:txBody>
                    <a:bodyPr/>
                    <a:lstStyle/>
                    <a:p>
                      <a:pPr>
                        <a:defRPr sz="1200">
                          <a:solidFill>
                            <a:srgbClr val="1E293B"/>
                          </a:solidFill>
                        </a:defRPr>
                      </a:pPr>
                      <a:r>
                        <a:t>Plan d'action communautaire</a:t>
                      </a:r>
                    </a:p>
                  </a:txBody>
                  <a:tcPr>
                    <a:solidFill>
                      <a:srgbClr val="F1F5F9"/>
                    </a:solidFill>
                  </a:tcPr>
                </a:tc>
                <a:tc>
                  <a:txBody>
                    <a:bodyPr/>
                    <a:lstStyle/>
                    <a:p>
                      <a:pPr>
                        <a:defRPr sz="1200">
                          <a:solidFill>
                            <a:srgbClr val="1E293B"/>
                          </a:solidFill>
                        </a:defRPr>
                      </a:pPr>
                      <a:r>
                        <a:t>Engagement collectif</a:t>
                      </a:r>
                    </a:p>
                  </a:txBody>
                  <a:tcPr>
                    <a:solidFill>
                      <a:srgbClr val="F1F5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Approche andragogique : 5 principes</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1. L'adulte a besoin de savoir POURQUOI → Commencer par un problème concret</a:t>
            </a:r>
          </a:p>
          <a:p>
            <a:pPr>
              <a:spcBef>
                <a:spcPts val="800"/>
              </a:spcBef>
              <a:defRPr sz="1600">
                <a:solidFill>
                  <a:srgbClr val="1E293B"/>
                </a:solidFill>
              </a:defRPr>
            </a:pPr>
            <a:r>
              <a:t>2. L'adulte apporte son expérience → Faire parler les anciens d'abord</a:t>
            </a:r>
          </a:p>
          <a:p>
            <a:pPr>
              <a:spcBef>
                <a:spcPts val="800"/>
              </a:spcBef>
              <a:defRPr sz="1600">
                <a:solidFill>
                  <a:srgbClr val="1E293B"/>
                </a:solidFill>
              </a:defRPr>
            </a:pPr>
            <a:r>
              <a:t>3. L'adulte veut décider lui-même → Proposer, ne jamais imposer</a:t>
            </a:r>
          </a:p>
          <a:p>
            <a:pPr>
              <a:spcBef>
                <a:spcPts val="800"/>
              </a:spcBef>
              <a:defRPr sz="1600">
                <a:solidFill>
                  <a:srgbClr val="1E293B"/>
                </a:solidFill>
              </a:defRPr>
            </a:pPr>
            <a:r>
              <a:t>4. L'adulte apprend pour résoudre un problème immédiat → Chaque session = 1 problème réel</a:t>
            </a:r>
          </a:p>
          <a:p>
            <a:pPr>
              <a:spcBef>
                <a:spcPts val="800"/>
              </a:spcBef>
              <a:defRPr sz="1600">
                <a:solidFill>
                  <a:srgbClr val="1E293B"/>
                </a:solidFill>
              </a:defRPr>
            </a:pPr>
            <a:r>
              <a:t>5. L'adulte est motivé par des résultats concrets → Gains visibles dès la 1ère session</a:t>
            </a:r>
          </a:p>
        </p:txBody>
      </p:sp>
      <p:sp>
        <p:nvSpPr>
          <p:cNvPr id="5" name="Rectangle 4"/>
          <p:cNvSpPr/>
          <p:nvPr/>
        </p:nvSpPr>
        <p:spPr>
          <a:xfrm>
            <a:off x="7498079" y="1371600"/>
            <a:ext cx="4114800" cy="4114800"/>
          </a:xfrm>
          <a:prstGeom prst="rect">
            <a:avLst/>
          </a:prstGeom>
          <a:solidFill>
            <a:srgbClr val="F1F5F9"/>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D9488"/>
                </a:solidFill>
              </a:defRPr>
            </a:pPr>
            <a:r>
              <a:t>Règle d'or</a:t>
            </a:r>
          </a:p>
          <a:p>
            <a:pPr>
              <a:spcBef>
                <a:spcPts val="1000"/>
              </a:spcBef>
              <a:defRPr sz="1300">
                <a:solidFill>
                  <a:srgbClr val="1E293B"/>
                </a:solidFill>
              </a:defRPr>
            </a:pPr>
            <a:r>
              <a:t>Le formateur parle 20% du temps maximum. Les 80% restants, ce sont les participants qui parlent, réfléchissent, calculent et échangent.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 cycle APCA — Canevas de chaque session</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A — ACCROCHE (15 min) : Un problème vécu, une histoire, une question provocante</a:t>
            </a:r>
          </a:p>
          <a:p>
            <a:pPr>
              <a:spcBef>
                <a:spcPts val="800"/>
              </a:spcBef>
              <a:defRPr sz="1600">
                <a:solidFill>
                  <a:srgbClr val="1E293B"/>
                </a:solidFill>
              </a:defRPr>
            </a:pPr>
          </a:p>
          <a:p>
            <a:pPr>
              <a:spcBef>
                <a:spcPts val="800"/>
              </a:spcBef>
              <a:defRPr sz="1600">
                <a:solidFill>
                  <a:srgbClr val="1E293B"/>
                </a:solidFill>
              </a:defRPr>
            </a:pPr>
            <a:r>
              <a:t>P — PRATIQUE (60 min) : Activité participative (cailloux, jeu de rôle, calcul collectif)</a:t>
            </a:r>
          </a:p>
          <a:p>
            <a:pPr>
              <a:spcBef>
                <a:spcPts val="800"/>
              </a:spcBef>
              <a:defRPr sz="1600">
                <a:solidFill>
                  <a:srgbClr val="1E293B"/>
                </a:solidFill>
              </a:defRPr>
            </a:pPr>
          </a:p>
          <a:p>
            <a:pPr>
              <a:spcBef>
                <a:spcPts val="800"/>
              </a:spcBef>
              <a:defRPr sz="1600">
                <a:solidFill>
                  <a:srgbClr val="1E293B"/>
                </a:solidFill>
              </a:defRPr>
            </a:pPr>
            <a:r>
              <a:t>C — CONCEPTUALISATION (20 min) : Le GROUPE formule la leçon — pas le formateur</a:t>
            </a:r>
          </a:p>
          <a:p>
            <a:pPr>
              <a:spcBef>
                <a:spcPts val="800"/>
              </a:spcBef>
              <a:defRPr sz="1600">
                <a:solidFill>
                  <a:srgbClr val="1E293B"/>
                </a:solidFill>
              </a:defRPr>
            </a:pPr>
          </a:p>
          <a:p>
            <a:pPr>
              <a:spcBef>
                <a:spcPts val="800"/>
              </a:spcBef>
              <a:defRPr sz="1600">
                <a:solidFill>
                  <a:srgbClr val="1E293B"/>
                </a:solidFill>
              </a:defRPr>
            </a:pPr>
            <a:r>
              <a:t>A — ACTION (15 min) : Engagement concret à appliquer avant la prochaine session</a:t>
            </a:r>
          </a:p>
          <a:p>
            <a:pPr>
              <a:spcBef>
                <a:spcPts val="800"/>
              </a:spcBef>
              <a:defRPr sz="1600">
                <a:solidFill>
                  <a:srgbClr val="1E293B"/>
                </a:solidFill>
              </a:defRPr>
            </a:pPr>
          </a:p>
          <a:p>
            <a:pPr>
              <a:spcBef>
                <a:spcPts val="800"/>
              </a:spcBef>
              <a:defRPr sz="1600">
                <a:solidFill>
                  <a:srgbClr val="1E293B"/>
                </a:solidFill>
              </a:defRPr>
            </a:pPr>
            <a:r>
              <a:t>Durée totale : 2h maximum. Au-delà, les adultes en milieu rural décrochent.</a:t>
            </a:r>
          </a:p>
        </p:txBody>
      </p:sp>
      <p:sp>
        <p:nvSpPr>
          <p:cNvPr id="5" name="Rectangle 4"/>
          <p:cNvSpPr/>
          <p:nvPr/>
        </p:nvSpPr>
        <p:spPr>
          <a:xfrm>
            <a:off x="7498079" y="1371600"/>
            <a:ext cx="4114800" cy="4114800"/>
          </a:xfrm>
          <a:prstGeom prst="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Pourquoi APCA ?</a:t>
            </a:r>
          </a:p>
          <a:p>
            <a:pPr>
              <a:spcBef>
                <a:spcPts val="1000"/>
              </a:spcBef>
              <a:defRPr sz="1300">
                <a:solidFill>
                  <a:srgbClr val="1E293B"/>
                </a:solidFill>
              </a:defRPr>
            </a:pPr>
            <a:r>
              <a:t>Les adultes retiennent 20% de ce qu'ils entendent, 50% de ce qu'ils voient, mais 80% de ce qu'ils FONT. Le cycle APCA met la PRATIQUE au centre.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spAutoFit/>
          </a:bodyPr>
          <a:lstStyle/>
          <a:p>
            <a:pPr algn="ctr">
              <a:defRPr sz="3600" b="1">
                <a:solidFill>
                  <a:srgbClr val="0D9488"/>
                </a:solidFill>
              </a:defRPr>
            </a:pPr>
            <a:r>
              <a:t>MOIS 1</a:t>
            </a:r>
          </a:p>
          <a:p>
            <a:pPr algn="ctr">
              <a:spcBef>
                <a:spcPts val="1200"/>
              </a:spcBef>
              <a:defRPr sz="2000">
                <a:solidFill>
                  <a:srgbClr val="94A3B8"/>
                </a:solidFill>
              </a:defRPr>
            </a:pPr>
            <a:r>
              <a:t>Comprendre l'argent du paysan</a:t>
            </a:r>
            <a:br/>
            <a:r>
              <a:t>Semaines 1 à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1</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1</a:t>
            </a:r>
          </a:p>
          <a:p>
            <a:pPr>
              <a:spcBef>
                <a:spcPts val="600"/>
              </a:spcBef>
              <a:defRPr sz="3200" b="1">
                <a:solidFill>
                  <a:srgbClr val="1E293B"/>
                </a:solidFill>
              </a:defRPr>
            </a:pPr>
            <a:r>
              <a:t>Posture du formateur-animateur</a:t>
            </a:r>
            <a:br/>
            <a:r>
              <a:t>en milieu rural</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  |  Matériel : cercle de chaises, images parlantes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Vous n'êtes pas un professeur, vous êtes un facilitateur</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Les paysans ont 20, 30, 40 ans d'expérience. Ils savent déjà beaucoup.</a:t>
            </a:r>
          </a:p>
          <a:p>
            <a:pPr>
              <a:spcBef>
                <a:spcPts val="800"/>
              </a:spcBef>
              <a:defRPr sz="1600">
                <a:solidFill>
                  <a:srgbClr val="1E293B"/>
                </a:solidFill>
              </a:defRPr>
            </a:pPr>
            <a:r>
              <a:t>Votre rôle : faciliter la prise de conscience, PAS enseigner.</a:t>
            </a:r>
          </a:p>
          <a:p>
            <a:pPr>
              <a:spcBef>
                <a:spcPts val="800"/>
              </a:spcBef>
              <a:defRPr sz="1600">
                <a:solidFill>
                  <a:srgbClr val="1E293B"/>
                </a:solidFill>
              </a:defRPr>
            </a:pPr>
          </a:p>
          <a:p>
            <a:pPr>
              <a:spcBef>
                <a:spcPts val="800"/>
              </a:spcBef>
              <a:defRPr sz="1600">
                <a:solidFill>
                  <a:srgbClr val="1E293B"/>
                </a:solidFill>
              </a:defRPr>
            </a:pPr>
            <a:r>
              <a:t>Boîte à outils du facilitateur :</a:t>
            </a:r>
          </a:p>
          <a:p>
            <a:pPr>
              <a:spcBef>
                <a:spcPts val="800"/>
              </a:spcBef>
              <a:defRPr sz="1600">
                <a:solidFill>
                  <a:srgbClr val="1E293B"/>
                </a:solidFill>
              </a:defRPr>
            </a:pPr>
            <a:r>
              <a:t>  • L'arbre à problèmes — dessiner causes/conséquences au sol</a:t>
            </a:r>
          </a:p>
          <a:p>
            <a:pPr>
              <a:spcBef>
                <a:spcPts val="800"/>
              </a:spcBef>
              <a:defRPr sz="1600">
                <a:solidFill>
                  <a:srgbClr val="1E293B"/>
                </a:solidFill>
              </a:defRPr>
            </a:pPr>
            <a:r>
              <a:t>  • Le cercle de parole — chacun parle à son tour</a:t>
            </a:r>
          </a:p>
          <a:p>
            <a:pPr>
              <a:spcBef>
                <a:spcPts val="800"/>
              </a:spcBef>
              <a:defRPr sz="1600">
                <a:solidFill>
                  <a:srgbClr val="1E293B"/>
                </a:solidFill>
              </a:defRPr>
            </a:pPr>
            <a:r>
              <a:t>  • Les images parlantes — dessins sans texte, interprétés par le groupe</a:t>
            </a:r>
          </a:p>
          <a:p>
            <a:pPr>
              <a:spcBef>
                <a:spcPts val="800"/>
              </a:spcBef>
              <a:defRPr sz="1600">
                <a:solidFill>
                  <a:srgbClr val="1E293B"/>
                </a:solidFill>
              </a:defRPr>
            </a:pPr>
            <a:r>
              <a:t>  • Le jeu de rôle — simuler des situations financières réelles</a:t>
            </a:r>
          </a:p>
          <a:p>
            <a:pPr>
              <a:spcBef>
                <a:spcPts val="800"/>
              </a:spcBef>
              <a:defRPr sz="1600">
                <a:solidFill>
                  <a:srgbClr val="1E293B"/>
                </a:solidFill>
              </a:defRPr>
            </a:pPr>
            <a:r>
              <a:t>  • Les cailloux/graines — compter, représenter, répartir</a:t>
            </a:r>
          </a:p>
        </p:txBody>
      </p:sp>
      <p:sp>
        <p:nvSpPr>
          <p:cNvPr id="5" name="Rectangle 4"/>
          <p:cNvSpPr/>
          <p:nvPr/>
        </p:nvSpPr>
        <p:spPr>
          <a:xfrm>
            <a:off x="7498079" y="1371600"/>
            <a:ext cx="4114800" cy="4114800"/>
          </a:xfrm>
          <a:prstGeom prst="rect">
            <a:avLst/>
          </a:prstGeom>
          <a:solidFill>
            <a:srgbClr val="F1F5F9"/>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97706"/>
                </a:solidFill>
              </a:defRPr>
            </a:pPr>
            <a:r>
              <a:t>Le piège du débutant</a:t>
            </a:r>
          </a:p>
          <a:p>
            <a:pPr>
              <a:spcBef>
                <a:spcPts val="1000"/>
              </a:spcBef>
              <a:defRPr sz="1300">
                <a:solidFill>
                  <a:srgbClr val="1E293B"/>
                </a:solidFill>
              </a:defRPr>
            </a:pPr>
            <a:r>
              <a:t>Un formateur arrive avec des PowerPoint et du jargon comptable. Les paysans s'ennuient et ne reviennent pas. Ce qui marche : s'asseoir sous l'arbre à palabres, écouter d'abord.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Un formateur rural efficace consacre quelle proportion du temps à écouter et faire parler le groupe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20% écoute, 80% cours magistral</a:t>
            </a:r>
          </a:p>
        </p:txBody>
      </p:sp>
      <p:sp>
        <p:nvSpPr>
          <p:cNvPr id="7" name="Rectangle 6"/>
          <p:cNvSpPr/>
          <p:nvPr/>
        </p:nvSpPr>
        <p:spPr>
          <a:xfrm>
            <a:off x="1371600" y="3383279"/>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B.  50% écoute, 50% cours</a:t>
            </a:r>
          </a:p>
        </p:txBody>
      </p:sp>
      <p:sp>
        <p:nvSpPr>
          <p:cNvPr id="8" name="Rectangle 7"/>
          <p:cNvSpPr/>
          <p:nvPr/>
        </p:nvSpPr>
        <p:spPr>
          <a:xfrm>
            <a:off x="1371600" y="4206240"/>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C.  80% écoute et facilitation, 20% apport</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100% cours théorique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2</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2</a:t>
            </a:r>
          </a:p>
          <a:p>
            <a:pPr>
              <a:spcBef>
                <a:spcPts val="600"/>
              </a:spcBef>
              <a:defRPr sz="3200" b="1">
                <a:solidFill>
                  <a:srgbClr val="1E293B"/>
                </a:solidFill>
              </a:defRPr>
            </a:pPr>
            <a:r>
              <a:t>D'où vient et où va l'argent</a:t>
            </a:r>
            <a:br/>
            <a:r>
              <a:t>du paysan ?</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  |  Matériel : sol sableux, cailloux 2 couleurs, bâton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Activité terrain : la carte des flux d'argent</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1. Dessinez un grand cercle au sol = la famille / le ménage</a:t>
            </a:r>
          </a:p>
          <a:p>
            <a:pPr>
              <a:spcBef>
                <a:spcPts val="800"/>
              </a:spcBef>
              <a:defRPr sz="1600">
                <a:solidFill>
                  <a:srgbClr val="1E293B"/>
                </a:solidFill>
              </a:defRPr>
            </a:pPr>
            <a:r>
              <a:t>2. « D'où vient l'argent ? » → cailloux verts ENTRANTS</a:t>
            </a:r>
          </a:p>
          <a:p>
            <a:pPr>
              <a:spcBef>
                <a:spcPts val="800"/>
              </a:spcBef>
              <a:defRPr sz="1600">
                <a:solidFill>
                  <a:srgbClr val="1E293B"/>
                </a:solidFill>
              </a:defRPr>
            </a:pPr>
            <a:r>
              <a:t>3. « Où part l'argent ? » → cailloux rouges SORTANTS</a:t>
            </a:r>
          </a:p>
          <a:p>
            <a:pPr>
              <a:spcBef>
                <a:spcPts val="800"/>
              </a:spcBef>
              <a:defRPr sz="1600">
                <a:solidFill>
                  <a:srgbClr val="1E293B"/>
                </a:solidFill>
              </a:defRPr>
            </a:pPr>
            <a:r>
              <a:t>4. Le groupe débat et complète</a:t>
            </a:r>
          </a:p>
          <a:p>
            <a:pPr>
              <a:spcBef>
                <a:spcPts val="800"/>
              </a:spcBef>
              <a:defRPr sz="1600">
                <a:solidFill>
                  <a:srgbClr val="1E293B"/>
                </a:solidFill>
              </a:defRPr>
            </a:pPr>
          </a:p>
          <a:p>
            <a:pPr>
              <a:spcBef>
                <a:spcPts val="800"/>
              </a:spcBef>
              <a:defRPr sz="1600">
                <a:solidFill>
                  <a:srgbClr val="1E293B"/>
                </a:solidFill>
              </a:defRPr>
            </a:pPr>
            <a:r>
              <a:t>Les 4 sources de revenus typiques :</a:t>
            </a:r>
          </a:p>
          <a:p>
            <a:pPr>
              <a:spcBef>
                <a:spcPts val="800"/>
              </a:spcBef>
              <a:defRPr sz="1600">
                <a:solidFill>
                  <a:srgbClr val="1E293B"/>
                </a:solidFill>
              </a:defRPr>
            </a:pPr>
            <a:r>
              <a:t>  • Vente de récolte (1-2x/an, gros montant)</a:t>
            </a:r>
          </a:p>
          <a:p>
            <a:pPr>
              <a:spcBef>
                <a:spcPts val="800"/>
              </a:spcBef>
              <a:defRPr sz="1600">
                <a:solidFill>
                  <a:srgbClr val="1E293B"/>
                </a:solidFill>
              </a:defRPr>
            </a:pPr>
            <a:r>
              <a:t>  • Petit commerce (quotidien, petits montants)</a:t>
            </a:r>
          </a:p>
          <a:p>
            <a:pPr>
              <a:spcBef>
                <a:spcPts val="800"/>
              </a:spcBef>
              <a:defRPr sz="1600">
                <a:solidFill>
                  <a:srgbClr val="1E293B"/>
                </a:solidFill>
              </a:defRPr>
            </a:pPr>
            <a:r>
              <a:t>  • Travail journalier (saisonnier, variable)</a:t>
            </a:r>
          </a:p>
          <a:p>
            <a:pPr>
              <a:spcBef>
                <a:spcPts val="800"/>
              </a:spcBef>
              <a:defRPr sz="1600">
                <a:solidFill>
                  <a:srgbClr val="1E293B"/>
                </a:solidFill>
              </a:defRPr>
            </a:pPr>
            <a:r>
              <a:t>  • Transferts diaspora (irrégulier)</a:t>
            </a:r>
          </a:p>
        </p:txBody>
      </p:sp>
      <p:sp>
        <p:nvSpPr>
          <p:cNvPr id="5" name="Rectangle 4"/>
          <p:cNvSpPr/>
          <p:nvPr/>
        </p:nvSpPr>
        <p:spPr>
          <a:xfrm>
            <a:off x="7498079" y="1371600"/>
            <a:ext cx="4114800" cy="4114800"/>
          </a:xfrm>
          <a:prstGeom prst="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Le problème fondamental</a:t>
            </a:r>
          </a:p>
          <a:p>
            <a:pPr>
              <a:spcBef>
                <a:spcPts val="1000"/>
              </a:spcBef>
              <a:defRPr sz="1300">
                <a:solidFill>
                  <a:srgbClr val="1E293B"/>
                </a:solidFill>
              </a:defRPr>
            </a:pPr>
            <a:r>
              <a:t>Les REVENUS sont saisonniers (1-2 pics par an) mais les DÉPENSES sont permanentes (nourriture, santé, école tous les mois). C'est le déséquilibre que l'activité fait apparaître.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 déséquilibre saisonnier — revenus vs dépenses</a:t>
            </a:r>
          </a:p>
        </p:txBody>
      </p:sp>
      <p:graphicFrame>
        <p:nvGraphicFramePr>
          <p:cNvPr id="4" name="Table 3"/>
          <p:cNvGraphicFramePr>
            <a:graphicFrameLocks noGrp="1"/>
          </p:cNvGraphicFramePr>
          <p:nvPr/>
        </p:nvGraphicFramePr>
        <p:xfrm>
          <a:off x="548640" y="1371600"/>
          <a:ext cx="10515600.0" cy="2743200"/>
        </p:xfrm>
        <a:graphic>
          <a:graphicData uri="http://schemas.openxmlformats.org/drawingml/2006/table">
            <a:tbl>
              <a:tblPr firstRow="1" bandRow="1">
                <a:tableStyleId>{5C22544A-7EE6-4342-B048-85BDC9FD1C3A}</a:tableStyleId>
              </a:tblPr>
              <a:tblGrid>
                <a:gridCol w="2628900"/>
                <a:gridCol w="2628900"/>
                <a:gridCol w="2628900"/>
                <a:gridCol w="2628900"/>
              </a:tblGrid>
              <a:tr h="457200">
                <a:tc>
                  <a:txBody>
                    <a:bodyPr/>
                    <a:lstStyle/>
                    <a:p>
                      <a:pPr>
                        <a:defRPr sz="1300" b="1">
                          <a:solidFill>
                            <a:srgbClr val="FFFFFF"/>
                          </a:solidFill>
                        </a:defRPr>
                      </a:pPr>
                      <a:r>
                        <a:t>Mois</a:t>
                      </a:r>
                    </a:p>
                  </a:txBody>
                  <a:tcPr>
                    <a:solidFill>
                      <a:srgbClr val="0D9488"/>
                    </a:solidFill>
                  </a:tcPr>
                </a:tc>
                <a:tc>
                  <a:txBody>
                    <a:bodyPr/>
                    <a:lstStyle/>
                    <a:p>
                      <a:pPr>
                        <a:defRPr sz="1300" b="1">
                          <a:solidFill>
                            <a:srgbClr val="FFFFFF"/>
                          </a:solidFill>
                        </a:defRPr>
                      </a:pPr>
                      <a:r>
                        <a:t>Revenus (FCFA)</a:t>
                      </a:r>
                    </a:p>
                  </a:txBody>
                  <a:tcPr>
                    <a:solidFill>
                      <a:srgbClr val="0D9488"/>
                    </a:solidFill>
                  </a:tcPr>
                </a:tc>
                <a:tc>
                  <a:txBody>
                    <a:bodyPr/>
                    <a:lstStyle/>
                    <a:p>
                      <a:pPr>
                        <a:defRPr sz="1300" b="1">
                          <a:solidFill>
                            <a:srgbClr val="FFFFFF"/>
                          </a:solidFill>
                        </a:defRPr>
                      </a:pPr>
                      <a:r>
                        <a:t>Dépenses (FCFA)</a:t>
                      </a:r>
                    </a:p>
                  </a:txBody>
                  <a:tcPr>
                    <a:solidFill>
                      <a:srgbClr val="0D9488"/>
                    </a:solidFill>
                  </a:tcPr>
                </a:tc>
                <a:tc>
                  <a:txBody>
                    <a:bodyPr/>
                    <a:lstStyle/>
                    <a:p>
                      <a:pPr>
                        <a:defRPr sz="1300" b="1">
                          <a:solidFill>
                            <a:srgbClr val="FFFFFF"/>
                          </a:solidFill>
                        </a:defRPr>
                      </a:pPr>
                      <a:r>
                        <a:t>Solde</a:t>
                      </a:r>
                    </a:p>
                  </a:txBody>
                  <a:tcPr>
                    <a:solidFill>
                      <a:srgbClr val="0D9488"/>
                    </a:solidFill>
                  </a:tcPr>
                </a:tc>
              </a:tr>
              <a:tr h="457200">
                <a:tc>
                  <a:txBody>
                    <a:bodyPr/>
                    <a:lstStyle/>
                    <a:p>
                      <a:pPr>
                        <a:defRPr sz="1200">
                          <a:solidFill>
                            <a:srgbClr val="1E293B"/>
                          </a:solidFill>
                        </a:defRPr>
                      </a:pPr>
                      <a:r>
                        <a:t>Jan–Mar</a:t>
                      </a:r>
                    </a:p>
                  </a:txBody>
                  <a:tcPr>
                    <a:solidFill>
                      <a:srgbClr val="FFFFFF"/>
                    </a:solidFill>
                  </a:tcPr>
                </a:tc>
                <a:tc>
                  <a:txBody>
                    <a:bodyPr/>
                    <a:lstStyle/>
                    <a:p>
                      <a:pPr>
                        <a:defRPr sz="1200">
                          <a:solidFill>
                            <a:srgbClr val="1E293B"/>
                          </a:solidFill>
                        </a:defRPr>
                      </a:pPr>
                      <a:r>
                        <a:t>45 000</a:t>
                      </a:r>
                    </a:p>
                  </a:txBody>
                  <a:tcPr>
                    <a:solidFill>
                      <a:srgbClr val="FFFFFF"/>
                    </a:solidFill>
                  </a:tcPr>
                </a:tc>
                <a:tc>
                  <a:txBody>
                    <a:bodyPr/>
                    <a:lstStyle/>
                    <a:p>
                      <a:pPr>
                        <a:defRPr sz="1200">
                          <a:solidFill>
                            <a:srgbClr val="1E293B"/>
                          </a:solidFill>
                        </a:defRPr>
                      </a:pPr>
                      <a:r>
                        <a:t>110 000</a:t>
                      </a:r>
                    </a:p>
                  </a:txBody>
                  <a:tcPr>
                    <a:solidFill>
                      <a:srgbClr val="FFFFFF"/>
                    </a:solidFill>
                  </a:tcPr>
                </a:tc>
                <a:tc>
                  <a:txBody>
                    <a:bodyPr/>
                    <a:lstStyle/>
                    <a:p>
                      <a:pPr>
                        <a:defRPr sz="1200">
                          <a:solidFill>
                            <a:srgbClr val="1E293B"/>
                          </a:solidFill>
                        </a:defRPr>
                      </a:pPr>
                      <a:r>
                        <a:t>-65 000  DÉFICIT</a:t>
                      </a:r>
                    </a:p>
                  </a:txBody>
                  <a:tcPr>
                    <a:solidFill>
                      <a:srgbClr val="FFFFFF"/>
                    </a:solidFill>
                  </a:tcPr>
                </a:tc>
              </a:tr>
              <a:tr h="457200">
                <a:tc>
                  <a:txBody>
                    <a:bodyPr/>
                    <a:lstStyle/>
                    <a:p>
                      <a:pPr>
                        <a:defRPr sz="1200">
                          <a:solidFill>
                            <a:srgbClr val="1E293B"/>
                          </a:solidFill>
                        </a:defRPr>
                      </a:pPr>
                      <a:r>
                        <a:t>Avr–Jun</a:t>
                      </a:r>
                    </a:p>
                  </a:txBody>
                  <a:tcPr>
                    <a:solidFill>
                      <a:srgbClr val="F1F5F9"/>
                    </a:solidFill>
                  </a:tcPr>
                </a:tc>
                <a:tc>
                  <a:txBody>
                    <a:bodyPr/>
                    <a:lstStyle/>
                    <a:p>
                      <a:pPr>
                        <a:defRPr sz="1200">
                          <a:solidFill>
                            <a:srgbClr val="1E293B"/>
                          </a:solidFill>
                        </a:defRPr>
                      </a:pPr>
                      <a:r>
                        <a:t>20 000</a:t>
                      </a:r>
                    </a:p>
                  </a:txBody>
                  <a:tcPr>
                    <a:solidFill>
                      <a:srgbClr val="F1F5F9"/>
                    </a:solidFill>
                  </a:tcPr>
                </a:tc>
                <a:tc>
                  <a:txBody>
                    <a:bodyPr/>
                    <a:lstStyle/>
                    <a:p>
                      <a:pPr>
                        <a:defRPr sz="1200">
                          <a:solidFill>
                            <a:srgbClr val="1E293B"/>
                          </a:solidFill>
                        </a:defRPr>
                      </a:pPr>
                      <a:r>
                        <a:t>145 000</a:t>
                      </a:r>
                    </a:p>
                  </a:txBody>
                  <a:tcPr>
                    <a:solidFill>
                      <a:srgbClr val="F1F5F9"/>
                    </a:solidFill>
                  </a:tcPr>
                </a:tc>
                <a:tc>
                  <a:txBody>
                    <a:bodyPr/>
                    <a:lstStyle/>
                    <a:p>
                      <a:pPr>
                        <a:defRPr sz="1200">
                          <a:solidFill>
                            <a:srgbClr val="1E293B"/>
                          </a:solidFill>
                        </a:defRPr>
                      </a:pPr>
                      <a:r>
                        <a:t>-125 000  DÉFICIT</a:t>
                      </a:r>
                    </a:p>
                  </a:txBody>
                  <a:tcPr>
                    <a:solidFill>
                      <a:srgbClr val="F1F5F9"/>
                    </a:solidFill>
                  </a:tcPr>
                </a:tc>
              </a:tr>
              <a:tr h="457200">
                <a:tc>
                  <a:txBody>
                    <a:bodyPr/>
                    <a:lstStyle/>
                    <a:p>
                      <a:pPr>
                        <a:defRPr sz="1200">
                          <a:solidFill>
                            <a:srgbClr val="1E293B"/>
                          </a:solidFill>
                        </a:defRPr>
                      </a:pPr>
                      <a:r>
                        <a:t>Jul–Sep</a:t>
                      </a:r>
                    </a:p>
                  </a:txBody>
                  <a:tcPr>
                    <a:solidFill>
                      <a:srgbClr val="FFFFFF"/>
                    </a:solidFill>
                  </a:tcPr>
                </a:tc>
                <a:tc>
                  <a:txBody>
                    <a:bodyPr/>
                    <a:lstStyle/>
                    <a:p>
                      <a:pPr>
                        <a:defRPr sz="1200">
                          <a:solidFill>
                            <a:srgbClr val="1E293B"/>
                          </a:solidFill>
                        </a:defRPr>
                      </a:pPr>
                      <a:r>
                        <a:t>20 000</a:t>
                      </a:r>
                    </a:p>
                  </a:txBody>
                  <a:tcPr>
                    <a:solidFill>
                      <a:srgbClr val="FFFFFF"/>
                    </a:solidFill>
                  </a:tcPr>
                </a:tc>
                <a:tc>
                  <a:txBody>
                    <a:bodyPr/>
                    <a:lstStyle/>
                    <a:p>
                      <a:pPr>
                        <a:defRPr sz="1200">
                          <a:solidFill>
                            <a:srgbClr val="1E293B"/>
                          </a:solidFill>
                        </a:defRPr>
                      </a:pPr>
                      <a:r>
                        <a:t>125 000</a:t>
                      </a:r>
                    </a:p>
                  </a:txBody>
                  <a:tcPr>
                    <a:solidFill>
                      <a:srgbClr val="FFFFFF"/>
                    </a:solidFill>
                  </a:tcPr>
                </a:tc>
                <a:tc>
                  <a:txBody>
                    <a:bodyPr/>
                    <a:lstStyle/>
                    <a:p>
                      <a:pPr>
                        <a:defRPr sz="1200">
                          <a:solidFill>
                            <a:srgbClr val="1E293B"/>
                          </a:solidFill>
                        </a:defRPr>
                      </a:pPr>
                      <a:r>
                        <a:t>-105 000  DÉFICIT</a:t>
                      </a:r>
                    </a:p>
                  </a:txBody>
                  <a:tcPr>
                    <a:solidFill>
                      <a:srgbClr val="FFFFFF"/>
                    </a:solidFill>
                  </a:tcPr>
                </a:tc>
              </a:tr>
              <a:tr h="457200">
                <a:tc>
                  <a:txBody>
                    <a:bodyPr/>
                    <a:lstStyle/>
                    <a:p>
                      <a:pPr>
                        <a:defRPr sz="1200">
                          <a:solidFill>
                            <a:srgbClr val="1E293B"/>
                          </a:solidFill>
                        </a:defRPr>
                      </a:pPr>
                      <a:r>
                        <a:t>Oct–Déc</a:t>
                      </a:r>
                    </a:p>
                  </a:txBody>
                  <a:tcPr>
                    <a:solidFill>
                      <a:srgbClr val="F1F5F9"/>
                    </a:solidFill>
                  </a:tcPr>
                </a:tc>
                <a:tc>
                  <a:txBody>
                    <a:bodyPr/>
                    <a:lstStyle/>
                    <a:p>
                      <a:pPr>
                        <a:defRPr sz="1200">
                          <a:solidFill>
                            <a:srgbClr val="1E293B"/>
                          </a:solidFill>
                        </a:defRPr>
                      </a:pPr>
                      <a:r>
                        <a:t>330 000</a:t>
                      </a:r>
                    </a:p>
                  </a:txBody>
                  <a:tcPr>
                    <a:solidFill>
                      <a:srgbClr val="F1F5F9"/>
                    </a:solidFill>
                  </a:tcPr>
                </a:tc>
                <a:tc>
                  <a:txBody>
                    <a:bodyPr/>
                    <a:lstStyle/>
                    <a:p>
                      <a:pPr>
                        <a:defRPr sz="1200">
                          <a:solidFill>
                            <a:srgbClr val="1E293B"/>
                          </a:solidFill>
                        </a:defRPr>
                      </a:pPr>
                      <a:r>
                        <a:t>125 000</a:t>
                      </a:r>
                    </a:p>
                  </a:txBody>
                  <a:tcPr>
                    <a:solidFill>
                      <a:srgbClr val="F1F5F9"/>
                    </a:solidFill>
                  </a:tcPr>
                </a:tc>
                <a:tc>
                  <a:txBody>
                    <a:bodyPr/>
                    <a:lstStyle/>
                    <a:p>
                      <a:pPr>
                        <a:defRPr sz="1200">
                          <a:solidFill>
                            <a:srgbClr val="1E293B"/>
                          </a:solidFill>
                        </a:defRPr>
                      </a:pPr>
                      <a:r>
                        <a:t>+205 000</a:t>
                      </a:r>
                    </a:p>
                  </a:txBody>
                  <a:tcPr>
                    <a:solidFill>
                      <a:srgbClr val="F1F5F9"/>
                    </a:solidFill>
                  </a:tcPr>
                </a:tc>
              </a:tr>
              <a:tr h="457200">
                <a:tc>
                  <a:txBody>
                    <a:bodyPr/>
                    <a:lstStyle/>
                    <a:p>
                      <a:pPr>
                        <a:defRPr sz="1200">
                          <a:solidFill>
                            <a:srgbClr val="1E293B"/>
                          </a:solidFill>
                        </a:defRPr>
                      </a:pPr>
                      <a:r>
                        <a:t>TOTAL</a:t>
                      </a:r>
                    </a:p>
                  </a:txBody>
                  <a:tcPr>
                    <a:solidFill>
                      <a:srgbClr val="FFFFFF"/>
                    </a:solidFill>
                  </a:tcPr>
                </a:tc>
                <a:tc>
                  <a:txBody>
                    <a:bodyPr/>
                    <a:lstStyle/>
                    <a:p>
                      <a:pPr>
                        <a:defRPr sz="1200">
                          <a:solidFill>
                            <a:srgbClr val="1E293B"/>
                          </a:solidFill>
                        </a:defRPr>
                      </a:pPr>
                      <a:r>
                        <a:t>415 000</a:t>
                      </a:r>
                    </a:p>
                  </a:txBody>
                  <a:tcPr>
                    <a:solidFill>
                      <a:srgbClr val="FFFFFF"/>
                    </a:solidFill>
                  </a:tcPr>
                </a:tc>
                <a:tc>
                  <a:txBody>
                    <a:bodyPr/>
                    <a:lstStyle/>
                    <a:p>
                      <a:pPr>
                        <a:defRPr sz="1200">
                          <a:solidFill>
                            <a:srgbClr val="1E293B"/>
                          </a:solidFill>
                        </a:defRPr>
                      </a:pPr>
                      <a:r>
                        <a:t>505 000</a:t>
                      </a:r>
                    </a:p>
                  </a:txBody>
                  <a:tcPr>
                    <a:solidFill>
                      <a:srgbClr val="FFFFFF"/>
                    </a:solidFill>
                  </a:tcPr>
                </a:tc>
                <a:tc>
                  <a:txBody>
                    <a:bodyPr/>
                    <a:lstStyle/>
                    <a:p>
                      <a:pPr>
                        <a:defRPr sz="1200">
                          <a:solidFill>
                            <a:srgbClr val="1E293B"/>
                          </a:solidFill>
                        </a:defRPr>
                      </a:pPr>
                      <a:r>
                        <a:t>Le paysan traverse 9 mois de déficit !</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Quel est le problème financier fondamental que l'activité des cailloux fait apparaître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Il ne gagne pas assez</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Ses revenus sont saisonniers mais ses dépenses sont permanentes</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Il dépense trop en cérémonies</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Il ne sait pas compter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3</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3</a:t>
            </a:r>
          </a:p>
          <a:p>
            <a:pPr>
              <a:spcBef>
                <a:spcPts val="600"/>
              </a:spcBef>
              <a:defRPr sz="3200" b="1">
                <a:solidFill>
                  <a:srgbClr val="1E293B"/>
                </a:solidFill>
              </a:defRPr>
            </a:pPr>
            <a:r>
              <a:t>Construire un budget familial</a:t>
            </a:r>
            <a:br/>
            <a:r>
              <a:t>avec les paysans</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3h  |  Matériel : graines (maïs, haricots), 12 cuvettes, feuille A3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L'outil central : le budget en tas de graines</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1. Disposez 12 tas de sable = janvier à décembre</a:t>
            </a:r>
          </a:p>
          <a:p>
            <a:pPr>
              <a:spcBef>
                <a:spcPts val="800"/>
              </a:spcBef>
              <a:defRPr sz="1600">
                <a:solidFill>
                  <a:srgbClr val="1E293B"/>
                </a:solidFill>
              </a:defRPr>
            </a:pPr>
            <a:r>
              <a:t>2. 100 graines de maïs = « tout l'argent gagné en un an »</a:t>
            </a:r>
          </a:p>
          <a:p>
            <a:pPr>
              <a:spcBef>
                <a:spcPts val="800"/>
              </a:spcBef>
              <a:defRPr sz="1600">
                <a:solidFill>
                  <a:srgbClr val="1E293B"/>
                </a:solidFill>
              </a:defRPr>
            </a:pPr>
            <a:r>
              <a:t>3. « Répartissez les graines dans les mois où vous recevez de l'argent »</a:t>
            </a:r>
          </a:p>
          <a:p>
            <a:pPr>
              <a:spcBef>
                <a:spcPts val="800"/>
              </a:spcBef>
              <a:defRPr sz="1600">
                <a:solidFill>
                  <a:srgbClr val="1E293B"/>
                </a:solidFill>
              </a:defRPr>
            </a:pPr>
            <a:r>
              <a:t>4. 100 graines de haricots = les dépenses par mois</a:t>
            </a:r>
          </a:p>
          <a:p>
            <a:pPr>
              <a:spcBef>
                <a:spcPts val="800"/>
              </a:spcBef>
              <a:defRPr sz="1600">
                <a:solidFill>
                  <a:srgbClr val="1E293B"/>
                </a:solidFill>
              </a:defRPr>
            </a:pPr>
            <a:r>
              <a:t>5. Le paysan VOIT les mois où les haricots dépassent le maïs</a:t>
            </a:r>
          </a:p>
          <a:p>
            <a:pPr>
              <a:spcBef>
                <a:spcPts val="800"/>
              </a:spcBef>
              <a:defRPr sz="1600">
                <a:solidFill>
                  <a:srgbClr val="1E293B"/>
                </a:solidFill>
              </a:defRPr>
            </a:pPr>
          </a:p>
          <a:p>
            <a:pPr>
              <a:spcBef>
                <a:spcPts val="800"/>
              </a:spcBef>
              <a:defRPr sz="1600">
                <a:solidFill>
                  <a:srgbClr val="1E293B"/>
                </a:solidFill>
              </a:defRPr>
            </a:pPr>
            <a:r>
              <a:t>Ensuite, pour ceux qui le souhaitent → tableau papier simplifié :</a:t>
            </a:r>
          </a:p>
          <a:p>
            <a:pPr>
              <a:spcBef>
                <a:spcPts val="800"/>
              </a:spcBef>
              <a:defRPr sz="1600">
                <a:solidFill>
                  <a:srgbClr val="1E293B"/>
                </a:solidFill>
              </a:defRPr>
            </a:pPr>
            <a:r>
              <a:t>  Mois | Ce qui rentre | Ce qui sort | Il reste</a:t>
            </a:r>
          </a:p>
          <a:p>
            <a:pPr>
              <a:spcBef>
                <a:spcPts val="800"/>
              </a:spcBef>
              <a:defRPr sz="1600">
                <a:solidFill>
                  <a:srgbClr val="1E293B"/>
                </a:solidFill>
              </a:defRPr>
            </a:pPr>
          </a:p>
          <a:p>
            <a:pPr>
              <a:spcBef>
                <a:spcPts val="800"/>
              </a:spcBef>
              <a:defRPr sz="1600">
                <a:solidFill>
                  <a:srgbClr val="1E293B"/>
                </a:solidFill>
              </a:defRPr>
            </a:pPr>
            <a:r>
              <a:t>Les montants viennent DU PAYSAN, pas de vous.</a:t>
            </a:r>
          </a:p>
        </p:txBody>
      </p:sp>
      <p:sp>
        <p:nvSpPr>
          <p:cNvPr id="5" name="Rectangle 4"/>
          <p:cNvSpPr/>
          <p:nvPr/>
        </p:nvSpPr>
        <p:spPr>
          <a:xfrm>
            <a:off x="7498079" y="1371600"/>
            <a:ext cx="4114800" cy="4114800"/>
          </a:xfrm>
          <a:prstGeom prst="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Témoignage terrain (Mali)</a:t>
            </a:r>
          </a:p>
          <a:p>
            <a:pPr>
              <a:spcBef>
                <a:spcPts val="1000"/>
              </a:spcBef>
              <a:defRPr sz="1300">
                <a:solidFill>
                  <a:srgbClr val="1E293B"/>
                </a:solidFill>
              </a:defRPr>
            </a:pPr>
            <a:r>
              <a:t>« Quand Mamadou a vu que pendant 7 mois sur 12 il avait plus de haricots que de maïs, il a dit : Ah, c'est pour ça qu'on souffre de mars à septembre ! Il le vivait chaque année mais ne l'avait jamais VU.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Pourquoi utiliser des graines plutôt qu'un tableau écrit pour le budget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C'est moins cher</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Ça permet aux non-alphabétisés de participer et de VOIR le déséquilibre</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Les graines sont plus jolies</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C'est obligatoire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4</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4</a:t>
            </a:r>
          </a:p>
          <a:p>
            <a:pPr>
              <a:spcBef>
                <a:spcPts val="600"/>
              </a:spcBef>
              <a:defRPr sz="3200" b="1">
                <a:solidFill>
                  <a:srgbClr val="1E293B"/>
                </a:solidFill>
              </a:defRPr>
            </a:pPr>
            <a:r>
              <a:t>L'épargne paysanne :</a:t>
            </a:r>
            <a:br/>
            <a:r>
              <a:t>tontines, AVEC et stratégies locales</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2h30  |  Matériel : dessins (grenier, tontine, banque, téléphone), graines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Les paysans épargnent DÉJÀ — mais comment ?</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Tour de cercle : « Où gardez-vous votre argent ? »</a:t>
            </a:r>
          </a:p>
          <a:p>
            <a:pPr>
              <a:spcBef>
                <a:spcPts val="800"/>
              </a:spcBef>
              <a:defRPr sz="1600">
                <a:solidFill>
                  <a:srgbClr val="1E293B"/>
                </a:solidFill>
              </a:defRPr>
            </a:pPr>
            <a:r>
              <a:t>  • Sous le matelas / pot enterré</a:t>
            </a:r>
          </a:p>
          <a:p>
            <a:pPr>
              <a:spcBef>
                <a:spcPts val="800"/>
              </a:spcBef>
              <a:defRPr sz="1600">
                <a:solidFill>
                  <a:srgbClr val="1E293B"/>
                </a:solidFill>
              </a:defRPr>
            </a:pPr>
            <a:r>
              <a:t>  • Grenier (stock de grain = épargne en nature !)</a:t>
            </a:r>
          </a:p>
          <a:p>
            <a:pPr>
              <a:spcBef>
                <a:spcPts val="800"/>
              </a:spcBef>
              <a:defRPr sz="1600">
                <a:solidFill>
                  <a:srgbClr val="1E293B"/>
                </a:solidFill>
              </a:defRPr>
            </a:pPr>
            <a:r>
              <a:t>  • Chez un parent de confiance</a:t>
            </a:r>
          </a:p>
          <a:p>
            <a:pPr>
              <a:spcBef>
                <a:spcPts val="800"/>
              </a:spcBef>
              <a:defRPr sz="1600">
                <a:solidFill>
                  <a:srgbClr val="1E293B"/>
                </a:solidFill>
              </a:defRPr>
            </a:pPr>
            <a:r>
              <a:t>  • Tontine du village</a:t>
            </a:r>
          </a:p>
          <a:p>
            <a:pPr>
              <a:spcBef>
                <a:spcPts val="800"/>
              </a:spcBef>
              <a:defRPr sz="1600">
                <a:solidFill>
                  <a:srgbClr val="1E293B"/>
                </a:solidFill>
              </a:defRPr>
            </a:pPr>
            <a:r>
              <a:t>  • Mobile money</a:t>
            </a:r>
          </a:p>
          <a:p>
            <a:pPr>
              <a:spcBef>
                <a:spcPts val="800"/>
              </a:spcBef>
              <a:defRPr sz="1600">
                <a:solidFill>
                  <a:srgbClr val="1E293B"/>
                </a:solidFill>
              </a:defRPr>
            </a:pPr>
          </a:p>
          <a:p>
            <a:pPr>
              <a:spcBef>
                <a:spcPts val="800"/>
              </a:spcBef>
              <a:defRPr sz="1600">
                <a:solidFill>
                  <a:srgbClr val="1E293B"/>
                </a:solidFill>
              </a:defRPr>
            </a:pPr>
            <a:r>
              <a:t>La tontine : 10 membres × 5 000 FCFA/semaine</a:t>
            </a:r>
          </a:p>
          <a:p>
            <a:pPr>
              <a:spcBef>
                <a:spcPts val="800"/>
              </a:spcBef>
              <a:defRPr sz="1600">
                <a:solidFill>
                  <a:srgbClr val="1E293B"/>
                </a:solidFill>
              </a:defRPr>
            </a:pPr>
            <a:r>
              <a:t>  → 50 000 FCFA pour UN membre chaque semaine</a:t>
            </a:r>
          </a:p>
          <a:p>
            <a:pPr>
              <a:spcBef>
                <a:spcPts val="800"/>
              </a:spcBef>
              <a:defRPr sz="1600">
                <a:solidFill>
                  <a:srgbClr val="1E293B"/>
                </a:solidFill>
              </a:defRPr>
            </a:pPr>
            <a:r>
              <a:t>  → Au bout de 10 semaines, tout le monde a reçu une fois</a:t>
            </a:r>
          </a:p>
          <a:p>
            <a:pPr>
              <a:spcBef>
                <a:spcPts val="800"/>
              </a:spcBef>
              <a:defRPr sz="1600">
                <a:solidFill>
                  <a:srgbClr val="1E293B"/>
                </a:solidFill>
              </a:defRPr>
            </a:pPr>
          </a:p>
          <a:p>
            <a:pPr>
              <a:spcBef>
                <a:spcPts val="800"/>
              </a:spcBef>
              <a:defRPr sz="1600">
                <a:solidFill>
                  <a:srgbClr val="1E293B"/>
                </a:solidFill>
              </a:defRPr>
            </a:pPr>
            <a:r>
              <a:t>Simulation : 10 volontaires en cercle avec des graines</a:t>
            </a:r>
          </a:p>
          <a:p>
            <a:pPr>
              <a:spcBef>
                <a:spcPts val="800"/>
              </a:spcBef>
              <a:defRPr sz="1600">
                <a:solidFill>
                  <a:srgbClr val="1E293B"/>
                </a:solidFill>
              </a:defRPr>
            </a:pPr>
            <a:r>
              <a:t>Question : « À quoi sert la tontine si on reçoit ce qu'on donne ? »</a:t>
            </a:r>
          </a:p>
        </p:txBody>
      </p:sp>
      <p:sp>
        <p:nvSpPr>
          <p:cNvPr id="5" name="Rectangle 4"/>
          <p:cNvSpPr/>
          <p:nvPr/>
        </p:nvSpPr>
        <p:spPr>
          <a:xfrm>
            <a:off x="7498079" y="1371600"/>
            <a:ext cx="4114800" cy="4114800"/>
          </a:xfrm>
          <a:prstGeom prst="rect">
            <a:avLst/>
          </a:prstGeom>
          <a:solidFill>
            <a:srgbClr val="F1F5F9"/>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D9488"/>
                </a:solidFill>
              </a:defRPr>
            </a:pPr>
            <a:r>
              <a:t>Le grenier = un compte épargne</a:t>
            </a:r>
          </a:p>
          <a:p>
            <a:pPr>
              <a:spcBef>
                <a:spcPts val="1000"/>
              </a:spcBef>
              <a:defRPr sz="1300">
                <a:solidFill>
                  <a:srgbClr val="1E293B"/>
                </a:solidFill>
              </a:defRPr>
            </a:pPr>
            <a:r>
              <a:t>Stocker 5 sacs de mil à 250 FCFA/kg en novembre → revente à 400 FCFA/kg en juillet. Rendement de 60% ! Les paysans le font depuis des générations. VALORISEZ cette intelligence.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Comparaison des formes d'épargne</a:t>
            </a:r>
          </a:p>
        </p:txBody>
      </p:sp>
      <p:graphicFrame>
        <p:nvGraphicFramePr>
          <p:cNvPr id="4" name="Table 3"/>
          <p:cNvGraphicFramePr>
            <a:graphicFrameLocks noGrp="1"/>
          </p:cNvGraphicFramePr>
          <p:nvPr/>
        </p:nvGraphicFramePr>
        <p:xfrm>
          <a:off x="548640" y="1371600"/>
          <a:ext cx="10515600.0" cy="2743200"/>
        </p:xfrm>
        <a:graphic>
          <a:graphicData uri="http://schemas.openxmlformats.org/drawingml/2006/table">
            <a:tbl>
              <a:tblPr firstRow="1" bandRow="1">
                <a:tableStyleId>{5C22544A-7EE6-4342-B048-85BDC9FD1C3A}</a:tableStyleId>
              </a:tblPr>
              <a:tblGrid>
                <a:gridCol w="2628900"/>
                <a:gridCol w="2628900"/>
                <a:gridCol w="2628900"/>
                <a:gridCol w="2628900"/>
              </a:tblGrid>
              <a:tr h="457200">
                <a:tc>
                  <a:txBody>
                    <a:bodyPr/>
                    <a:lstStyle/>
                    <a:p>
                      <a:pPr>
                        <a:defRPr sz="1300" b="1">
                          <a:solidFill>
                            <a:srgbClr val="FFFFFF"/>
                          </a:solidFill>
                        </a:defRPr>
                      </a:pPr>
                      <a:r>
                        <a:t>Type</a:t>
                      </a:r>
                    </a:p>
                  </a:txBody>
                  <a:tcPr>
                    <a:solidFill>
                      <a:srgbClr val="0D9488"/>
                    </a:solidFill>
                  </a:tcPr>
                </a:tc>
                <a:tc>
                  <a:txBody>
                    <a:bodyPr/>
                    <a:lstStyle/>
                    <a:p>
                      <a:pPr>
                        <a:defRPr sz="1300" b="1">
                          <a:solidFill>
                            <a:srgbClr val="FFFFFF"/>
                          </a:solidFill>
                        </a:defRPr>
                      </a:pPr>
                      <a:r>
                        <a:t>Avantage</a:t>
                      </a:r>
                    </a:p>
                  </a:txBody>
                  <a:tcPr>
                    <a:solidFill>
                      <a:srgbClr val="0D9488"/>
                    </a:solidFill>
                  </a:tcPr>
                </a:tc>
                <a:tc>
                  <a:txBody>
                    <a:bodyPr/>
                    <a:lstStyle/>
                    <a:p>
                      <a:pPr>
                        <a:defRPr sz="1300" b="1">
                          <a:solidFill>
                            <a:srgbClr val="FFFFFF"/>
                          </a:solidFill>
                        </a:defRPr>
                      </a:pPr>
                      <a:r>
                        <a:t>Risque</a:t>
                      </a:r>
                    </a:p>
                  </a:txBody>
                  <a:tcPr>
                    <a:solidFill>
                      <a:srgbClr val="0D9488"/>
                    </a:solidFill>
                  </a:tcPr>
                </a:tc>
                <a:tc>
                  <a:txBody>
                    <a:bodyPr/>
                    <a:lstStyle/>
                    <a:p>
                      <a:pPr>
                        <a:defRPr sz="1300" b="1">
                          <a:solidFill>
                            <a:srgbClr val="FFFFFF"/>
                          </a:solidFill>
                        </a:defRPr>
                      </a:pPr>
                      <a:r>
                        <a:t>Pour qui</a:t>
                      </a:r>
                    </a:p>
                  </a:txBody>
                  <a:tcPr>
                    <a:solidFill>
                      <a:srgbClr val="0D9488"/>
                    </a:solidFill>
                  </a:tcPr>
                </a:tc>
              </a:tr>
              <a:tr h="457200">
                <a:tc>
                  <a:txBody>
                    <a:bodyPr/>
                    <a:lstStyle/>
                    <a:p>
                      <a:pPr>
                        <a:defRPr sz="1200">
                          <a:solidFill>
                            <a:srgbClr val="1E293B"/>
                          </a:solidFill>
                        </a:defRPr>
                      </a:pPr>
                      <a:r>
                        <a:t>Sous le matelas</a:t>
                      </a:r>
                    </a:p>
                  </a:txBody>
                  <a:tcPr>
                    <a:solidFill>
                      <a:srgbClr val="FFFFFF"/>
                    </a:solidFill>
                  </a:tcPr>
                </a:tc>
                <a:tc>
                  <a:txBody>
                    <a:bodyPr/>
                    <a:lstStyle/>
                    <a:p>
                      <a:pPr>
                        <a:defRPr sz="1200">
                          <a:solidFill>
                            <a:srgbClr val="1E293B"/>
                          </a:solidFill>
                        </a:defRPr>
                      </a:pPr>
                      <a:r>
                        <a:t>Immédiatement disponible</a:t>
                      </a:r>
                    </a:p>
                  </a:txBody>
                  <a:tcPr>
                    <a:solidFill>
                      <a:srgbClr val="FFFFFF"/>
                    </a:solidFill>
                  </a:tcPr>
                </a:tc>
                <a:tc>
                  <a:txBody>
                    <a:bodyPr/>
                    <a:lstStyle/>
                    <a:p>
                      <a:pPr>
                        <a:defRPr sz="1200">
                          <a:solidFill>
                            <a:srgbClr val="1E293B"/>
                          </a:solidFill>
                        </a:defRPr>
                      </a:pPr>
                      <a:r>
                        <a:t>Vol, tentation</a:t>
                      </a:r>
                    </a:p>
                  </a:txBody>
                  <a:tcPr>
                    <a:solidFill>
                      <a:srgbClr val="FFFFFF"/>
                    </a:solidFill>
                  </a:tcPr>
                </a:tc>
                <a:tc>
                  <a:txBody>
                    <a:bodyPr/>
                    <a:lstStyle/>
                    <a:p>
                      <a:pPr>
                        <a:defRPr sz="1200">
                          <a:solidFill>
                            <a:srgbClr val="1E293B"/>
                          </a:solidFill>
                        </a:defRPr>
                      </a:pPr>
                      <a:r>
                        <a:t>Dépannage court terme</a:t>
                      </a:r>
                    </a:p>
                  </a:txBody>
                  <a:tcPr>
                    <a:solidFill>
                      <a:srgbClr val="FFFFFF"/>
                    </a:solidFill>
                  </a:tcPr>
                </a:tc>
              </a:tr>
              <a:tr h="457200">
                <a:tc>
                  <a:txBody>
                    <a:bodyPr/>
                    <a:lstStyle/>
                    <a:p>
                      <a:pPr>
                        <a:defRPr sz="1200">
                          <a:solidFill>
                            <a:srgbClr val="1E293B"/>
                          </a:solidFill>
                        </a:defRPr>
                      </a:pPr>
                      <a:r>
                        <a:t>Grenier (stock grain)</a:t>
                      </a:r>
                    </a:p>
                  </a:txBody>
                  <a:tcPr>
                    <a:solidFill>
                      <a:srgbClr val="F1F5F9"/>
                    </a:solidFill>
                  </a:tcPr>
                </a:tc>
                <a:tc>
                  <a:txBody>
                    <a:bodyPr/>
                    <a:lstStyle/>
                    <a:p>
                      <a:pPr>
                        <a:defRPr sz="1200">
                          <a:solidFill>
                            <a:srgbClr val="1E293B"/>
                          </a:solidFill>
                        </a:defRPr>
                      </a:pPr>
                      <a:r>
                        <a:t>+60% de valeur en 6 mois</a:t>
                      </a:r>
                    </a:p>
                  </a:txBody>
                  <a:tcPr>
                    <a:solidFill>
                      <a:srgbClr val="F1F5F9"/>
                    </a:solidFill>
                  </a:tcPr>
                </a:tc>
                <a:tc>
                  <a:txBody>
                    <a:bodyPr/>
                    <a:lstStyle/>
                    <a:p>
                      <a:pPr>
                        <a:defRPr sz="1200">
                          <a:solidFill>
                            <a:srgbClr val="1E293B"/>
                          </a:solidFill>
                        </a:defRPr>
                      </a:pPr>
                      <a:r>
                        <a:t>Insectes, incendie</a:t>
                      </a:r>
                    </a:p>
                  </a:txBody>
                  <a:tcPr>
                    <a:solidFill>
                      <a:srgbClr val="F1F5F9"/>
                    </a:solidFill>
                  </a:tcPr>
                </a:tc>
                <a:tc>
                  <a:txBody>
                    <a:bodyPr/>
                    <a:lstStyle/>
                    <a:p>
                      <a:pPr>
                        <a:defRPr sz="1200">
                          <a:solidFill>
                            <a:srgbClr val="1E293B"/>
                          </a:solidFill>
                        </a:defRPr>
                      </a:pPr>
                      <a:r>
                        <a:t>Paysans avec stockage sec</a:t>
                      </a:r>
                    </a:p>
                  </a:txBody>
                  <a:tcPr>
                    <a:solidFill>
                      <a:srgbClr val="F1F5F9"/>
                    </a:solidFill>
                  </a:tcPr>
                </a:tc>
              </a:tr>
              <a:tr h="457200">
                <a:tc>
                  <a:txBody>
                    <a:bodyPr/>
                    <a:lstStyle/>
                    <a:p>
                      <a:pPr>
                        <a:defRPr sz="1200">
                          <a:solidFill>
                            <a:srgbClr val="1E293B"/>
                          </a:solidFill>
                        </a:defRPr>
                      </a:pPr>
                      <a:r>
                        <a:t>Tontine simple</a:t>
                      </a:r>
                    </a:p>
                  </a:txBody>
                  <a:tcPr>
                    <a:solidFill>
                      <a:srgbClr val="FFFFFF"/>
                    </a:solidFill>
                  </a:tcPr>
                </a:tc>
                <a:tc>
                  <a:txBody>
                    <a:bodyPr/>
                    <a:lstStyle/>
                    <a:p>
                      <a:pPr>
                        <a:defRPr sz="1200">
                          <a:solidFill>
                            <a:srgbClr val="1E293B"/>
                          </a:solidFill>
                        </a:defRPr>
                      </a:pPr>
                      <a:r>
                        <a:t>Force l'épargne, gros montant</a:t>
                      </a:r>
                    </a:p>
                  </a:txBody>
                  <a:tcPr>
                    <a:solidFill>
                      <a:srgbClr val="FFFFFF"/>
                    </a:solidFill>
                  </a:tcPr>
                </a:tc>
                <a:tc>
                  <a:txBody>
                    <a:bodyPr/>
                    <a:lstStyle/>
                    <a:p>
                      <a:pPr>
                        <a:defRPr sz="1200">
                          <a:solidFill>
                            <a:srgbClr val="1E293B"/>
                          </a:solidFill>
                        </a:defRPr>
                      </a:pPr>
                      <a:r>
                        <a:t>Défaillance d'un membre</a:t>
                      </a:r>
                    </a:p>
                  </a:txBody>
                  <a:tcPr>
                    <a:solidFill>
                      <a:srgbClr val="FFFFFF"/>
                    </a:solidFill>
                  </a:tcPr>
                </a:tc>
                <a:tc>
                  <a:txBody>
                    <a:bodyPr/>
                    <a:lstStyle/>
                    <a:p>
                      <a:pPr>
                        <a:defRPr sz="1200">
                          <a:solidFill>
                            <a:srgbClr val="1E293B"/>
                          </a:solidFill>
                        </a:defRPr>
                      </a:pPr>
                      <a:r>
                        <a:t>Tous</a:t>
                      </a:r>
                    </a:p>
                  </a:txBody>
                  <a:tcPr>
                    <a:solidFill>
                      <a:srgbClr val="FFFFFF"/>
                    </a:solidFill>
                  </a:tcPr>
                </a:tc>
              </a:tr>
              <a:tr h="457200">
                <a:tc>
                  <a:txBody>
                    <a:bodyPr/>
                    <a:lstStyle/>
                    <a:p>
                      <a:pPr>
                        <a:defRPr sz="1200">
                          <a:solidFill>
                            <a:srgbClr val="1E293B"/>
                          </a:solidFill>
                        </a:defRPr>
                      </a:pPr>
                      <a:r>
                        <a:t>AVEC / VSLA</a:t>
                      </a:r>
                    </a:p>
                  </a:txBody>
                  <a:tcPr>
                    <a:solidFill>
                      <a:srgbClr val="F1F5F9"/>
                    </a:solidFill>
                  </a:tcPr>
                </a:tc>
                <a:tc>
                  <a:txBody>
                    <a:bodyPr/>
                    <a:lstStyle/>
                    <a:p>
                      <a:pPr>
                        <a:defRPr sz="1200">
                          <a:solidFill>
                            <a:srgbClr val="1E293B"/>
                          </a:solidFill>
                        </a:defRPr>
                      </a:pPr>
                      <a:r>
                        <a:t>Épargne + crédit + fonds social</a:t>
                      </a:r>
                    </a:p>
                  </a:txBody>
                  <a:tcPr>
                    <a:solidFill>
                      <a:srgbClr val="F1F5F9"/>
                    </a:solidFill>
                  </a:tcPr>
                </a:tc>
                <a:tc>
                  <a:txBody>
                    <a:bodyPr/>
                    <a:lstStyle/>
                    <a:p>
                      <a:pPr>
                        <a:defRPr sz="1200">
                          <a:solidFill>
                            <a:srgbClr val="1E293B"/>
                          </a:solidFill>
                        </a:defRPr>
                      </a:pPr>
                      <a:r>
                        <a:t>Nécessite formation</a:t>
                      </a:r>
                    </a:p>
                  </a:txBody>
                  <a:tcPr>
                    <a:solidFill>
                      <a:srgbClr val="F1F5F9"/>
                    </a:solidFill>
                  </a:tcPr>
                </a:tc>
                <a:tc>
                  <a:txBody>
                    <a:bodyPr/>
                    <a:lstStyle/>
                    <a:p>
                      <a:pPr>
                        <a:defRPr sz="1200">
                          <a:solidFill>
                            <a:srgbClr val="1E293B"/>
                          </a:solidFill>
                        </a:defRPr>
                      </a:pPr>
                      <a:r>
                        <a:t>Groupes organisés</a:t>
                      </a:r>
                    </a:p>
                  </a:txBody>
                  <a:tcPr>
                    <a:solidFill>
                      <a:srgbClr val="F1F5F9"/>
                    </a:solidFill>
                  </a:tcPr>
                </a:tc>
              </a:tr>
              <a:tr h="457200">
                <a:tc>
                  <a:txBody>
                    <a:bodyPr/>
                    <a:lstStyle/>
                    <a:p>
                      <a:pPr>
                        <a:defRPr sz="1200">
                          <a:solidFill>
                            <a:srgbClr val="1E293B"/>
                          </a:solidFill>
                        </a:defRPr>
                      </a:pPr>
                      <a:r>
                        <a:t>Mobile money</a:t>
                      </a:r>
                    </a:p>
                  </a:txBody>
                  <a:tcPr>
                    <a:solidFill>
                      <a:srgbClr val="FFFFFF"/>
                    </a:solidFill>
                  </a:tcPr>
                </a:tc>
                <a:tc>
                  <a:txBody>
                    <a:bodyPr/>
                    <a:lstStyle/>
                    <a:p>
                      <a:pPr>
                        <a:defRPr sz="1200">
                          <a:solidFill>
                            <a:srgbClr val="1E293B"/>
                          </a:solidFill>
                        </a:defRPr>
                      </a:pPr>
                      <a:r>
                        <a:t>Sécurisé, accessible</a:t>
                      </a:r>
                    </a:p>
                  </a:txBody>
                  <a:tcPr>
                    <a:solidFill>
                      <a:srgbClr val="FFFFFF"/>
                    </a:solidFill>
                  </a:tcPr>
                </a:tc>
                <a:tc>
                  <a:txBody>
                    <a:bodyPr/>
                    <a:lstStyle/>
                    <a:p>
                      <a:pPr>
                        <a:defRPr sz="1200">
                          <a:solidFill>
                            <a:srgbClr val="1E293B"/>
                          </a:solidFill>
                        </a:defRPr>
                      </a:pPr>
                      <a:r>
                        <a:t>Frais, réseau nécessaire</a:t>
                      </a:r>
                    </a:p>
                  </a:txBody>
                  <a:tcPr>
                    <a:solidFill>
                      <a:srgbClr val="FFFFFF"/>
                    </a:solidFill>
                  </a:tcPr>
                </a:tc>
                <a:tc>
                  <a:txBody>
                    <a:bodyPr/>
                    <a:lstStyle/>
                    <a:p>
                      <a:pPr>
                        <a:defRPr sz="1200">
                          <a:solidFill>
                            <a:srgbClr val="1E293B"/>
                          </a:solidFill>
                        </a:defRPr>
                      </a:pPr>
                      <a:r>
                        <a:t>Zones couvertes</a:t>
                      </a:r>
                    </a:p>
                  </a:txBody>
                  <a:tcP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Quel est le principal avantage de la tontine pour un paysan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Elle rapporte des intérêts</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Elle force l'épargne régulière et donne un gros montant d'un coup</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Elle remplace la banque</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Elle est gratuite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spAutoFit/>
          </a:bodyPr>
          <a:lstStyle/>
          <a:p>
            <a:pPr algn="ctr">
              <a:defRPr sz="3600" b="1">
                <a:solidFill>
                  <a:srgbClr val="0D9488"/>
                </a:solidFill>
              </a:defRPr>
            </a:pPr>
            <a:r>
              <a:t>MOIS 2</a:t>
            </a:r>
          </a:p>
          <a:p>
            <a:pPr algn="ctr">
              <a:spcBef>
                <a:spcPts val="1200"/>
              </a:spcBef>
              <a:defRPr sz="2000">
                <a:solidFill>
                  <a:srgbClr val="94A3B8"/>
                </a:solidFill>
              </a:defRPr>
            </a:pPr>
            <a:r>
              <a:t>Gérer et planifier</a:t>
            </a:r>
            <a:br/>
            <a:r>
              <a:t>Semaines 5 à 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5</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5</a:t>
            </a:r>
          </a:p>
          <a:p>
            <a:pPr>
              <a:spcBef>
                <a:spcPts val="600"/>
              </a:spcBef>
              <a:defRPr sz="3200" b="1">
                <a:solidFill>
                  <a:srgbClr val="1E293B"/>
                </a:solidFill>
              </a:defRPr>
            </a:pPr>
            <a:r>
              <a:t>Calculer le coût de production</a:t>
            </a:r>
            <a:br/>
            <a:r>
              <a:t>avec les paysans</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3h  |  Matériel : grande feuille, graines, dessins (champ, engrais, houe)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 paysan connaît-il le vrai coût de sa production ?</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Animation : « Combien vous coûte un sac de maïs ? »</a:t>
            </a:r>
          </a:p>
          <a:p>
            <a:pPr>
              <a:spcBef>
                <a:spcPts val="800"/>
              </a:spcBef>
              <a:defRPr sz="1600">
                <a:solidFill>
                  <a:srgbClr val="1E293B"/>
                </a:solidFill>
              </a:defRPr>
            </a:pPr>
            <a:r>
              <a:t>1. Dessinez un grand champ au tableau/sol</a:t>
            </a:r>
          </a:p>
          <a:p>
            <a:pPr>
              <a:spcBef>
                <a:spcPts val="800"/>
              </a:spcBef>
              <a:defRPr sz="1600">
                <a:solidFill>
                  <a:srgbClr val="1E293B"/>
                </a:solidFill>
              </a:defRPr>
            </a:pPr>
            <a:r>
              <a:t>2. « Pour cultiver 1 ha de maïs, qu'est-ce qu'il vous faut ? »</a:t>
            </a:r>
          </a:p>
          <a:p>
            <a:pPr>
              <a:spcBef>
                <a:spcPts val="800"/>
              </a:spcBef>
              <a:defRPr sz="1600">
                <a:solidFill>
                  <a:srgbClr val="1E293B"/>
                </a:solidFill>
              </a:defRPr>
            </a:pPr>
            <a:r>
              <a:t>3. Le groupe liste tout : semences, engrais, labour, sarclage, récolte...</a:t>
            </a:r>
          </a:p>
          <a:p>
            <a:pPr>
              <a:spcBef>
                <a:spcPts val="800"/>
              </a:spcBef>
              <a:defRPr sz="1600">
                <a:solidFill>
                  <a:srgbClr val="1E293B"/>
                </a:solidFill>
              </a:defRPr>
            </a:pPr>
            <a:r>
              <a:t>4. Pour CHAQUE élément : « Combien ça coûte ? »</a:t>
            </a:r>
          </a:p>
          <a:p>
            <a:pPr>
              <a:spcBef>
                <a:spcPts val="800"/>
              </a:spcBef>
              <a:defRPr sz="1600">
                <a:solidFill>
                  <a:srgbClr val="1E293B"/>
                </a:solidFill>
              </a:defRPr>
            </a:pPr>
            <a:r>
              <a:t>5. Additionnez ensemble. La surprise est souvent énorme.</a:t>
            </a:r>
          </a:p>
          <a:p>
            <a:pPr>
              <a:spcBef>
                <a:spcPts val="800"/>
              </a:spcBef>
              <a:defRPr sz="1600">
                <a:solidFill>
                  <a:srgbClr val="1E293B"/>
                </a:solidFill>
              </a:defRPr>
            </a:pPr>
          </a:p>
          <a:p>
            <a:pPr>
              <a:spcBef>
                <a:spcPts val="800"/>
              </a:spcBef>
              <a:defRPr sz="1600">
                <a:solidFill>
                  <a:srgbClr val="1E293B"/>
                </a:solidFill>
              </a:defRPr>
            </a:pPr>
            <a:r>
              <a:t>Le coût invisible : la main-d'œuvre familiale</a:t>
            </a:r>
          </a:p>
          <a:p>
            <a:pPr>
              <a:spcBef>
                <a:spcPts val="800"/>
              </a:spcBef>
              <a:defRPr sz="1600">
                <a:solidFill>
                  <a:srgbClr val="1E293B"/>
                </a:solidFill>
              </a:defRPr>
            </a:pPr>
            <a:r>
              <a:t>« Si votre femme allait vendre au marché au lieu de sarcler,</a:t>
            </a:r>
          </a:p>
          <a:p>
            <a:pPr>
              <a:spcBef>
                <a:spcPts val="800"/>
              </a:spcBef>
              <a:defRPr sz="1600">
                <a:solidFill>
                  <a:srgbClr val="1E293B"/>
                </a:solidFill>
              </a:defRPr>
            </a:pPr>
            <a:r>
              <a:t>  combien gagnerait-elle ? » → C'est le coût d'opportunité.</a:t>
            </a:r>
          </a:p>
        </p:txBody>
      </p:sp>
      <p:sp>
        <p:nvSpPr>
          <p:cNvPr id="5" name="Rectangle 4"/>
          <p:cNvSpPr/>
          <p:nvPr/>
        </p:nvSpPr>
        <p:spPr>
          <a:xfrm>
            <a:off x="7498079" y="1371600"/>
            <a:ext cx="4114800" cy="4114800"/>
          </a:xfrm>
          <a:prstGeom prst="rect">
            <a:avLst/>
          </a:prstGeom>
          <a:solidFill>
            <a:srgbClr val="F1F5F9"/>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97706"/>
                </a:solidFill>
              </a:defRPr>
            </a:pPr>
            <a:r>
              <a:t>Le choc du calcul</a:t>
            </a:r>
          </a:p>
          <a:p>
            <a:pPr>
              <a:spcBef>
                <a:spcPts val="1000"/>
              </a:spcBef>
              <a:defRPr sz="1300">
                <a:solidFill>
                  <a:srgbClr val="1E293B"/>
                </a:solidFill>
              </a:defRPr>
            </a:pPr>
            <a:r>
              <a:t>Au nord-Cameroun, un paysan vendait son sac à 8 000 FCFA en pensant gagner de l'argent. Le coût réel : 9 500 FCFA/sac. Il travaillait à PERTE depuis des années sans le savoir.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Coût de production — 1 hectare de maïs (zone soudanienne)</a:t>
            </a:r>
          </a:p>
        </p:txBody>
      </p:sp>
      <p:graphicFrame>
        <p:nvGraphicFramePr>
          <p:cNvPr id="4" name="Table 3"/>
          <p:cNvGraphicFramePr>
            <a:graphicFrameLocks noGrp="1"/>
          </p:cNvGraphicFramePr>
          <p:nvPr/>
        </p:nvGraphicFramePr>
        <p:xfrm>
          <a:off x="548640" y="1371600"/>
          <a:ext cx="5486400" cy="5943600"/>
        </p:xfrm>
        <a:graphic>
          <a:graphicData uri="http://schemas.openxmlformats.org/drawingml/2006/table">
            <a:tbl>
              <a:tblPr firstRow="1" bandRow="1">
                <a:tableStyleId>{5C22544A-7EE6-4342-B048-85BDC9FD1C3A}</a:tableStyleId>
              </a:tblPr>
              <a:tblGrid>
                <a:gridCol w="2743200"/>
                <a:gridCol w="2743200"/>
              </a:tblGrid>
              <a:tr h="457200">
                <a:tc>
                  <a:txBody>
                    <a:bodyPr/>
                    <a:lstStyle/>
                    <a:p>
                      <a:pPr>
                        <a:defRPr sz="1300" b="1">
                          <a:solidFill>
                            <a:srgbClr val="FFFFFF"/>
                          </a:solidFill>
                        </a:defRPr>
                      </a:pPr>
                      <a:r>
                        <a:t>Poste</a:t>
                      </a:r>
                    </a:p>
                  </a:txBody>
                  <a:tcPr>
                    <a:solidFill>
                      <a:srgbClr val="0D9488"/>
                    </a:solidFill>
                  </a:tcPr>
                </a:tc>
                <a:tc>
                  <a:txBody>
                    <a:bodyPr/>
                    <a:lstStyle/>
                    <a:p>
                      <a:pPr>
                        <a:defRPr sz="1300" b="1">
                          <a:solidFill>
                            <a:srgbClr val="FFFFFF"/>
                          </a:solidFill>
                        </a:defRPr>
                      </a:pPr>
                      <a:r>
                        <a:t>Montant (FCFA)</a:t>
                      </a:r>
                    </a:p>
                  </a:txBody>
                  <a:tcPr>
                    <a:solidFill>
                      <a:srgbClr val="0D9488"/>
                    </a:solidFill>
                  </a:tcPr>
                </a:tc>
              </a:tr>
              <a:tr h="457200">
                <a:tc>
                  <a:txBody>
                    <a:bodyPr/>
                    <a:lstStyle/>
                    <a:p>
                      <a:pPr>
                        <a:defRPr sz="1200">
                          <a:solidFill>
                            <a:srgbClr val="1E293B"/>
                          </a:solidFill>
                        </a:defRPr>
                      </a:pPr>
                      <a:r>
                        <a:t>Semences (20 kg)</a:t>
                      </a:r>
                    </a:p>
                  </a:txBody>
                  <a:tcPr>
                    <a:solidFill>
                      <a:srgbClr val="FFFFFF"/>
                    </a:solidFill>
                  </a:tcPr>
                </a:tc>
                <a:tc>
                  <a:txBody>
                    <a:bodyPr/>
                    <a:lstStyle/>
                    <a:p>
                      <a:pPr>
                        <a:defRPr sz="1200">
                          <a:solidFill>
                            <a:srgbClr val="1E293B"/>
                          </a:solidFill>
                        </a:defRPr>
                      </a:pPr>
                      <a:r>
                        <a:t>15 000</a:t>
                      </a:r>
                    </a:p>
                  </a:txBody>
                  <a:tcPr>
                    <a:solidFill>
                      <a:srgbClr val="FFFFFF"/>
                    </a:solidFill>
                  </a:tcPr>
                </a:tc>
              </a:tr>
              <a:tr h="457200">
                <a:tc>
                  <a:txBody>
                    <a:bodyPr/>
                    <a:lstStyle/>
                    <a:p>
                      <a:pPr>
                        <a:defRPr sz="1200">
                          <a:solidFill>
                            <a:srgbClr val="1E293B"/>
                          </a:solidFill>
                        </a:defRPr>
                      </a:pPr>
                      <a:r>
                        <a:t>Engrais NPK (2 sacs)</a:t>
                      </a:r>
                    </a:p>
                  </a:txBody>
                  <a:tcPr>
                    <a:solidFill>
                      <a:srgbClr val="F1F5F9"/>
                    </a:solidFill>
                  </a:tcPr>
                </a:tc>
                <a:tc>
                  <a:txBody>
                    <a:bodyPr/>
                    <a:lstStyle/>
                    <a:p>
                      <a:pPr>
                        <a:defRPr sz="1200">
                          <a:solidFill>
                            <a:srgbClr val="1E293B"/>
                          </a:solidFill>
                        </a:defRPr>
                      </a:pPr>
                      <a:r>
                        <a:t>40 000</a:t>
                      </a:r>
                    </a:p>
                  </a:txBody>
                  <a:tcPr>
                    <a:solidFill>
                      <a:srgbClr val="F1F5F9"/>
                    </a:solidFill>
                  </a:tcPr>
                </a:tc>
              </a:tr>
              <a:tr h="457200">
                <a:tc>
                  <a:txBody>
                    <a:bodyPr/>
                    <a:lstStyle/>
                    <a:p>
                      <a:pPr>
                        <a:defRPr sz="1200">
                          <a:solidFill>
                            <a:srgbClr val="1E293B"/>
                          </a:solidFill>
                        </a:defRPr>
                      </a:pPr>
                      <a:r>
                        <a:t>Engrais urée (1 sac)</a:t>
                      </a:r>
                    </a:p>
                  </a:txBody>
                  <a:tcPr>
                    <a:solidFill>
                      <a:srgbClr val="FFFFFF"/>
                    </a:solidFill>
                  </a:tcPr>
                </a:tc>
                <a:tc>
                  <a:txBody>
                    <a:bodyPr/>
                    <a:lstStyle/>
                    <a:p>
                      <a:pPr>
                        <a:defRPr sz="1200">
                          <a:solidFill>
                            <a:srgbClr val="1E293B"/>
                          </a:solidFill>
                        </a:defRPr>
                      </a:pPr>
                      <a:r>
                        <a:t>22 000</a:t>
                      </a:r>
                    </a:p>
                  </a:txBody>
                  <a:tcPr>
                    <a:solidFill>
                      <a:srgbClr val="FFFFFF"/>
                    </a:solidFill>
                  </a:tcPr>
                </a:tc>
              </a:tr>
              <a:tr h="457200">
                <a:tc>
                  <a:txBody>
                    <a:bodyPr/>
                    <a:lstStyle/>
                    <a:p>
                      <a:pPr>
                        <a:defRPr sz="1200">
                          <a:solidFill>
                            <a:srgbClr val="1E293B"/>
                          </a:solidFill>
                        </a:defRPr>
                      </a:pPr>
                      <a:r>
                        <a:t>Labour (tracteur/attelage)</a:t>
                      </a:r>
                    </a:p>
                  </a:txBody>
                  <a:tcPr>
                    <a:solidFill>
                      <a:srgbClr val="F1F5F9"/>
                    </a:solidFill>
                  </a:tcPr>
                </a:tc>
                <a:tc>
                  <a:txBody>
                    <a:bodyPr/>
                    <a:lstStyle/>
                    <a:p>
                      <a:pPr>
                        <a:defRPr sz="1200">
                          <a:solidFill>
                            <a:srgbClr val="1E293B"/>
                          </a:solidFill>
                        </a:defRPr>
                      </a:pPr>
                      <a:r>
                        <a:t>25 000</a:t>
                      </a:r>
                    </a:p>
                  </a:txBody>
                  <a:tcPr>
                    <a:solidFill>
                      <a:srgbClr val="F1F5F9"/>
                    </a:solidFill>
                  </a:tcPr>
                </a:tc>
              </a:tr>
              <a:tr h="457200">
                <a:tc>
                  <a:txBody>
                    <a:bodyPr/>
                    <a:lstStyle/>
                    <a:p>
                      <a:pPr>
                        <a:defRPr sz="1200">
                          <a:solidFill>
                            <a:srgbClr val="1E293B"/>
                          </a:solidFill>
                        </a:defRPr>
                      </a:pPr>
                      <a:r>
                        <a:t>Semis (main-d'œuvre)</a:t>
                      </a:r>
                    </a:p>
                  </a:txBody>
                  <a:tcPr>
                    <a:solidFill>
                      <a:srgbClr val="FFFFFF"/>
                    </a:solidFill>
                  </a:tcPr>
                </a:tc>
                <a:tc>
                  <a:txBody>
                    <a:bodyPr/>
                    <a:lstStyle/>
                    <a:p>
                      <a:pPr>
                        <a:defRPr sz="1200">
                          <a:solidFill>
                            <a:srgbClr val="1E293B"/>
                          </a:solidFill>
                        </a:defRPr>
                      </a:pPr>
                      <a:r>
                        <a:t>10 000</a:t>
                      </a:r>
                    </a:p>
                  </a:txBody>
                  <a:tcPr>
                    <a:solidFill>
                      <a:srgbClr val="FFFFFF"/>
                    </a:solidFill>
                  </a:tcPr>
                </a:tc>
              </a:tr>
              <a:tr h="457200">
                <a:tc>
                  <a:txBody>
                    <a:bodyPr/>
                    <a:lstStyle/>
                    <a:p>
                      <a:pPr>
                        <a:defRPr sz="1200">
                          <a:solidFill>
                            <a:srgbClr val="1E293B"/>
                          </a:solidFill>
                        </a:defRPr>
                      </a:pPr>
                      <a:r>
                        <a:t>1er sarclage</a:t>
                      </a:r>
                    </a:p>
                  </a:txBody>
                  <a:tcPr>
                    <a:solidFill>
                      <a:srgbClr val="F1F5F9"/>
                    </a:solidFill>
                  </a:tcPr>
                </a:tc>
                <a:tc>
                  <a:txBody>
                    <a:bodyPr/>
                    <a:lstStyle/>
                    <a:p>
                      <a:pPr>
                        <a:defRPr sz="1200">
                          <a:solidFill>
                            <a:srgbClr val="1E293B"/>
                          </a:solidFill>
                        </a:defRPr>
                      </a:pPr>
                      <a:r>
                        <a:t>15 000</a:t>
                      </a:r>
                    </a:p>
                  </a:txBody>
                  <a:tcPr>
                    <a:solidFill>
                      <a:srgbClr val="F1F5F9"/>
                    </a:solidFill>
                  </a:tcPr>
                </a:tc>
              </a:tr>
              <a:tr h="457200">
                <a:tc>
                  <a:txBody>
                    <a:bodyPr/>
                    <a:lstStyle/>
                    <a:p>
                      <a:pPr>
                        <a:defRPr sz="1200">
                          <a:solidFill>
                            <a:srgbClr val="1E293B"/>
                          </a:solidFill>
                        </a:defRPr>
                      </a:pPr>
                      <a:r>
                        <a:t>2e sarclage</a:t>
                      </a:r>
                    </a:p>
                  </a:txBody>
                  <a:tcPr>
                    <a:solidFill>
                      <a:srgbClr val="FFFFFF"/>
                    </a:solidFill>
                  </a:tcPr>
                </a:tc>
                <a:tc>
                  <a:txBody>
                    <a:bodyPr/>
                    <a:lstStyle/>
                    <a:p>
                      <a:pPr>
                        <a:defRPr sz="1200">
                          <a:solidFill>
                            <a:srgbClr val="1E293B"/>
                          </a:solidFill>
                        </a:defRPr>
                      </a:pPr>
                      <a:r>
                        <a:t>12 000</a:t>
                      </a:r>
                    </a:p>
                  </a:txBody>
                  <a:tcPr>
                    <a:solidFill>
                      <a:srgbClr val="FFFFFF"/>
                    </a:solidFill>
                  </a:tcPr>
                </a:tc>
              </a:tr>
              <a:tr h="457200">
                <a:tc>
                  <a:txBody>
                    <a:bodyPr/>
                    <a:lstStyle/>
                    <a:p>
                      <a:pPr>
                        <a:defRPr sz="1200">
                          <a:solidFill>
                            <a:srgbClr val="1E293B"/>
                          </a:solidFill>
                        </a:defRPr>
                      </a:pPr>
                      <a:r>
                        <a:t>Récolte</a:t>
                      </a:r>
                    </a:p>
                  </a:txBody>
                  <a:tcPr>
                    <a:solidFill>
                      <a:srgbClr val="F1F5F9"/>
                    </a:solidFill>
                  </a:tcPr>
                </a:tc>
                <a:tc>
                  <a:txBody>
                    <a:bodyPr/>
                    <a:lstStyle/>
                    <a:p>
                      <a:pPr>
                        <a:defRPr sz="1200">
                          <a:solidFill>
                            <a:srgbClr val="1E293B"/>
                          </a:solidFill>
                        </a:defRPr>
                      </a:pPr>
                      <a:r>
                        <a:t>20 000</a:t>
                      </a:r>
                    </a:p>
                  </a:txBody>
                  <a:tcPr>
                    <a:solidFill>
                      <a:srgbClr val="F1F5F9"/>
                    </a:solidFill>
                  </a:tcPr>
                </a:tc>
              </a:tr>
              <a:tr h="457200">
                <a:tc>
                  <a:txBody>
                    <a:bodyPr/>
                    <a:lstStyle/>
                    <a:p>
                      <a:pPr>
                        <a:defRPr sz="1200">
                          <a:solidFill>
                            <a:srgbClr val="1E293B"/>
                          </a:solidFill>
                        </a:defRPr>
                      </a:pPr>
                      <a:r>
                        <a:t>Transport + stockage</a:t>
                      </a:r>
                    </a:p>
                  </a:txBody>
                  <a:tcPr>
                    <a:solidFill>
                      <a:srgbClr val="FFFFFF"/>
                    </a:solidFill>
                  </a:tcPr>
                </a:tc>
                <a:tc>
                  <a:txBody>
                    <a:bodyPr/>
                    <a:lstStyle/>
                    <a:p>
                      <a:pPr>
                        <a:defRPr sz="1200">
                          <a:solidFill>
                            <a:srgbClr val="1E293B"/>
                          </a:solidFill>
                        </a:defRPr>
                      </a:pPr>
                      <a:r>
                        <a:t>13 000</a:t>
                      </a:r>
                    </a:p>
                  </a:txBody>
                  <a:tcPr>
                    <a:solidFill>
                      <a:srgbClr val="FFFFFF"/>
                    </a:solidFill>
                  </a:tcPr>
                </a:tc>
              </a:tr>
              <a:tr h="457200">
                <a:tc>
                  <a:txBody>
                    <a:bodyPr/>
                    <a:lstStyle/>
                    <a:p>
                      <a:pPr>
                        <a:defRPr sz="1200">
                          <a:solidFill>
                            <a:srgbClr val="1E293B"/>
                          </a:solidFill>
                        </a:defRPr>
                      </a:pPr>
                      <a:r>
                        <a:t>Produit conservation</a:t>
                      </a:r>
                    </a:p>
                  </a:txBody>
                  <a:tcPr>
                    <a:solidFill>
                      <a:srgbClr val="F1F5F9"/>
                    </a:solidFill>
                  </a:tcPr>
                </a:tc>
                <a:tc>
                  <a:txBody>
                    <a:bodyPr/>
                    <a:lstStyle/>
                    <a:p>
                      <a:pPr>
                        <a:defRPr sz="1200">
                          <a:solidFill>
                            <a:srgbClr val="1E293B"/>
                          </a:solidFill>
                        </a:defRPr>
                      </a:pPr>
                      <a:r>
                        <a:t>3 000</a:t>
                      </a:r>
                    </a:p>
                  </a:txBody>
                  <a:tcPr>
                    <a:solidFill>
                      <a:srgbClr val="F1F5F9"/>
                    </a:solidFill>
                  </a:tcPr>
                </a:tc>
              </a:tr>
              <a:tr h="457200">
                <a:tc>
                  <a:txBody>
                    <a:bodyPr/>
                    <a:lstStyle/>
                    <a:p>
                      <a:pPr>
                        <a:defRPr sz="1200">
                          <a:solidFill>
                            <a:srgbClr val="1E293B"/>
                          </a:solidFill>
                        </a:defRPr>
                      </a:pPr>
                      <a:r>
                        <a:t>TOTAL</a:t>
                      </a:r>
                    </a:p>
                  </a:txBody>
                  <a:tcPr>
                    <a:solidFill>
                      <a:srgbClr val="FFFFFF"/>
                    </a:solidFill>
                  </a:tcPr>
                </a:tc>
                <a:tc>
                  <a:txBody>
                    <a:bodyPr/>
                    <a:lstStyle/>
                    <a:p>
                      <a:pPr>
                        <a:defRPr sz="1200">
                          <a:solidFill>
                            <a:srgbClr val="1E293B"/>
                          </a:solidFill>
                        </a:defRPr>
                      </a:pPr>
                      <a:r>
                        <a:t>175 000</a:t>
                      </a:r>
                    </a:p>
                  </a:txBody>
                  <a:tcPr>
                    <a:solidFill>
                      <a:srgbClr val="FFFFFF"/>
                    </a:solidFill>
                  </a:tcPr>
                </a:tc>
              </a:tr>
              <a:tr h="457200">
                <a:tc>
                  <a:txBody>
                    <a:bodyPr/>
                    <a:lstStyle/>
                    <a:p>
                      <a:pPr>
                        <a:defRPr sz="1200">
                          <a:solidFill>
                            <a:srgbClr val="1E293B"/>
                          </a:solidFill>
                        </a:defRPr>
                      </a:pPr>
                      <a:r>
                        <a:t>Coût par sac (20 sacs/ha)</a:t>
                      </a:r>
                    </a:p>
                  </a:txBody>
                  <a:tcPr>
                    <a:solidFill>
                      <a:srgbClr val="F1F5F9"/>
                    </a:solidFill>
                  </a:tcPr>
                </a:tc>
                <a:tc>
                  <a:txBody>
                    <a:bodyPr/>
                    <a:lstStyle/>
                    <a:p>
                      <a:pPr>
                        <a:defRPr sz="1200">
                          <a:solidFill>
                            <a:srgbClr val="1E293B"/>
                          </a:solidFill>
                        </a:defRPr>
                      </a:pPr>
                      <a:r>
                        <a:t>8 750 FCFA → prix plancher de vente</a:t>
                      </a:r>
                    </a:p>
                  </a:txBody>
                  <a:tcPr>
                    <a:solidFill>
                      <a:srgbClr val="F1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Un paysan vend son sac à 8 000 FCFA. Le coût total est de 9 500 FCFA/sac. Quelle est la situation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Bénéfice de 1 500 FCFA</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Perte de 1 500 FCFA par sac</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Équilibre</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Impossible à dire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6</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6</a:t>
            </a:r>
          </a:p>
          <a:p>
            <a:pPr>
              <a:spcBef>
                <a:spcPts val="600"/>
              </a:spcBef>
              <a:defRPr sz="3200" b="1">
                <a:solidFill>
                  <a:srgbClr val="1E293B"/>
                </a:solidFill>
              </a:defRPr>
            </a:pPr>
            <a:r>
              <a:t>Planifier financièrement</a:t>
            </a:r>
            <a:br/>
            <a:r>
              <a:t>la campagne agricole</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3h  |  Matériel : corde 3m, 12 nœuds, cartons illustrés des activités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 calendrier cultural = le calendrier financier</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Activité : La corde des saisons</a:t>
            </a:r>
          </a:p>
          <a:p>
            <a:pPr>
              <a:spcBef>
                <a:spcPts val="800"/>
              </a:spcBef>
              <a:defRPr sz="1600">
                <a:solidFill>
                  <a:srgbClr val="1E293B"/>
                </a:solidFill>
              </a:defRPr>
            </a:pPr>
            <a:r>
              <a:t>1. Corde avec 12 nœuds (1/mois) entre deux piquets</a:t>
            </a:r>
          </a:p>
          <a:p>
            <a:pPr>
              <a:spcBef>
                <a:spcPts val="800"/>
              </a:spcBef>
              <a:defRPr sz="1600">
                <a:solidFill>
                  <a:srgbClr val="1E293B"/>
                </a:solidFill>
              </a:defRPr>
            </a:pPr>
            <a:r>
              <a:t>2. Placez les cartons : labour, semis, sarclage, récolte, vente</a:t>
            </a:r>
          </a:p>
          <a:p>
            <a:pPr>
              <a:spcBef>
                <a:spcPts val="800"/>
              </a:spcBef>
              <a:defRPr sz="1600">
                <a:solidFill>
                  <a:srgbClr val="1E293B"/>
                </a:solidFill>
              </a:defRPr>
            </a:pPr>
            <a:r>
              <a:t>3. Sous chaque carton : graines = argent nécessaire</a:t>
            </a:r>
          </a:p>
          <a:p>
            <a:pPr>
              <a:spcBef>
                <a:spcPts val="800"/>
              </a:spcBef>
              <a:defRPr sz="1600">
                <a:solidFill>
                  <a:srgbClr val="1E293B"/>
                </a:solidFill>
              </a:defRPr>
            </a:pPr>
            <a:r>
              <a:t>4. Question clé : « En avril, quand il faut acheter intrants,</a:t>
            </a:r>
          </a:p>
          <a:p>
            <a:pPr>
              <a:spcBef>
                <a:spcPts val="800"/>
              </a:spcBef>
              <a:defRPr sz="1600">
                <a:solidFill>
                  <a:srgbClr val="1E293B"/>
                </a:solidFill>
              </a:defRPr>
            </a:pPr>
            <a:r>
              <a:t>   est-ce que vous avez l'argent ? »</a:t>
            </a:r>
          </a:p>
          <a:p>
            <a:pPr>
              <a:spcBef>
                <a:spcPts val="800"/>
              </a:spcBef>
              <a:defRPr sz="1600">
                <a:solidFill>
                  <a:srgbClr val="1E293B"/>
                </a:solidFill>
              </a:defRPr>
            </a:pPr>
          </a:p>
          <a:p>
            <a:pPr>
              <a:spcBef>
                <a:spcPts val="800"/>
              </a:spcBef>
              <a:defRPr sz="1600">
                <a:solidFill>
                  <a:srgbClr val="1E293B"/>
                </a:solidFill>
              </a:defRPr>
            </a:pPr>
            <a:r>
              <a:t>La stratégie d'épargne anticipée :</a:t>
            </a:r>
          </a:p>
          <a:p>
            <a:pPr>
              <a:spcBef>
                <a:spcPts val="800"/>
              </a:spcBef>
              <a:defRPr sz="1600">
                <a:solidFill>
                  <a:srgbClr val="1E293B"/>
                </a:solidFill>
              </a:defRPr>
            </a:pPr>
            <a:r>
              <a:t>  Besoins en intrants (avril) : ~80 000 FCFA</a:t>
            </a:r>
          </a:p>
          <a:p>
            <a:pPr>
              <a:spcBef>
                <a:spcPts val="800"/>
              </a:spcBef>
              <a:defRPr sz="1600">
                <a:solidFill>
                  <a:srgbClr val="1E293B"/>
                </a:solidFill>
              </a:defRPr>
            </a:pPr>
            <a:r>
              <a:t>  Mois pour épargner (nov→mars) : 5 mois</a:t>
            </a:r>
          </a:p>
          <a:p>
            <a:pPr>
              <a:spcBef>
                <a:spcPts val="800"/>
              </a:spcBef>
              <a:defRPr sz="1600">
                <a:solidFill>
                  <a:srgbClr val="1E293B"/>
                </a:solidFill>
              </a:defRPr>
            </a:pPr>
            <a:r>
              <a:t>  Épargne nécessaire : 80 000 ÷ 5 = 16 000 FCFA/mois</a:t>
            </a:r>
          </a:p>
          <a:p>
            <a:pPr>
              <a:spcBef>
                <a:spcPts val="800"/>
              </a:spcBef>
              <a:defRPr sz="1600">
                <a:solidFill>
                  <a:srgbClr val="1E293B"/>
                </a:solidFill>
              </a:defRPr>
            </a:pPr>
            <a:r>
              <a:t>  → Concret, atteignable, brise le cycle d'endettement</a:t>
            </a:r>
          </a:p>
        </p:txBody>
      </p:sp>
      <p:sp>
        <p:nvSpPr>
          <p:cNvPr id="5" name="Rectangle 4"/>
          <p:cNvSpPr/>
          <p:nvPr/>
        </p:nvSpPr>
        <p:spPr>
          <a:xfrm>
            <a:off x="7498079" y="1371600"/>
            <a:ext cx="4114800" cy="4114800"/>
          </a:xfrm>
          <a:prstGeom prst="rect">
            <a:avLst/>
          </a:prstGeom>
          <a:solidFill>
            <a:srgbClr val="F1F5F9"/>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97706"/>
                </a:solidFill>
              </a:defRPr>
            </a:pPr>
            <a:r>
              <a:t>Le cercle vicieux</a:t>
            </a:r>
          </a:p>
          <a:p>
            <a:pPr>
              <a:spcBef>
                <a:spcPts val="1000"/>
              </a:spcBef>
              <a:defRPr sz="1300">
                <a:solidFill>
                  <a:srgbClr val="1E293B"/>
                </a:solidFill>
              </a:defRPr>
            </a:pPr>
            <a:r>
              <a:t>En avril, plus d'argent → emprunt au commerçant → remboursement en nature à la récolte (prix le plus bas) → perte de 30-50% de la valeur. Chaque année, le même piège. La planification le brise.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Pourquoi le paysan s'endette-t-il souvent en avril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Parce qu'il est paresseux</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Parce qu'il n'a pas planifié l'épargne pour couvrir les intrants</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Parce que les intrants sont trop chers</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Parce que la banque le force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7</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7</a:t>
            </a:r>
          </a:p>
          <a:p>
            <a:pPr>
              <a:spcBef>
                <a:spcPts val="600"/>
              </a:spcBef>
              <a:defRPr sz="3200" b="1">
                <a:solidFill>
                  <a:srgbClr val="1E293B"/>
                </a:solidFill>
              </a:defRPr>
            </a:pPr>
            <a:r>
              <a:t>Le crédit agricole :</a:t>
            </a:r>
            <a:br/>
            <a:r>
              <a:t>opportunité ou piège ?</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2h30  |  Matériel : 3 chaises, cartons avec offres de crédit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Jeu de rôle : le paysan face au crédit</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Scénario : Aminata a besoin de 100 000 FCFA pour les intrants</a:t>
            </a:r>
          </a:p>
          <a:p>
            <a:pPr>
              <a:spcBef>
                <a:spcPts val="800"/>
              </a:spcBef>
              <a:defRPr sz="1600">
                <a:solidFill>
                  <a:srgbClr val="1E293B"/>
                </a:solidFill>
              </a:defRPr>
            </a:pPr>
          </a:p>
          <a:p>
            <a:pPr>
              <a:spcBef>
                <a:spcPts val="800"/>
              </a:spcBef>
              <a:defRPr sz="1600">
                <a:solidFill>
                  <a:srgbClr val="1E293B"/>
                </a:solidFill>
              </a:defRPr>
            </a:pPr>
            <a:r>
              <a:t>3 prêteurs se présentent :</a:t>
            </a:r>
          </a:p>
          <a:p>
            <a:pPr>
              <a:spcBef>
                <a:spcPts val="800"/>
              </a:spcBef>
              <a:defRPr sz="1600">
                <a:solidFill>
                  <a:srgbClr val="1E293B"/>
                </a:solidFill>
              </a:defRPr>
            </a:pPr>
            <a:r>
              <a:t>  A. Le commerçant : intrants maintenant, 5 sacs à la récolte</a:t>
            </a:r>
          </a:p>
          <a:p>
            <a:pPr>
              <a:spcBef>
                <a:spcPts val="800"/>
              </a:spcBef>
              <a:defRPr sz="1600">
                <a:solidFill>
                  <a:srgbClr val="1E293B"/>
                </a:solidFill>
              </a:defRPr>
            </a:pPr>
            <a:r>
              <a:t>     → Valeur remboursée : 150 000 FCFA — Coût : 50 000 (50%)</a:t>
            </a:r>
          </a:p>
          <a:p>
            <a:pPr>
              <a:spcBef>
                <a:spcPts val="800"/>
              </a:spcBef>
              <a:defRPr sz="1600">
                <a:solidFill>
                  <a:srgbClr val="1E293B"/>
                </a:solidFill>
              </a:defRPr>
            </a:pPr>
            <a:r>
              <a:t>  B. La microfinance : 2%/mois sur 8 mois</a:t>
            </a:r>
          </a:p>
          <a:p>
            <a:pPr>
              <a:spcBef>
                <a:spcPts val="800"/>
              </a:spcBef>
              <a:defRPr sz="1600">
                <a:solidFill>
                  <a:srgbClr val="1E293B"/>
                </a:solidFill>
              </a:defRPr>
            </a:pPr>
            <a:r>
              <a:t>     → Remboursement : 119 000 FCFA — Coût : 19 000 (19%)</a:t>
            </a:r>
          </a:p>
          <a:p>
            <a:pPr>
              <a:spcBef>
                <a:spcPts val="800"/>
              </a:spcBef>
              <a:defRPr sz="1600">
                <a:solidFill>
                  <a:srgbClr val="1E293B"/>
                </a:solidFill>
              </a:defRPr>
            </a:pPr>
            <a:r>
              <a:t>  C. L'AVEC/VSLA : 5% sur 4 mois, flexible</a:t>
            </a:r>
          </a:p>
          <a:p>
            <a:pPr>
              <a:spcBef>
                <a:spcPts val="800"/>
              </a:spcBef>
              <a:defRPr sz="1600">
                <a:solidFill>
                  <a:srgbClr val="1E293B"/>
                </a:solidFill>
              </a:defRPr>
            </a:pPr>
            <a:r>
              <a:t>     → Remboursement : 105 000 FCFA — Coût : 5 000 (5%)</a:t>
            </a:r>
          </a:p>
          <a:p>
            <a:pPr>
              <a:spcBef>
                <a:spcPts val="800"/>
              </a:spcBef>
              <a:defRPr sz="1600">
                <a:solidFill>
                  <a:srgbClr val="1E293B"/>
                </a:solidFill>
              </a:defRPr>
            </a:pPr>
          </a:p>
          <a:p>
            <a:pPr>
              <a:spcBef>
                <a:spcPts val="800"/>
              </a:spcBef>
              <a:defRPr sz="1600">
                <a:solidFill>
                  <a:srgbClr val="1E293B"/>
                </a:solidFill>
              </a:defRPr>
            </a:pPr>
            <a:r>
              <a:t>Les 3 règles d'or du crédit :</a:t>
            </a:r>
          </a:p>
          <a:p>
            <a:pPr>
              <a:spcBef>
                <a:spcPts val="800"/>
              </a:spcBef>
              <a:defRPr sz="1600">
                <a:solidFill>
                  <a:srgbClr val="1E293B"/>
                </a:solidFill>
              </a:defRPr>
            </a:pPr>
            <a:r>
              <a:t>  1. Emprunter UNIQUEMENT pour un investissement productif</a:t>
            </a:r>
          </a:p>
          <a:p>
            <a:pPr>
              <a:spcBef>
                <a:spcPts val="800"/>
              </a:spcBef>
              <a:defRPr sz="1600">
                <a:solidFill>
                  <a:srgbClr val="1E293B"/>
                </a:solidFill>
              </a:defRPr>
            </a:pPr>
            <a:r>
              <a:t>  2. Toujours calculer le coût TOTAL du remboursement</a:t>
            </a:r>
          </a:p>
          <a:p>
            <a:pPr>
              <a:spcBef>
                <a:spcPts val="800"/>
              </a:spcBef>
              <a:defRPr sz="1600">
                <a:solidFill>
                  <a:srgbClr val="1E293B"/>
                </a:solidFill>
              </a:defRPr>
            </a:pPr>
            <a:r>
              <a:t>  3. Préférer l'épargne au crédit quand c'est possible</a:t>
            </a:r>
          </a:p>
        </p:txBody>
      </p:sp>
      <p:sp>
        <p:nvSpPr>
          <p:cNvPr id="5" name="Rectangle 4"/>
          <p:cNvSpPr/>
          <p:nvPr/>
        </p:nvSpPr>
        <p:spPr>
          <a:xfrm>
            <a:off x="7498079" y="1371600"/>
            <a:ext cx="4114800" cy="4114800"/>
          </a:xfrm>
          <a:prstGeom prst="rect">
            <a:avLst/>
          </a:prstGeom>
          <a:solidFill>
            <a:srgbClr val="F1F5F9"/>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D9488"/>
                </a:solidFill>
              </a:defRPr>
            </a:pPr>
            <a:r>
              <a:t>Pas de jugement</a:t>
            </a:r>
          </a:p>
          <a:p>
            <a:pPr>
              <a:spcBef>
                <a:spcPts val="1000"/>
              </a:spcBef>
              <a:defRPr sz="1300">
                <a:solidFill>
                  <a:srgbClr val="1E293B"/>
                </a:solidFill>
              </a:defRPr>
            </a:pPr>
            <a:r>
              <a:t>Si un participant dit 'moi j'emprunte toujours au commerçant', ne le critiquez pas. Demandez 'combien tu lui rembourses ?' et laissez le groupe calculer. Le jugement vient du groupe, pas du formateur.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Un commerçant prête 100 000 FCFA en intrants et demande 5 sacs à 30 000 FCFA. Quel est le coût du crédit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0 FCFA, c'est un échange</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50 000 FCFA (150 000 - 100 000)</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30 000 FCFA</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100 000 FCFA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8</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8</a:t>
            </a:r>
          </a:p>
          <a:p>
            <a:pPr>
              <a:spcBef>
                <a:spcPts val="600"/>
              </a:spcBef>
              <a:defRPr sz="3200" b="1">
                <a:solidFill>
                  <a:srgbClr val="1E293B"/>
                </a:solidFill>
              </a:defRPr>
            </a:pPr>
            <a:r>
              <a:t>Stratégies de commercialisation :</a:t>
            </a:r>
            <a:br/>
            <a:r>
              <a:t>vendre au bon moment</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2h30  |  Matériel : cailloux pour courbe des prix, 12 mois au sol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 paradoxe : il vend quand le prix est le plus bas</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Activité : La courbe des prix au sol</a:t>
            </a:r>
          </a:p>
          <a:p>
            <a:pPr>
              <a:spcBef>
                <a:spcPts val="800"/>
              </a:spcBef>
              <a:defRPr sz="1600">
                <a:solidFill>
                  <a:srgbClr val="1E293B"/>
                </a:solidFill>
              </a:defRPr>
            </a:pPr>
            <a:r>
              <a:t>1. Ligne de 3 mètres = 12 mois (janvier à décembre)</a:t>
            </a:r>
          </a:p>
          <a:p>
            <a:pPr>
              <a:spcBef>
                <a:spcPts val="800"/>
              </a:spcBef>
              <a:defRPr sz="1600">
                <a:solidFill>
                  <a:srgbClr val="1E293B"/>
                </a:solidFill>
              </a:defRPr>
            </a:pPr>
            <a:r>
              <a:t>2. « En novembre, un sac coûte combien ? Et en juillet ? »</a:t>
            </a:r>
          </a:p>
          <a:p>
            <a:pPr>
              <a:spcBef>
                <a:spcPts val="800"/>
              </a:spcBef>
              <a:defRPr sz="1600">
                <a:solidFill>
                  <a:srgbClr val="1E293B"/>
                </a:solidFill>
              </a:defRPr>
            </a:pPr>
            <a:r>
              <a:t>3. Empilez des cailloux = le prix de chaque mois</a:t>
            </a:r>
          </a:p>
          <a:p>
            <a:pPr>
              <a:spcBef>
                <a:spcPts val="800"/>
              </a:spcBef>
              <a:defRPr sz="1600">
                <a:solidFill>
                  <a:srgbClr val="1E293B"/>
                </a:solidFill>
              </a:defRPr>
            </a:pPr>
            <a:r>
              <a:t>4. Le groupe VOIT : prix bas à la récolte, prix haut en soudure</a:t>
            </a:r>
          </a:p>
          <a:p>
            <a:pPr>
              <a:spcBef>
                <a:spcPts val="800"/>
              </a:spcBef>
              <a:defRPr sz="1600">
                <a:solidFill>
                  <a:srgbClr val="1E293B"/>
                </a:solidFill>
              </a:defRPr>
            </a:pPr>
          </a:p>
          <a:p>
            <a:pPr>
              <a:spcBef>
                <a:spcPts val="800"/>
              </a:spcBef>
              <a:defRPr sz="1600">
                <a:solidFill>
                  <a:srgbClr val="1E293B"/>
                </a:solidFill>
              </a:defRPr>
            </a:pPr>
            <a:r>
              <a:t>Les 4 stratégies de commercialisation :</a:t>
            </a:r>
          </a:p>
          <a:p>
            <a:pPr>
              <a:spcBef>
                <a:spcPts val="800"/>
              </a:spcBef>
              <a:defRPr sz="1600">
                <a:solidFill>
                  <a:srgbClr val="1E293B"/>
                </a:solidFill>
              </a:defRPr>
            </a:pPr>
            <a:r>
              <a:t>  • Vente groupée — vendre ensemble = meilleur prix</a:t>
            </a:r>
          </a:p>
          <a:p>
            <a:pPr>
              <a:spcBef>
                <a:spcPts val="800"/>
              </a:spcBef>
              <a:defRPr sz="1600">
                <a:solidFill>
                  <a:srgbClr val="1E293B"/>
                </a:solidFill>
              </a:defRPr>
            </a:pPr>
            <a:r>
              <a:t>  • Stockage individuel — garder et vendre en mai-juillet</a:t>
            </a:r>
          </a:p>
          <a:p>
            <a:pPr>
              <a:spcBef>
                <a:spcPts val="800"/>
              </a:spcBef>
              <a:defRPr sz="1600">
                <a:solidFill>
                  <a:srgbClr val="1E293B"/>
                </a:solidFill>
              </a:defRPr>
            </a:pPr>
            <a:r>
              <a:t>  • Warrantage — stocker + crédit 70% + vendre plus tard</a:t>
            </a:r>
          </a:p>
          <a:p>
            <a:pPr>
              <a:spcBef>
                <a:spcPts val="800"/>
              </a:spcBef>
              <a:defRPr sz="1600">
                <a:solidFill>
                  <a:srgbClr val="1E293B"/>
                </a:solidFill>
              </a:defRPr>
            </a:pPr>
            <a:r>
              <a:t>  • Transformation — farine, huile = valeur ajoutée</a:t>
            </a:r>
          </a:p>
        </p:txBody>
      </p:sp>
      <p:sp>
        <p:nvSpPr>
          <p:cNvPr id="5" name="Rectangle 4"/>
          <p:cNvSpPr/>
          <p:nvPr/>
        </p:nvSpPr>
        <p:spPr>
          <a:xfrm>
            <a:off x="7498079" y="1371600"/>
            <a:ext cx="4114800" cy="4114800"/>
          </a:xfrm>
          <a:prstGeom prst="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Le warrantage (Niger/PAM)</a:t>
            </a:r>
          </a:p>
          <a:p>
            <a:pPr>
              <a:spcBef>
                <a:spcPts val="1000"/>
              </a:spcBef>
              <a:defRPr sz="1300">
                <a:solidFill>
                  <a:srgbClr val="1E293B"/>
                </a:solidFill>
              </a:defRPr>
            </a:pPr>
            <a:r>
              <a:t>Les paysans stockent leur grain dans un entrepôt certifié, reçoivent 70% en crédit immédiat, et vendent 4-6 mois plus tard. Résultat : +40% de revenus en moyenne.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Gain du stockage — 20 sacs de maïs</a:t>
            </a:r>
          </a:p>
        </p:txBody>
      </p:sp>
      <p:graphicFrame>
        <p:nvGraphicFramePr>
          <p:cNvPr id="4" name="Table 3"/>
          <p:cNvGraphicFramePr>
            <a:graphicFrameLocks noGrp="1"/>
          </p:cNvGraphicFramePr>
          <p:nvPr/>
        </p:nvGraphicFramePr>
        <p:xfrm>
          <a:off x="548640" y="1371600"/>
          <a:ext cx="10515600.0" cy="2286000"/>
        </p:xfrm>
        <a:graphic>
          <a:graphicData uri="http://schemas.openxmlformats.org/drawingml/2006/table">
            <a:tbl>
              <a:tblPr firstRow="1" bandRow="1">
                <a:tableStyleId>{5C22544A-7EE6-4342-B048-85BDC9FD1C3A}</a:tableStyleId>
              </a:tblPr>
              <a:tblGrid>
                <a:gridCol w="2628900"/>
                <a:gridCol w="2628900"/>
                <a:gridCol w="2628900"/>
                <a:gridCol w="2628900"/>
              </a:tblGrid>
              <a:tr h="457200">
                <a:tc>
                  <a:txBody>
                    <a:bodyPr/>
                    <a:lstStyle/>
                    <a:p>
                      <a:pPr>
                        <a:defRPr sz="1300" b="1">
                          <a:solidFill>
                            <a:srgbClr val="FFFFFF"/>
                          </a:solidFill>
                        </a:defRPr>
                      </a:pPr>
                      <a:r>
                        <a:t>Scénario</a:t>
                      </a:r>
                    </a:p>
                  </a:txBody>
                  <a:tcPr>
                    <a:solidFill>
                      <a:srgbClr val="0D9488"/>
                    </a:solidFill>
                  </a:tcPr>
                </a:tc>
                <a:tc>
                  <a:txBody>
                    <a:bodyPr/>
                    <a:lstStyle/>
                    <a:p>
                      <a:pPr>
                        <a:defRPr sz="1300" b="1">
                          <a:solidFill>
                            <a:srgbClr val="FFFFFF"/>
                          </a:solidFill>
                        </a:defRPr>
                      </a:pPr>
                      <a:r>
                        <a:t>Prix/sac</a:t>
                      </a:r>
                    </a:p>
                  </a:txBody>
                  <a:tcPr>
                    <a:solidFill>
                      <a:srgbClr val="0D9488"/>
                    </a:solidFill>
                  </a:tcPr>
                </a:tc>
                <a:tc>
                  <a:txBody>
                    <a:bodyPr/>
                    <a:lstStyle/>
                    <a:p>
                      <a:pPr>
                        <a:defRPr sz="1300" b="1">
                          <a:solidFill>
                            <a:srgbClr val="FFFFFF"/>
                          </a:solidFill>
                        </a:defRPr>
                      </a:pPr>
                      <a:r>
                        <a:t>Total</a:t>
                      </a:r>
                    </a:p>
                  </a:txBody>
                  <a:tcPr>
                    <a:solidFill>
                      <a:srgbClr val="0D9488"/>
                    </a:solidFill>
                  </a:tcPr>
                </a:tc>
                <a:tc>
                  <a:txBody>
                    <a:bodyPr/>
                    <a:lstStyle/>
                    <a:p>
                      <a:pPr>
                        <a:defRPr sz="1300" b="1">
                          <a:solidFill>
                            <a:srgbClr val="FFFFFF"/>
                          </a:solidFill>
                        </a:defRPr>
                      </a:pPr>
                      <a:r>
                        <a:t>Différence</a:t>
                      </a:r>
                    </a:p>
                  </a:txBody>
                  <a:tcPr>
                    <a:solidFill>
                      <a:srgbClr val="0D9488"/>
                    </a:solidFill>
                  </a:tcPr>
                </a:tc>
              </a:tr>
              <a:tr h="457200">
                <a:tc>
                  <a:txBody>
                    <a:bodyPr/>
                    <a:lstStyle/>
                    <a:p>
                      <a:pPr>
                        <a:defRPr sz="1200">
                          <a:solidFill>
                            <a:srgbClr val="1E293B"/>
                          </a:solidFill>
                        </a:defRPr>
                      </a:pPr>
                      <a:r>
                        <a:t>Vente immédiate (novembre)</a:t>
                      </a:r>
                    </a:p>
                  </a:txBody>
                  <a:tcPr>
                    <a:solidFill>
                      <a:srgbClr val="FFFFFF"/>
                    </a:solidFill>
                  </a:tcPr>
                </a:tc>
                <a:tc>
                  <a:txBody>
                    <a:bodyPr/>
                    <a:lstStyle/>
                    <a:p>
                      <a:pPr>
                        <a:defRPr sz="1200">
                          <a:solidFill>
                            <a:srgbClr val="1E293B"/>
                          </a:solidFill>
                        </a:defRPr>
                      </a:pPr>
                      <a:r>
                        <a:t>8 000 FCFA</a:t>
                      </a:r>
                    </a:p>
                  </a:txBody>
                  <a:tcPr>
                    <a:solidFill>
                      <a:srgbClr val="FFFFFF"/>
                    </a:solidFill>
                  </a:tcPr>
                </a:tc>
                <a:tc>
                  <a:txBody>
                    <a:bodyPr/>
                    <a:lstStyle/>
                    <a:p>
                      <a:pPr>
                        <a:defRPr sz="1200">
                          <a:solidFill>
                            <a:srgbClr val="1E293B"/>
                          </a:solidFill>
                        </a:defRPr>
                      </a:pPr>
                      <a:r>
                        <a:t>160 000 FCFA</a:t>
                      </a:r>
                    </a:p>
                  </a:txBody>
                  <a:tcPr>
                    <a:solidFill>
                      <a:srgbClr val="FFFFFF"/>
                    </a:solidFill>
                  </a:tcPr>
                </a:tc>
                <a:tc>
                  <a:txBody>
                    <a:bodyPr/>
                    <a:lstStyle/>
                    <a:p>
                      <a:pPr>
                        <a:defRPr sz="1200">
                          <a:solidFill>
                            <a:srgbClr val="1E293B"/>
                          </a:solidFill>
                        </a:defRPr>
                      </a:pPr>
                      <a:r>
                        <a:t>—</a:t>
                      </a:r>
                    </a:p>
                  </a:txBody>
                  <a:tcPr>
                    <a:solidFill>
                      <a:srgbClr val="FFFFFF"/>
                    </a:solidFill>
                  </a:tcPr>
                </a:tc>
              </a:tr>
              <a:tr h="457200">
                <a:tc>
                  <a:txBody>
                    <a:bodyPr/>
                    <a:lstStyle/>
                    <a:p>
                      <a:pPr>
                        <a:defRPr sz="1200">
                          <a:solidFill>
                            <a:srgbClr val="1E293B"/>
                          </a:solidFill>
                        </a:defRPr>
                      </a:pPr>
                      <a:r>
                        <a:t>Vente différée (mai)</a:t>
                      </a:r>
                    </a:p>
                  </a:txBody>
                  <a:tcPr>
                    <a:solidFill>
                      <a:srgbClr val="F1F5F9"/>
                    </a:solidFill>
                  </a:tcPr>
                </a:tc>
                <a:tc>
                  <a:txBody>
                    <a:bodyPr/>
                    <a:lstStyle/>
                    <a:p>
                      <a:pPr>
                        <a:defRPr sz="1200">
                          <a:solidFill>
                            <a:srgbClr val="1E293B"/>
                          </a:solidFill>
                        </a:defRPr>
                      </a:pPr>
                      <a:r>
                        <a:t>17 000 FCFA</a:t>
                      </a:r>
                    </a:p>
                  </a:txBody>
                  <a:tcPr>
                    <a:solidFill>
                      <a:srgbClr val="F1F5F9"/>
                    </a:solidFill>
                  </a:tcPr>
                </a:tc>
                <a:tc>
                  <a:txBody>
                    <a:bodyPr/>
                    <a:lstStyle/>
                    <a:p>
                      <a:pPr>
                        <a:defRPr sz="1200">
                          <a:solidFill>
                            <a:srgbClr val="1E293B"/>
                          </a:solidFill>
                        </a:defRPr>
                      </a:pPr>
                      <a:r>
                        <a:t>340 000 FCFA</a:t>
                      </a:r>
                    </a:p>
                  </a:txBody>
                  <a:tcPr>
                    <a:solidFill>
                      <a:srgbClr val="F1F5F9"/>
                    </a:solidFill>
                  </a:tcPr>
                </a:tc>
                <a:tc>
                  <a:txBody>
                    <a:bodyPr/>
                    <a:lstStyle/>
                    <a:p>
                      <a:pPr>
                        <a:defRPr sz="1200">
                          <a:solidFill>
                            <a:srgbClr val="1E293B"/>
                          </a:solidFill>
                        </a:defRPr>
                      </a:pPr>
                      <a:r>
                        <a:t>+180 000 FCFA</a:t>
                      </a:r>
                    </a:p>
                  </a:txBody>
                  <a:tcPr>
                    <a:solidFill>
                      <a:srgbClr val="F1F5F9"/>
                    </a:solidFill>
                  </a:tcPr>
                </a:tc>
              </a:tr>
              <a:tr h="457200">
                <a:tc>
                  <a:txBody>
                    <a:bodyPr/>
                    <a:lstStyle/>
                    <a:p>
                      <a:pPr>
                        <a:defRPr sz="1200">
                          <a:solidFill>
                            <a:srgbClr val="1E293B"/>
                          </a:solidFill>
                        </a:defRPr>
                      </a:pPr>
                      <a:r>
                        <a:t>Coût de stockage</a:t>
                      </a:r>
                    </a:p>
                  </a:txBody>
                  <a:tcPr>
                    <a:solidFill>
                      <a:srgbClr val="FFFFFF"/>
                    </a:solidFill>
                  </a:tcPr>
                </a:tc>
                <a:tc>
                  <a:txBody>
                    <a:bodyPr/>
                    <a:lstStyle/>
                    <a:p>
                      <a:pPr>
                        <a:defRPr sz="1200">
                          <a:solidFill>
                            <a:srgbClr val="1E293B"/>
                          </a:solidFill>
                        </a:defRPr>
                      </a:pPr>
                      <a:r>
                        <a:t>—</a:t>
                      </a:r>
                    </a:p>
                  </a:txBody>
                  <a:tcPr>
                    <a:solidFill>
                      <a:srgbClr val="FFFFFF"/>
                    </a:solidFill>
                  </a:tcPr>
                </a:tc>
                <a:tc>
                  <a:txBody>
                    <a:bodyPr/>
                    <a:lstStyle/>
                    <a:p>
                      <a:pPr>
                        <a:defRPr sz="1200">
                          <a:solidFill>
                            <a:srgbClr val="1E293B"/>
                          </a:solidFill>
                        </a:defRPr>
                      </a:pPr>
                      <a:r>
                        <a:t>-15 000 FCFA</a:t>
                      </a:r>
                    </a:p>
                  </a:txBody>
                  <a:tcPr>
                    <a:solidFill>
                      <a:srgbClr val="FFFFFF"/>
                    </a:solidFill>
                  </a:tcPr>
                </a:tc>
                <a:tc>
                  <a:txBody>
                    <a:bodyPr/>
                    <a:lstStyle/>
                    <a:p>
                      <a:pPr>
                        <a:defRPr sz="1200">
                          <a:solidFill>
                            <a:srgbClr val="1E293B"/>
                          </a:solidFill>
                        </a:defRPr>
                      </a:pPr>
                      <a:r>
                        <a:t>—</a:t>
                      </a:r>
                    </a:p>
                  </a:txBody>
                  <a:tcPr>
                    <a:solidFill>
                      <a:srgbClr val="FFFFFF"/>
                    </a:solidFill>
                  </a:tcPr>
                </a:tc>
              </a:tr>
              <a:tr h="457200">
                <a:tc>
                  <a:txBody>
                    <a:bodyPr/>
                    <a:lstStyle/>
                    <a:p>
                      <a:pPr>
                        <a:defRPr sz="1200">
                          <a:solidFill>
                            <a:srgbClr val="1E293B"/>
                          </a:solidFill>
                        </a:defRPr>
                      </a:pPr>
                      <a:r>
                        <a:t>GAIN NET du stockage</a:t>
                      </a:r>
                    </a:p>
                  </a:txBody>
                  <a:tcPr>
                    <a:solidFill>
                      <a:srgbClr val="F1F5F9"/>
                    </a:solidFill>
                  </a:tcPr>
                </a:tc>
                <a:tc>
                  <a:txBody>
                    <a:bodyPr/>
                    <a:lstStyle/>
                    <a:p>
                      <a:pPr>
                        <a:defRPr sz="1200">
                          <a:solidFill>
                            <a:srgbClr val="1E293B"/>
                          </a:solidFill>
                        </a:defRPr>
                      </a:pPr>
                      <a:r>
                        <a:t>—</a:t>
                      </a:r>
                    </a:p>
                  </a:txBody>
                  <a:tcPr>
                    <a:solidFill>
                      <a:srgbClr val="F1F5F9"/>
                    </a:solidFill>
                  </a:tcPr>
                </a:tc>
                <a:tc>
                  <a:txBody>
                    <a:bodyPr/>
                    <a:lstStyle/>
                    <a:p>
                      <a:pPr>
                        <a:defRPr sz="1200">
                          <a:solidFill>
                            <a:srgbClr val="1E293B"/>
                          </a:solidFill>
                        </a:defRPr>
                      </a:pPr>
                      <a:r>
                        <a:t>—</a:t>
                      </a:r>
                    </a:p>
                  </a:txBody>
                  <a:tcPr>
                    <a:solidFill>
                      <a:srgbClr val="F1F5F9"/>
                    </a:solidFill>
                  </a:tcPr>
                </a:tc>
                <a:tc>
                  <a:txBody>
                    <a:bodyPr/>
                    <a:lstStyle/>
                    <a:p>
                      <a:pPr>
                        <a:defRPr sz="1200">
                          <a:solidFill>
                            <a:srgbClr val="1E293B"/>
                          </a:solidFill>
                        </a:defRPr>
                      </a:pPr>
                      <a:r>
                        <a:t>+165 000 FCFA (+103%)</a:t>
                      </a:r>
                    </a:p>
                  </a:txBody>
                  <a:tcPr>
                    <a:solidFill>
                      <a:srgbClr val="F1F5F9"/>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Un paysan vend 20 sacs à 8 000 FCFA au lieu de 17 000 FCFA. Combien perd-il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Rien</a:t>
            </a:r>
          </a:p>
        </p:txBody>
      </p:sp>
      <p:sp>
        <p:nvSpPr>
          <p:cNvPr id="7" name="Rectangle 6"/>
          <p:cNvSpPr/>
          <p:nvPr/>
        </p:nvSpPr>
        <p:spPr>
          <a:xfrm>
            <a:off x="1371600" y="3383279"/>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B.  90 000 FCFA</a:t>
            </a:r>
          </a:p>
        </p:txBody>
      </p:sp>
      <p:sp>
        <p:nvSpPr>
          <p:cNvPr id="8" name="Rectangle 7"/>
          <p:cNvSpPr/>
          <p:nvPr/>
        </p:nvSpPr>
        <p:spPr>
          <a:xfrm>
            <a:off x="1371600" y="4206240"/>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C.  180 000 FCFA (9 000 × 20 sacs)</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20 000 FCFA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spAutoFit/>
          </a:bodyPr>
          <a:lstStyle/>
          <a:p>
            <a:pPr algn="ctr">
              <a:defRPr sz="3600" b="1">
                <a:solidFill>
                  <a:srgbClr val="0D9488"/>
                </a:solidFill>
              </a:defRPr>
            </a:pPr>
            <a:r>
              <a:t>MOIS 3</a:t>
            </a:r>
          </a:p>
          <a:p>
            <a:pPr algn="ctr">
              <a:spcBef>
                <a:spcPts val="1200"/>
              </a:spcBef>
              <a:defRPr sz="2000">
                <a:solidFill>
                  <a:srgbClr val="94A3B8"/>
                </a:solidFill>
              </a:defRPr>
            </a:pPr>
            <a:r>
              <a:t>Transmettre et pérenniser</a:t>
            </a:r>
            <a:br/>
            <a:r>
              <a:t>Semaines 9 à 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9</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9</a:t>
            </a:r>
          </a:p>
          <a:p>
            <a:pPr>
              <a:spcBef>
                <a:spcPts val="600"/>
              </a:spcBef>
              <a:defRPr sz="3200" b="1">
                <a:solidFill>
                  <a:srgbClr val="1E293B"/>
                </a:solidFill>
              </a:defRPr>
            </a:pPr>
            <a:r>
              <a:t>Gérer les risques :</a:t>
            </a:r>
            <a:br/>
            <a:r>
              <a:t>maladies, sécheresse, vol</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2h30  |  Matériel : cartes illustrées des risques, 3 boîtes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Les risques qui ruinent les paysans</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Activité : le classement des risques</a:t>
            </a:r>
          </a:p>
          <a:p>
            <a:pPr>
              <a:spcBef>
                <a:spcPts val="800"/>
              </a:spcBef>
              <a:defRPr sz="1600">
                <a:solidFill>
                  <a:srgbClr val="1E293B"/>
                </a:solidFill>
              </a:defRPr>
            </a:pPr>
            <a:r>
              <a:t>  Cartes illustrées : sécheresse, maladie, vol, chute des prix...</a:t>
            </a:r>
          </a:p>
          <a:p>
            <a:pPr>
              <a:spcBef>
                <a:spcPts val="800"/>
              </a:spcBef>
              <a:defRPr sz="1600">
                <a:solidFill>
                  <a:srgbClr val="1E293B"/>
                </a:solidFill>
              </a:defRPr>
            </a:pPr>
            <a:r>
              <a:t>  « Quel est le plus fréquent ? Le plus grave ? »</a:t>
            </a:r>
          </a:p>
          <a:p>
            <a:pPr>
              <a:spcBef>
                <a:spcPts val="800"/>
              </a:spcBef>
              <a:defRPr sz="1600">
                <a:solidFill>
                  <a:srgbClr val="1E293B"/>
                </a:solidFill>
              </a:defRPr>
            </a:pPr>
          </a:p>
          <a:p>
            <a:pPr>
              <a:spcBef>
                <a:spcPts val="800"/>
              </a:spcBef>
              <a:defRPr sz="1600">
                <a:solidFill>
                  <a:srgbClr val="1E293B"/>
                </a:solidFill>
              </a:defRPr>
            </a:pPr>
            <a:r>
              <a:t>3 stratégies de gestion :</a:t>
            </a:r>
          </a:p>
          <a:p>
            <a:pPr>
              <a:spcBef>
                <a:spcPts val="800"/>
              </a:spcBef>
              <a:defRPr sz="1600">
                <a:solidFill>
                  <a:srgbClr val="1E293B"/>
                </a:solidFill>
              </a:defRPr>
            </a:pPr>
            <a:r>
              <a:t>  • PRÉVENIR — diversifier les cultures, variétés résistantes</a:t>
            </a:r>
          </a:p>
          <a:p>
            <a:pPr>
              <a:spcBef>
                <a:spcPts val="800"/>
              </a:spcBef>
              <a:defRPr sz="1600">
                <a:solidFill>
                  <a:srgbClr val="1E293B"/>
                </a:solidFill>
              </a:defRPr>
            </a:pPr>
            <a:r>
              <a:t>  • ATTÉNUER — fonds d'urgence (épargne séparée)</a:t>
            </a:r>
          </a:p>
          <a:p>
            <a:pPr>
              <a:spcBef>
                <a:spcPts val="800"/>
              </a:spcBef>
              <a:defRPr sz="1600">
                <a:solidFill>
                  <a:srgbClr val="1E293B"/>
                </a:solidFill>
              </a:defRPr>
            </a:pPr>
            <a:r>
              <a:t>  • TRANSFÉRER — assurance, mutuelle santé, fonds social AVEC</a:t>
            </a:r>
          </a:p>
          <a:p>
            <a:pPr>
              <a:spcBef>
                <a:spcPts val="800"/>
              </a:spcBef>
              <a:defRPr sz="1600">
                <a:solidFill>
                  <a:srgbClr val="1E293B"/>
                </a:solidFill>
              </a:defRPr>
            </a:pPr>
          </a:p>
          <a:p>
            <a:pPr>
              <a:spcBef>
                <a:spcPts val="800"/>
              </a:spcBef>
              <a:defRPr sz="1600">
                <a:solidFill>
                  <a:srgbClr val="1E293B"/>
                </a:solidFill>
              </a:defRPr>
            </a:pPr>
            <a:r>
              <a:t>Priorité n°1 : le fonds d'urgence</a:t>
            </a:r>
          </a:p>
          <a:p>
            <a:pPr>
              <a:spcBef>
                <a:spcPts val="800"/>
              </a:spcBef>
              <a:defRPr sz="1600">
                <a:solidFill>
                  <a:srgbClr val="1E293B"/>
                </a:solidFill>
              </a:defRPr>
            </a:pPr>
            <a:r>
              <a:t>  = 2-3 mois de dépenses alimentaires, SÉPARÉ de l'épargne intrants</a:t>
            </a:r>
          </a:p>
          <a:p>
            <a:pPr>
              <a:spcBef>
                <a:spcPts val="800"/>
              </a:spcBef>
              <a:defRPr sz="1600">
                <a:solidFill>
                  <a:srgbClr val="1E293B"/>
                </a:solidFill>
              </a:defRPr>
            </a:pPr>
          </a:p>
          <a:p>
            <a:pPr>
              <a:spcBef>
                <a:spcPts val="800"/>
              </a:spcBef>
              <a:defRPr sz="1600">
                <a:solidFill>
                  <a:srgbClr val="1E293B"/>
                </a:solidFill>
              </a:defRPr>
            </a:pPr>
            <a:r>
              <a:t>Méthode des 3 enveloppes/boîtes : INTRANTS | URGENCE | FAMILLE</a:t>
            </a:r>
          </a:p>
        </p:txBody>
      </p:sp>
      <p:sp>
        <p:nvSpPr>
          <p:cNvPr id="5" name="Rectangle 4"/>
          <p:cNvSpPr/>
          <p:nvPr/>
        </p:nvSpPr>
        <p:spPr>
          <a:xfrm>
            <a:off x="7498079" y="1371600"/>
            <a:ext cx="4114800" cy="4114800"/>
          </a:xfrm>
          <a:prstGeom prst="rect">
            <a:avLst/>
          </a:prstGeom>
          <a:solidFill>
            <a:srgbClr val="F1F5F9"/>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97706"/>
                </a:solidFill>
              </a:defRPr>
            </a:pPr>
            <a:r>
              <a:t>L'histoire de Moussa</a:t>
            </a:r>
          </a:p>
          <a:p>
            <a:pPr>
              <a:spcBef>
                <a:spcPts val="1000"/>
              </a:spcBef>
              <a:defRPr sz="1300">
                <a:solidFill>
                  <a:srgbClr val="1E293B"/>
                </a:solidFill>
              </a:defRPr>
            </a:pPr>
            <a:r>
              <a:t>Moussa avait 200 000 FCFA pour un bœuf. Son fils tombe malade. Toute l'épargne part en soins. Plus de bœuf, campagne ratée. Sans fonds d'urgence séparé, UN événement efface des ANNÉES d'efforts.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Pourquoi le fonds d'urgence doit-il être SÉPARÉ de l'épargne pour les intrants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Pour compliquer les choses</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Pour éviter qu'un imprévu détruise la campagne en entamant l'épargne productive</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Pour gagner plus d'intérêts</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Ce n'est pas nécessaire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10</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10</a:t>
            </a:r>
          </a:p>
          <a:p>
            <a:pPr>
              <a:spcBef>
                <a:spcPts val="600"/>
              </a:spcBef>
              <a:defRPr sz="3200" b="1">
                <a:solidFill>
                  <a:srgbClr val="1E293B"/>
                </a:solidFill>
              </a:defRPr>
            </a:pPr>
            <a:r>
              <a:t>Structurer et animer une session</a:t>
            </a:r>
            <a:br/>
            <a:r>
              <a:t>de formation au village</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2h  |  Matériel : fiches APCA vierges, chronomètre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Le plan de session APCA : votre canevas</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Chaque session = 4 phases, 2h maximum :</a:t>
            </a:r>
          </a:p>
          <a:p>
            <a:pPr>
              <a:spcBef>
                <a:spcPts val="800"/>
              </a:spcBef>
              <a:defRPr sz="1600">
                <a:solidFill>
                  <a:srgbClr val="1E293B"/>
                </a:solidFill>
              </a:defRPr>
            </a:pPr>
          </a:p>
          <a:p>
            <a:pPr>
              <a:spcBef>
                <a:spcPts val="800"/>
              </a:spcBef>
              <a:defRPr sz="1600">
                <a:solidFill>
                  <a:srgbClr val="1E293B"/>
                </a:solidFill>
              </a:defRPr>
            </a:pPr>
            <a:r>
              <a:t>  ACCROCHE (15 min)</a:t>
            </a:r>
          </a:p>
          <a:p>
            <a:pPr>
              <a:spcBef>
                <a:spcPts val="800"/>
              </a:spcBef>
              <a:defRPr sz="1600">
                <a:solidFill>
                  <a:srgbClr val="1E293B"/>
                </a:solidFill>
              </a:defRPr>
            </a:pPr>
            <a:r>
              <a:t>  → Problème vécu, histoire, question provocante</a:t>
            </a:r>
          </a:p>
          <a:p>
            <a:pPr>
              <a:spcBef>
                <a:spcPts val="800"/>
              </a:spcBef>
              <a:defRPr sz="1600">
                <a:solidFill>
                  <a:srgbClr val="1E293B"/>
                </a:solidFill>
              </a:defRPr>
            </a:pPr>
          </a:p>
          <a:p>
            <a:pPr>
              <a:spcBef>
                <a:spcPts val="800"/>
              </a:spcBef>
              <a:defRPr sz="1600">
                <a:solidFill>
                  <a:srgbClr val="1E293B"/>
                </a:solidFill>
              </a:defRPr>
            </a:pPr>
            <a:r>
              <a:t>  PRATIQUE (60 min)</a:t>
            </a:r>
          </a:p>
          <a:p>
            <a:pPr>
              <a:spcBef>
                <a:spcPts val="800"/>
              </a:spcBef>
              <a:defRPr sz="1600">
                <a:solidFill>
                  <a:srgbClr val="1E293B"/>
                </a:solidFill>
              </a:defRPr>
            </a:pPr>
            <a:r>
              <a:t>  → Activité participative : cailloux, jeu de rôle, calcul collectif</a:t>
            </a:r>
          </a:p>
          <a:p>
            <a:pPr>
              <a:spcBef>
                <a:spcPts val="800"/>
              </a:spcBef>
              <a:defRPr sz="1600">
                <a:solidFill>
                  <a:srgbClr val="1E293B"/>
                </a:solidFill>
              </a:defRPr>
            </a:pPr>
          </a:p>
          <a:p>
            <a:pPr>
              <a:spcBef>
                <a:spcPts val="800"/>
              </a:spcBef>
              <a:defRPr sz="1600">
                <a:solidFill>
                  <a:srgbClr val="1E293B"/>
                </a:solidFill>
              </a:defRPr>
            </a:pPr>
            <a:r>
              <a:t>  CONCEPTUALISATION (20 min)</a:t>
            </a:r>
          </a:p>
          <a:p>
            <a:pPr>
              <a:spcBef>
                <a:spcPts val="800"/>
              </a:spcBef>
              <a:defRPr sz="1600">
                <a:solidFill>
                  <a:srgbClr val="1E293B"/>
                </a:solidFill>
              </a:defRPr>
            </a:pPr>
            <a:r>
              <a:t>  → Le GROUPE formule la leçon (pas le formateur !)</a:t>
            </a:r>
          </a:p>
          <a:p>
            <a:pPr>
              <a:spcBef>
                <a:spcPts val="800"/>
              </a:spcBef>
              <a:defRPr sz="1600">
                <a:solidFill>
                  <a:srgbClr val="1E293B"/>
                </a:solidFill>
              </a:defRPr>
            </a:pPr>
          </a:p>
          <a:p>
            <a:pPr>
              <a:spcBef>
                <a:spcPts val="800"/>
              </a:spcBef>
              <a:defRPr sz="1600">
                <a:solidFill>
                  <a:srgbClr val="1E293B"/>
                </a:solidFill>
              </a:defRPr>
            </a:pPr>
            <a:r>
              <a:t>  ACTION (15 min)</a:t>
            </a:r>
          </a:p>
          <a:p>
            <a:pPr>
              <a:spcBef>
                <a:spcPts val="800"/>
              </a:spcBef>
              <a:defRPr sz="1600">
                <a:solidFill>
                  <a:srgbClr val="1E293B"/>
                </a:solidFill>
              </a:defRPr>
            </a:pPr>
            <a:r>
              <a:t>  → Engagement concret avant la prochaine session</a:t>
            </a:r>
          </a:p>
        </p:txBody>
      </p:sp>
      <p:sp>
        <p:nvSpPr>
          <p:cNvPr id="5" name="Rectangle 4"/>
          <p:cNvSpPr/>
          <p:nvPr/>
        </p:nvSpPr>
        <p:spPr>
          <a:xfrm>
            <a:off x="7498079" y="1371600"/>
            <a:ext cx="4114800" cy="4114800"/>
          </a:xfrm>
          <a:prstGeom prst="rect">
            <a:avLst/>
          </a:prstGeom>
          <a:solidFill>
            <a:srgbClr val="F1F5F9"/>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D9488"/>
                </a:solidFill>
              </a:defRPr>
            </a:pPr>
            <a:r>
              <a:t>La fiche de session</a:t>
            </a:r>
          </a:p>
          <a:p>
            <a:pPr>
              <a:spcBef>
                <a:spcPts val="1000"/>
              </a:spcBef>
              <a:defRPr sz="1300">
                <a:solidFill>
                  <a:srgbClr val="1E293B"/>
                </a:solidFill>
              </a:defRPr>
            </a:pPr>
            <a:r>
              <a:t>Pour CHAQUE session, préparez une fiche A4 recto-verso : objectif, matériel, déroulement APCA minute par minute, questions de facilitation. C'est l'outil de démultiplication que vous donnez aux formateurs que VOUS formez.</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Exemple : session sur le budget familial</a:t>
            </a:r>
          </a:p>
        </p:txBody>
      </p:sp>
      <p:graphicFrame>
        <p:nvGraphicFramePr>
          <p:cNvPr id="4" name="Table 3"/>
          <p:cNvGraphicFramePr>
            <a:graphicFrameLocks noGrp="1"/>
          </p:cNvGraphicFramePr>
          <p:nvPr/>
        </p:nvGraphicFramePr>
        <p:xfrm>
          <a:off x="548640" y="1371600"/>
          <a:ext cx="10515600.0" cy="2286000"/>
        </p:xfrm>
        <a:graphic>
          <a:graphicData uri="http://schemas.openxmlformats.org/drawingml/2006/table">
            <a:tbl>
              <a:tblPr firstRow="1" bandRow="1">
                <a:tableStyleId>{5C22544A-7EE6-4342-B048-85BDC9FD1C3A}</a:tableStyleId>
              </a:tblPr>
              <a:tblGrid>
                <a:gridCol w="2628900"/>
                <a:gridCol w="2628900"/>
                <a:gridCol w="2628900"/>
                <a:gridCol w="2628900"/>
              </a:tblGrid>
              <a:tr h="457200">
                <a:tc>
                  <a:txBody>
                    <a:bodyPr/>
                    <a:lstStyle/>
                    <a:p>
                      <a:pPr>
                        <a:defRPr sz="1300" b="1">
                          <a:solidFill>
                            <a:srgbClr val="FFFFFF"/>
                          </a:solidFill>
                        </a:defRPr>
                      </a:pPr>
                      <a:r>
                        <a:t>Phase</a:t>
                      </a:r>
                    </a:p>
                  </a:txBody>
                  <a:tcPr>
                    <a:solidFill>
                      <a:srgbClr val="0D9488"/>
                    </a:solidFill>
                  </a:tcPr>
                </a:tc>
                <a:tc>
                  <a:txBody>
                    <a:bodyPr/>
                    <a:lstStyle/>
                    <a:p>
                      <a:pPr>
                        <a:defRPr sz="1300" b="1">
                          <a:solidFill>
                            <a:srgbClr val="FFFFFF"/>
                          </a:solidFill>
                        </a:defRPr>
                      </a:pPr>
                      <a:r>
                        <a:t>Durée</a:t>
                      </a:r>
                    </a:p>
                  </a:txBody>
                  <a:tcPr>
                    <a:solidFill>
                      <a:srgbClr val="0D9488"/>
                    </a:solidFill>
                  </a:tcPr>
                </a:tc>
                <a:tc>
                  <a:txBody>
                    <a:bodyPr/>
                    <a:lstStyle/>
                    <a:p>
                      <a:pPr>
                        <a:defRPr sz="1300" b="1">
                          <a:solidFill>
                            <a:srgbClr val="FFFFFF"/>
                          </a:solidFill>
                        </a:defRPr>
                      </a:pPr>
                      <a:r>
                        <a:t>Le formateur fait</a:t>
                      </a:r>
                    </a:p>
                  </a:txBody>
                  <a:tcPr>
                    <a:solidFill>
                      <a:srgbClr val="0D9488"/>
                    </a:solidFill>
                  </a:tcPr>
                </a:tc>
                <a:tc>
                  <a:txBody>
                    <a:bodyPr/>
                    <a:lstStyle/>
                    <a:p>
                      <a:pPr>
                        <a:defRPr sz="1300" b="1">
                          <a:solidFill>
                            <a:srgbClr val="FFFFFF"/>
                          </a:solidFill>
                        </a:defRPr>
                      </a:pPr>
                      <a:r>
                        <a:t>Les participants font</a:t>
                      </a:r>
                    </a:p>
                  </a:txBody>
                  <a:tcPr>
                    <a:solidFill>
                      <a:srgbClr val="0D9488"/>
                    </a:solidFill>
                  </a:tcPr>
                </a:tc>
              </a:tr>
              <a:tr h="457200">
                <a:tc>
                  <a:txBody>
                    <a:bodyPr/>
                    <a:lstStyle/>
                    <a:p>
                      <a:pPr>
                        <a:defRPr sz="1200">
                          <a:solidFill>
                            <a:srgbClr val="1E293B"/>
                          </a:solidFill>
                        </a:defRPr>
                      </a:pPr>
                      <a:r>
                        <a:t>Accroche</a:t>
                      </a:r>
                    </a:p>
                  </a:txBody>
                  <a:tcPr>
                    <a:solidFill>
                      <a:srgbClr val="FFFFFF"/>
                    </a:solidFill>
                  </a:tcPr>
                </a:tc>
                <a:tc>
                  <a:txBody>
                    <a:bodyPr/>
                    <a:lstStyle/>
                    <a:p>
                      <a:pPr>
                        <a:defRPr sz="1200">
                          <a:solidFill>
                            <a:srgbClr val="1E293B"/>
                          </a:solidFill>
                        </a:defRPr>
                      </a:pPr>
                      <a:r>
                        <a:t>15 min</a:t>
                      </a:r>
                    </a:p>
                  </a:txBody>
                  <a:tcPr>
                    <a:solidFill>
                      <a:srgbClr val="FFFFFF"/>
                    </a:solidFill>
                  </a:tcPr>
                </a:tc>
                <a:tc>
                  <a:txBody>
                    <a:bodyPr/>
                    <a:lstStyle/>
                    <a:p>
                      <a:pPr>
                        <a:defRPr sz="1200">
                          <a:solidFill>
                            <a:srgbClr val="1E293B"/>
                          </a:solidFill>
                        </a:defRPr>
                      </a:pPr>
                      <a:r>
                        <a:t>Raconte l'histoire de Mamadou</a:t>
                      </a:r>
                    </a:p>
                  </a:txBody>
                  <a:tcPr>
                    <a:solidFill>
                      <a:srgbClr val="FFFFFF"/>
                    </a:solidFill>
                  </a:tcPr>
                </a:tc>
                <a:tc>
                  <a:txBody>
                    <a:bodyPr/>
                    <a:lstStyle/>
                    <a:p>
                      <a:pPr>
                        <a:defRPr sz="1200">
                          <a:solidFill>
                            <a:srgbClr val="1E293B"/>
                          </a:solidFill>
                        </a:defRPr>
                      </a:pPr>
                      <a:r>
                        <a:t>Réagissent, s'identifient</a:t>
                      </a:r>
                    </a:p>
                  </a:txBody>
                  <a:tcPr>
                    <a:solidFill>
                      <a:srgbClr val="FFFFFF"/>
                    </a:solidFill>
                  </a:tcPr>
                </a:tc>
              </a:tr>
              <a:tr h="457200">
                <a:tc>
                  <a:txBody>
                    <a:bodyPr/>
                    <a:lstStyle/>
                    <a:p>
                      <a:pPr>
                        <a:defRPr sz="1200">
                          <a:solidFill>
                            <a:srgbClr val="1E293B"/>
                          </a:solidFill>
                        </a:defRPr>
                      </a:pPr>
                      <a:r>
                        <a:t>Pratique</a:t>
                      </a:r>
                    </a:p>
                  </a:txBody>
                  <a:tcPr>
                    <a:solidFill>
                      <a:srgbClr val="F1F5F9"/>
                    </a:solidFill>
                  </a:tcPr>
                </a:tc>
                <a:tc>
                  <a:txBody>
                    <a:bodyPr/>
                    <a:lstStyle/>
                    <a:p>
                      <a:pPr>
                        <a:defRPr sz="1200">
                          <a:solidFill>
                            <a:srgbClr val="1E293B"/>
                          </a:solidFill>
                        </a:defRPr>
                      </a:pPr>
                      <a:r>
                        <a:t>60 min</a:t>
                      </a:r>
                    </a:p>
                  </a:txBody>
                  <a:tcPr>
                    <a:solidFill>
                      <a:srgbClr val="F1F5F9"/>
                    </a:solidFill>
                  </a:tcPr>
                </a:tc>
                <a:tc>
                  <a:txBody>
                    <a:bodyPr/>
                    <a:lstStyle/>
                    <a:p>
                      <a:pPr>
                        <a:defRPr sz="1200">
                          <a:solidFill>
                            <a:srgbClr val="1E293B"/>
                          </a:solidFill>
                        </a:defRPr>
                      </a:pPr>
                      <a:r>
                        <a:t>Distribue les graines, guide</a:t>
                      </a:r>
                    </a:p>
                  </a:txBody>
                  <a:tcPr>
                    <a:solidFill>
                      <a:srgbClr val="F1F5F9"/>
                    </a:solidFill>
                  </a:tcPr>
                </a:tc>
                <a:tc>
                  <a:txBody>
                    <a:bodyPr/>
                    <a:lstStyle/>
                    <a:p>
                      <a:pPr>
                        <a:defRPr sz="1200">
                          <a:solidFill>
                            <a:srgbClr val="1E293B"/>
                          </a:solidFill>
                        </a:defRPr>
                      </a:pPr>
                      <a:r>
                        <a:t>Construisent LEUR budget</a:t>
                      </a:r>
                    </a:p>
                  </a:txBody>
                  <a:tcPr>
                    <a:solidFill>
                      <a:srgbClr val="F1F5F9"/>
                    </a:solidFill>
                  </a:tcPr>
                </a:tc>
              </a:tr>
              <a:tr h="457200">
                <a:tc>
                  <a:txBody>
                    <a:bodyPr/>
                    <a:lstStyle/>
                    <a:p>
                      <a:pPr>
                        <a:defRPr sz="1200">
                          <a:solidFill>
                            <a:srgbClr val="1E293B"/>
                          </a:solidFill>
                        </a:defRPr>
                      </a:pPr>
                      <a:r>
                        <a:t>Conceptualisation</a:t>
                      </a:r>
                    </a:p>
                  </a:txBody>
                  <a:tcPr>
                    <a:solidFill>
                      <a:srgbClr val="FFFFFF"/>
                    </a:solidFill>
                  </a:tcPr>
                </a:tc>
                <a:tc>
                  <a:txBody>
                    <a:bodyPr/>
                    <a:lstStyle/>
                    <a:p>
                      <a:pPr>
                        <a:defRPr sz="1200">
                          <a:solidFill>
                            <a:srgbClr val="1E293B"/>
                          </a:solidFill>
                        </a:defRPr>
                      </a:pPr>
                      <a:r>
                        <a:t>20 min</a:t>
                      </a:r>
                    </a:p>
                  </a:txBody>
                  <a:tcPr>
                    <a:solidFill>
                      <a:srgbClr val="FFFFFF"/>
                    </a:solidFill>
                  </a:tcPr>
                </a:tc>
                <a:tc>
                  <a:txBody>
                    <a:bodyPr/>
                    <a:lstStyle/>
                    <a:p>
                      <a:pPr>
                        <a:defRPr sz="1200">
                          <a:solidFill>
                            <a:srgbClr val="1E293B"/>
                          </a:solidFill>
                        </a:defRPr>
                      </a:pPr>
                      <a:r>
                        <a:t>« Qu'avez-vous découvert ? »</a:t>
                      </a:r>
                    </a:p>
                  </a:txBody>
                  <a:tcPr>
                    <a:solidFill>
                      <a:srgbClr val="FFFFFF"/>
                    </a:solidFill>
                  </a:tcPr>
                </a:tc>
                <a:tc>
                  <a:txBody>
                    <a:bodyPr/>
                    <a:lstStyle/>
                    <a:p>
                      <a:pPr>
                        <a:defRPr sz="1200">
                          <a:solidFill>
                            <a:srgbClr val="1E293B"/>
                          </a:solidFill>
                        </a:defRPr>
                      </a:pPr>
                      <a:r>
                        <a:t>Formulent la leçon eux-mêmes</a:t>
                      </a:r>
                    </a:p>
                  </a:txBody>
                  <a:tcPr>
                    <a:solidFill>
                      <a:srgbClr val="FFFFFF"/>
                    </a:solidFill>
                  </a:tcPr>
                </a:tc>
              </a:tr>
              <a:tr h="457200">
                <a:tc>
                  <a:txBody>
                    <a:bodyPr/>
                    <a:lstStyle/>
                    <a:p>
                      <a:pPr>
                        <a:defRPr sz="1200">
                          <a:solidFill>
                            <a:srgbClr val="1E293B"/>
                          </a:solidFill>
                        </a:defRPr>
                      </a:pPr>
                      <a:r>
                        <a:t>Action</a:t>
                      </a:r>
                    </a:p>
                  </a:txBody>
                  <a:tcPr>
                    <a:solidFill>
                      <a:srgbClr val="F1F5F9"/>
                    </a:solidFill>
                  </a:tcPr>
                </a:tc>
                <a:tc>
                  <a:txBody>
                    <a:bodyPr/>
                    <a:lstStyle/>
                    <a:p>
                      <a:pPr>
                        <a:defRPr sz="1200">
                          <a:solidFill>
                            <a:srgbClr val="1E293B"/>
                          </a:solidFill>
                        </a:defRPr>
                      </a:pPr>
                      <a:r>
                        <a:t>15 min</a:t>
                      </a:r>
                    </a:p>
                  </a:txBody>
                  <a:tcPr>
                    <a:solidFill>
                      <a:srgbClr val="F1F5F9"/>
                    </a:solidFill>
                  </a:tcPr>
                </a:tc>
                <a:tc>
                  <a:txBody>
                    <a:bodyPr/>
                    <a:lstStyle/>
                    <a:p>
                      <a:pPr>
                        <a:defRPr sz="1200">
                          <a:solidFill>
                            <a:srgbClr val="1E293B"/>
                          </a:solidFill>
                        </a:defRPr>
                      </a:pPr>
                      <a:r>
                        <a:t>« Que comptez-vous faire ? »</a:t>
                      </a:r>
                    </a:p>
                  </a:txBody>
                  <a:tcPr>
                    <a:solidFill>
                      <a:srgbClr val="F1F5F9"/>
                    </a:solidFill>
                  </a:tcPr>
                </a:tc>
                <a:tc>
                  <a:txBody>
                    <a:bodyPr/>
                    <a:lstStyle/>
                    <a:p>
                      <a:pPr>
                        <a:defRPr sz="1200">
                          <a:solidFill>
                            <a:srgbClr val="1E293B"/>
                          </a:solidFill>
                        </a:defRPr>
                      </a:pPr>
                      <a:r>
                        <a:t>S'engagent concrètement</a:t>
                      </a:r>
                    </a:p>
                  </a:txBody>
                  <a:tcPr>
                    <a:solidFill>
                      <a:srgbClr val="F1F5F9"/>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Dans le cycle APCA, à quel moment le formateur parle-t-il le plus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Pendant l'Accroche</a:t>
            </a:r>
          </a:p>
        </p:txBody>
      </p:sp>
      <p:sp>
        <p:nvSpPr>
          <p:cNvPr id="7" name="Rectangle 6"/>
          <p:cNvSpPr/>
          <p:nvPr/>
        </p:nvSpPr>
        <p:spPr>
          <a:xfrm>
            <a:off x="1371600" y="3383279"/>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B.  Pendant la Pratique</a:t>
            </a:r>
          </a:p>
        </p:txBody>
      </p:sp>
      <p:sp>
        <p:nvSpPr>
          <p:cNvPr id="8" name="Rectangle 7"/>
          <p:cNvSpPr/>
          <p:nvPr/>
        </p:nvSpPr>
        <p:spPr>
          <a:xfrm>
            <a:off x="1371600" y="4206240"/>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C.  Nulle part — 20% max, le groupe fait 80%</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Pendant la Conceptualisation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11</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11</a:t>
            </a:r>
          </a:p>
          <a:p>
            <a:pPr>
              <a:spcBef>
                <a:spcPts val="600"/>
              </a:spcBef>
              <a:defRPr sz="3200" b="1">
                <a:solidFill>
                  <a:srgbClr val="1E293B"/>
                </a:solidFill>
              </a:defRPr>
            </a:pPr>
            <a:r>
              <a:t>Pratique supervisée :</a:t>
            </a:r>
            <a:br/>
            <a:r>
              <a:t>animez votre première session</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3h  |  Matériel : tout le matériel du thème choisi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C'est à vous de jouer !</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Consignes :</a:t>
            </a:r>
          </a:p>
          <a:p>
            <a:pPr>
              <a:spcBef>
                <a:spcPts val="800"/>
              </a:spcBef>
              <a:defRPr sz="1600">
                <a:solidFill>
                  <a:srgbClr val="1E293B"/>
                </a:solidFill>
              </a:defRPr>
            </a:pPr>
            <a:r>
              <a:t>  1. Choisissez UN thème (sessions 1 à 9)</a:t>
            </a:r>
          </a:p>
          <a:p>
            <a:pPr>
              <a:spcBef>
                <a:spcPts val="800"/>
              </a:spcBef>
              <a:defRPr sz="1600">
                <a:solidFill>
                  <a:srgbClr val="1E293B"/>
                </a:solidFill>
              </a:defRPr>
            </a:pPr>
            <a:r>
              <a:t>  2. Préparez votre fiche APCA</a:t>
            </a:r>
          </a:p>
          <a:p>
            <a:pPr>
              <a:spcBef>
                <a:spcPts val="800"/>
              </a:spcBef>
              <a:defRPr sz="1600">
                <a:solidFill>
                  <a:srgbClr val="1E293B"/>
                </a:solidFill>
              </a:defRPr>
            </a:pPr>
            <a:r>
              <a:t>  3. Animez 20 minutes devant vos co-stagiaires</a:t>
            </a:r>
          </a:p>
          <a:p>
            <a:pPr>
              <a:spcBef>
                <a:spcPts val="800"/>
              </a:spcBef>
              <a:defRPr sz="1600">
                <a:solidFill>
                  <a:srgbClr val="1E293B"/>
                </a:solidFill>
              </a:defRPr>
            </a:pPr>
            <a:r>
              <a:t>  4. Feedback constructif du groupe + superviseur</a:t>
            </a:r>
          </a:p>
          <a:p>
            <a:pPr>
              <a:spcBef>
                <a:spcPts val="800"/>
              </a:spcBef>
              <a:defRPr sz="1600">
                <a:solidFill>
                  <a:srgbClr val="1E293B"/>
                </a:solidFill>
              </a:defRPr>
            </a:pPr>
          </a:p>
          <a:p>
            <a:pPr>
              <a:spcBef>
                <a:spcPts val="800"/>
              </a:spcBef>
              <a:defRPr sz="1600">
                <a:solidFill>
                  <a:srgbClr val="1E293B"/>
                </a:solidFill>
              </a:defRPr>
            </a:pPr>
            <a:r>
              <a:t>Grille d'observation (5 critères, note 1 à 3) :</a:t>
            </a:r>
          </a:p>
          <a:p>
            <a:pPr>
              <a:spcBef>
                <a:spcPts val="800"/>
              </a:spcBef>
              <a:defRPr sz="1600">
                <a:solidFill>
                  <a:srgbClr val="1E293B"/>
                </a:solidFill>
              </a:defRPr>
            </a:pPr>
            <a:r>
              <a:t>  • Pose des questions avant d'expliquer</a:t>
            </a:r>
          </a:p>
          <a:p>
            <a:pPr>
              <a:spcBef>
                <a:spcPts val="800"/>
              </a:spcBef>
              <a:defRPr sz="1600">
                <a:solidFill>
                  <a:srgbClr val="1E293B"/>
                </a:solidFill>
              </a:defRPr>
            </a:pPr>
            <a:r>
              <a:t>  • Utilise du matériel concret</a:t>
            </a:r>
          </a:p>
          <a:p>
            <a:pPr>
              <a:spcBef>
                <a:spcPts val="800"/>
              </a:spcBef>
              <a:defRPr sz="1600">
                <a:solidFill>
                  <a:srgbClr val="1E293B"/>
                </a:solidFill>
              </a:defRPr>
            </a:pPr>
            <a:r>
              <a:t>  • Langage simple, pas de jargon</a:t>
            </a:r>
          </a:p>
          <a:p>
            <a:pPr>
              <a:spcBef>
                <a:spcPts val="800"/>
              </a:spcBef>
              <a:defRPr sz="1600">
                <a:solidFill>
                  <a:srgbClr val="1E293B"/>
                </a:solidFill>
              </a:defRPr>
            </a:pPr>
            <a:r>
              <a:t>  • Respect du cycle APCA et du temps</a:t>
            </a:r>
          </a:p>
          <a:p>
            <a:pPr>
              <a:spcBef>
                <a:spcPts val="800"/>
              </a:spcBef>
              <a:defRPr sz="1600">
                <a:solidFill>
                  <a:srgbClr val="1E293B"/>
                </a:solidFill>
              </a:defRPr>
            </a:pPr>
            <a:r>
              <a:t>  • Bienveillance, valorise les savoirs du groupe</a:t>
            </a:r>
          </a:p>
          <a:p>
            <a:pPr>
              <a:spcBef>
                <a:spcPts val="800"/>
              </a:spcBef>
              <a:defRPr sz="1600">
                <a:solidFill>
                  <a:srgbClr val="1E293B"/>
                </a:solidFill>
              </a:defRPr>
            </a:pPr>
          </a:p>
          <a:p>
            <a:pPr>
              <a:spcBef>
                <a:spcPts val="800"/>
              </a:spcBef>
              <a:defRPr sz="1600">
                <a:solidFill>
                  <a:srgbClr val="1E293B"/>
                </a:solidFill>
              </a:defRPr>
            </a:pPr>
            <a:r>
              <a:t>Feedback : méthode sandwich (positif → amélioration → positif)</a:t>
            </a:r>
          </a:p>
        </p:txBody>
      </p:sp>
      <p:sp>
        <p:nvSpPr>
          <p:cNvPr id="5" name="Rectangle 4"/>
          <p:cNvSpPr/>
          <p:nvPr/>
        </p:nvSpPr>
        <p:spPr>
          <a:xfrm>
            <a:off x="7498079" y="1371600"/>
            <a:ext cx="4114800" cy="4114800"/>
          </a:xfrm>
          <a:prstGeom prst="rect">
            <a:avLst/>
          </a:prstGeom>
          <a:solidFill>
            <a:srgbClr val="F1F5F9"/>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97706"/>
                </a:solidFill>
              </a:defRPr>
            </a:pPr>
            <a:r>
              <a:t>L'erreur la plus fréquente</a:t>
            </a:r>
          </a:p>
          <a:p>
            <a:pPr>
              <a:spcBef>
                <a:spcPts val="1000"/>
              </a:spcBef>
              <a:defRPr sz="1300">
                <a:solidFill>
                  <a:srgbClr val="1E293B"/>
                </a:solidFill>
              </a:defRPr>
            </a:pPr>
            <a:r>
              <a:t>90% des stagiaires font la même erreur : ils parlent trop. C'est normal — on a tous été formés par le modèle scolaire. L'andragogie c'est le contraire. Il faut PRATIQUER pour désapprendre.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457200"/>
            <a:ext cx="914400"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a:t>
            </a:r>
          </a:p>
        </p:txBody>
      </p:sp>
      <p:sp>
        <p:nvSpPr>
          <p:cNvPr id="5" name="TextBox 4"/>
          <p:cNvSpPr txBox="1"/>
          <p:nvPr/>
        </p:nvSpPr>
        <p:spPr>
          <a:xfrm>
            <a:off x="548640" y="1188720"/>
            <a:ext cx="10972800" cy="1097280"/>
          </a:xfrm>
          <a:prstGeom prst="rect">
            <a:avLst/>
          </a:prstGeom>
          <a:noFill/>
        </p:spPr>
        <p:txBody>
          <a:bodyPr wrap="square">
            <a:spAutoFit/>
          </a:bodyPr>
          <a:lstStyle/>
          <a:p>
            <a:pPr algn="l">
              <a:defRPr sz="2200" b="1">
                <a:solidFill>
                  <a:srgbClr val="1E293B"/>
                </a:solidFill>
              </a:defRPr>
            </a:pPr>
            <a:r>
              <a:t>Lors du feedback à un stagiaire, par quoi commencez-vous ?</a:t>
            </a:r>
          </a:p>
        </p:txBody>
      </p:sp>
      <p:sp>
        <p:nvSpPr>
          <p:cNvPr id="6" name="Rectangle 5"/>
          <p:cNvSpPr/>
          <p:nvPr/>
        </p:nvSpPr>
        <p:spPr>
          <a:xfrm>
            <a:off x="1371600" y="256032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A.  Par les erreurs à corriger</a:t>
            </a:r>
          </a:p>
        </p:txBody>
      </p:sp>
      <p:sp>
        <p:nvSpPr>
          <p:cNvPr id="7" name="Rectangle 6"/>
          <p:cNvSpPr/>
          <p:nvPr/>
        </p:nvSpPr>
        <p:spPr>
          <a:xfrm>
            <a:off x="1371600" y="3383279"/>
            <a:ext cx="9144000" cy="6400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1">
                <a:solidFill>
                  <a:srgbClr val="FFFFFF"/>
                </a:solidFill>
              </a:defRPr>
            </a:pPr>
            <a:r>
              <a:t>  B.  Par ce qu'il a bien fait (méthode sandwich)</a:t>
            </a:r>
          </a:p>
        </p:txBody>
      </p:sp>
      <p:sp>
        <p:nvSpPr>
          <p:cNvPr id="8" name="Rectangle 7"/>
          <p:cNvSpPr/>
          <p:nvPr/>
        </p:nvSpPr>
        <p:spPr>
          <a:xfrm>
            <a:off x="1371600" y="420624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C.  Par une note chiffrée</a:t>
            </a:r>
          </a:p>
        </p:txBody>
      </p:sp>
      <p:sp>
        <p:nvSpPr>
          <p:cNvPr id="9" name="Rectangle 8"/>
          <p:cNvSpPr/>
          <p:nvPr/>
        </p:nvSpPr>
        <p:spPr>
          <a:xfrm>
            <a:off x="1371600" y="5029200"/>
            <a:ext cx="9144000" cy="64008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600" b="0">
                <a:solidFill>
                  <a:srgbClr val="1E293B"/>
                </a:solidFill>
              </a:defRPr>
            </a:pPr>
            <a:r>
              <a:t>  D.  Par un silence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97280" cy="10972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b="1">
                <a:solidFill>
                  <a:srgbClr val="FFFFFF"/>
                </a:solidFill>
              </a:defRPr>
            </a:pPr>
            <a:r>
              <a:t>12</a:t>
            </a:r>
          </a:p>
        </p:txBody>
      </p:sp>
      <p:sp>
        <p:nvSpPr>
          <p:cNvPr id="4" name="TextBox 3"/>
          <p:cNvSpPr txBox="1"/>
          <p:nvPr/>
        </p:nvSpPr>
        <p:spPr>
          <a:xfrm>
            <a:off x="2560320" y="1188720"/>
            <a:ext cx="8686800" cy="1371600"/>
          </a:xfrm>
          <a:prstGeom prst="rect">
            <a:avLst/>
          </a:prstGeom>
          <a:noFill/>
        </p:spPr>
        <p:txBody>
          <a:bodyPr wrap="square">
            <a:spAutoFit/>
          </a:bodyPr>
          <a:lstStyle/>
          <a:p>
            <a:pPr>
              <a:defRPr sz="1600" b="1">
                <a:solidFill>
                  <a:srgbClr val="0D9488"/>
                </a:solidFill>
              </a:defRPr>
            </a:pPr>
            <a:r>
              <a:t>Leçon 12</a:t>
            </a:r>
          </a:p>
          <a:p>
            <a:pPr>
              <a:spcBef>
                <a:spcPts val="600"/>
              </a:spcBef>
              <a:defRPr sz="3200" b="1">
                <a:solidFill>
                  <a:srgbClr val="1E293B"/>
                </a:solidFill>
              </a:defRPr>
            </a:pPr>
            <a:r>
              <a:t>Capstone : votre plan d'action</a:t>
            </a:r>
            <a:br/>
            <a:r>
              <a:t>communautaire</a:t>
            </a:r>
          </a:p>
        </p:txBody>
      </p:sp>
      <p:sp>
        <p:nvSpPr>
          <p:cNvPr id="5" name="TextBox 4"/>
          <p:cNvSpPr txBox="1"/>
          <p:nvPr/>
        </p:nvSpPr>
        <p:spPr>
          <a:xfrm>
            <a:off x="2560320" y="2926080"/>
            <a:ext cx="8686800" cy="731520"/>
          </a:xfrm>
          <a:prstGeom prst="rect">
            <a:avLst/>
          </a:prstGeom>
          <a:noFill/>
        </p:spPr>
        <p:txBody>
          <a:bodyPr wrap="square">
            <a:spAutoFit/>
          </a:bodyPr>
          <a:lstStyle/>
          <a:p>
            <a:pPr>
              <a:defRPr sz="1400">
                <a:solidFill>
                  <a:srgbClr val="64748B"/>
                </a:solidFill>
              </a:defRPr>
            </a:pPr>
            <a:r>
              <a:t>Durée : 3h  |  Matériel : fiches plan d'action, tableau de suivi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Bilan et engagement — que va changer ce parcours ?</a:t>
            </a:r>
          </a:p>
        </p:txBody>
      </p:sp>
      <p:sp>
        <p:nvSpPr>
          <p:cNvPr id="4" name="TextBox 3"/>
          <p:cNvSpPr txBox="1"/>
          <p:nvPr/>
        </p:nvSpPr>
        <p:spPr>
          <a:xfrm>
            <a:off x="548640" y="1371600"/>
            <a:ext cx="6400800" cy="4572000"/>
          </a:xfrm>
          <a:prstGeom prst="rect">
            <a:avLst/>
          </a:prstGeom>
          <a:noFill/>
        </p:spPr>
        <p:txBody>
          <a:bodyPr wrap="square">
            <a:spAutoFit/>
          </a:bodyPr>
          <a:lstStyle/>
          <a:p>
            <a:pPr>
              <a:spcBef>
                <a:spcPts val="800"/>
              </a:spcBef>
              <a:defRPr sz="1600">
                <a:solidFill>
                  <a:srgbClr val="1E293B"/>
                </a:solidFill>
              </a:defRPr>
            </a:pPr>
            <a:r>
              <a:t>Ce que vous maîtrisez maintenant :</a:t>
            </a:r>
          </a:p>
          <a:p>
            <a:pPr>
              <a:spcBef>
                <a:spcPts val="800"/>
              </a:spcBef>
              <a:defRPr sz="1600">
                <a:solidFill>
                  <a:srgbClr val="1E293B"/>
                </a:solidFill>
              </a:defRPr>
            </a:pPr>
            <a:r>
              <a:t>  ✅ Posture de facilitateur (pas de professeur)</a:t>
            </a:r>
          </a:p>
          <a:p>
            <a:pPr>
              <a:spcBef>
                <a:spcPts val="800"/>
              </a:spcBef>
              <a:defRPr sz="1600">
                <a:solidFill>
                  <a:srgbClr val="1E293B"/>
                </a:solidFill>
              </a:defRPr>
            </a:pPr>
            <a:r>
              <a:t>  ✅ Diagnostic financier participatif (cailloux, graines)</a:t>
            </a:r>
          </a:p>
          <a:p>
            <a:pPr>
              <a:spcBef>
                <a:spcPts val="800"/>
              </a:spcBef>
              <a:defRPr sz="1600">
                <a:solidFill>
                  <a:srgbClr val="1E293B"/>
                </a:solidFill>
              </a:defRPr>
            </a:pPr>
            <a:r>
              <a:t>  ✅ Budget familial et épargne (tontine, AVEC)</a:t>
            </a:r>
          </a:p>
          <a:p>
            <a:pPr>
              <a:spcBef>
                <a:spcPts val="800"/>
              </a:spcBef>
              <a:defRPr sz="1600">
                <a:solidFill>
                  <a:srgbClr val="1E293B"/>
                </a:solidFill>
              </a:defRPr>
            </a:pPr>
            <a:r>
              <a:t>  ✅ Coût de production et planification de campagne</a:t>
            </a:r>
          </a:p>
          <a:p>
            <a:pPr>
              <a:spcBef>
                <a:spcPts val="800"/>
              </a:spcBef>
              <a:defRPr sz="1600">
                <a:solidFill>
                  <a:srgbClr val="1E293B"/>
                </a:solidFill>
              </a:defRPr>
            </a:pPr>
            <a:r>
              <a:t>  ✅ Crédit, commercialisation, gestion des risques</a:t>
            </a:r>
          </a:p>
          <a:p>
            <a:pPr>
              <a:spcBef>
                <a:spcPts val="800"/>
              </a:spcBef>
              <a:defRPr sz="1600">
                <a:solidFill>
                  <a:srgbClr val="1E293B"/>
                </a:solidFill>
              </a:defRPr>
            </a:pPr>
            <a:r>
              <a:t>  ✅ Structurer et animer une session APCA</a:t>
            </a:r>
          </a:p>
          <a:p>
            <a:pPr>
              <a:spcBef>
                <a:spcPts val="800"/>
              </a:spcBef>
              <a:defRPr sz="1600">
                <a:solidFill>
                  <a:srgbClr val="1E293B"/>
                </a:solidFill>
              </a:defRPr>
            </a:pPr>
          </a:p>
          <a:p>
            <a:pPr>
              <a:spcBef>
                <a:spcPts val="800"/>
              </a:spcBef>
              <a:defRPr sz="1600">
                <a:solidFill>
                  <a:srgbClr val="1E293B"/>
                </a:solidFill>
              </a:defRPr>
            </a:pPr>
            <a:r>
              <a:t>Votre plan d'action :</a:t>
            </a:r>
          </a:p>
          <a:p>
            <a:pPr>
              <a:spcBef>
                <a:spcPts val="800"/>
              </a:spcBef>
              <a:defRPr sz="1600">
                <a:solidFill>
                  <a:srgbClr val="1E293B"/>
                </a:solidFill>
              </a:defRPr>
            </a:pPr>
            <a:r>
              <a:t>  1. OÙ — dans quel(s) village(s) ?</a:t>
            </a:r>
          </a:p>
          <a:p>
            <a:pPr>
              <a:spcBef>
                <a:spcPts val="800"/>
              </a:spcBef>
              <a:defRPr sz="1600">
                <a:solidFill>
                  <a:srgbClr val="1E293B"/>
                </a:solidFill>
              </a:defRPr>
            </a:pPr>
            <a:r>
              <a:t>  2. QUAND — calendrier des 12 sessions</a:t>
            </a:r>
          </a:p>
          <a:p>
            <a:pPr>
              <a:spcBef>
                <a:spcPts val="800"/>
              </a:spcBef>
              <a:defRPr sz="1600">
                <a:solidFill>
                  <a:srgbClr val="1E293B"/>
                </a:solidFill>
              </a:defRPr>
            </a:pPr>
            <a:r>
              <a:t>  3. QUI — combien de groupes et de participants ?</a:t>
            </a:r>
          </a:p>
          <a:p>
            <a:pPr>
              <a:spcBef>
                <a:spcPts val="800"/>
              </a:spcBef>
              <a:defRPr sz="1600">
                <a:solidFill>
                  <a:srgbClr val="1E293B"/>
                </a:solidFill>
              </a:defRPr>
            </a:pPr>
            <a:r>
              <a:t>  4. COMMENT — matériel nécessaire</a:t>
            </a:r>
          </a:p>
          <a:p>
            <a:pPr>
              <a:spcBef>
                <a:spcPts val="800"/>
              </a:spcBef>
              <a:defRPr sz="1600">
                <a:solidFill>
                  <a:srgbClr val="1E293B"/>
                </a:solidFill>
              </a:defRPr>
            </a:pPr>
            <a:r>
              <a:t>  5. SUIVI — mesurer le changement (avant/après)</a:t>
            </a:r>
          </a:p>
        </p:txBody>
      </p:sp>
      <p:sp>
        <p:nvSpPr>
          <p:cNvPr id="5" name="Rectangle 4"/>
          <p:cNvSpPr/>
          <p:nvPr/>
        </p:nvSpPr>
        <p:spPr>
          <a:xfrm>
            <a:off x="7498079" y="1371600"/>
            <a:ext cx="4114800" cy="4114800"/>
          </a:xfrm>
          <a:prstGeom prst="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Impact projeté</a:t>
            </a:r>
          </a:p>
          <a:p>
            <a:pPr>
              <a:spcBef>
                <a:spcPts val="1000"/>
              </a:spcBef>
              <a:defRPr sz="1300">
                <a:solidFill>
                  <a:srgbClr val="1E293B"/>
                </a:solidFill>
              </a:defRPr>
            </a:pPr>
            <a:r>
              <a:t>1 formateur × 4 groupes × 25 paysans = 100 ménages. Si chaque paysan en forme 2 : 300 ménages touchés = 2 100 personnes. +35% épargne, -40% crédit commerçant après 1 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3152"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spAutoFit/>
          </a:bodyPr>
          <a:lstStyle/>
          <a:p>
            <a:pPr algn="l">
              <a:defRPr sz="2600" b="1">
                <a:solidFill>
                  <a:srgbClr val="1E293B"/>
                </a:solidFill>
              </a:defRPr>
            </a:pPr>
            <a:r>
              <a:t>Tableau de suivi d'impact</a:t>
            </a:r>
          </a:p>
        </p:txBody>
      </p:sp>
      <p:graphicFrame>
        <p:nvGraphicFramePr>
          <p:cNvPr id="4" name="Table 3"/>
          <p:cNvGraphicFramePr>
            <a:graphicFrameLocks noGrp="1"/>
          </p:cNvGraphicFramePr>
          <p:nvPr/>
        </p:nvGraphicFramePr>
        <p:xfrm>
          <a:off x="548640" y="1371600"/>
          <a:ext cx="10515600.0" cy="2743200"/>
        </p:xfrm>
        <a:graphic>
          <a:graphicData uri="http://schemas.openxmlformats.org/drawingml/2006/table">
            <a:tbl>
              <a:tblPr firstRow="1" bandRow="1">
                <a:tableStyleId>{5C22544A-7EE6-4342-B048-85BDC9FD1C3A}</a:tableStyleId>
              </a:tblPr>
              <a:tblGrid>
                <a:gridCol w="2628900"/>
                <a:gridCol w="2628900"/>
                <a:gridCol w="2628900"/>
                <a:gridCol w="2628900"/>
              </a:tblGrid>
              <a:tr h="457200">
                <a:tc>
                  <a:txBody>
                    <a:bodyPr/>
                    <a:lstStyle/>
                    <a:p>
                      <a:pPr>
                        <a:defRPr sz="1300" b="1">
                          <a:solidFill>
                            <a:srgbClr val="FFFFFF"/>
                          </a:solidFill>
                        </a:defRPr>
                      </a:pPr>
                      <a:r>
                        <a:t>Indicateur</a:t>
                      </a:r>
                    </a:p>
                  </a:txBody>
                  <a:tcPr>
                    <a:solidFill>
                      <a:srgbClr val="0D9488"/>
                    </a:solidFill>
                  </a:tcPr>
                </a:tc>
                <a:tc>
                  <a:txBody>
                    <a:bodyPr/>
                    <a:lstStyle/>
                    <a:p>
                      <a:pPr>
                        <a:defRPr sz="1300" b="1">
                          <a:solidFill>
                            <a:srgbClr val="FFFFFF"/>
                          </a:solidFill>
                        </a:defRPr>
                      </a:pPr>
                      <a:r>
                        <a:t>Avant formation</a:t>
                      </a:r>
                    </a:p>
                  </a:txBody>
                  <a:tcPr>
                    <a:solidFill>
                      <a:srgbClr val="0D9488"/>
                    </a:solidFill>
                  </a:tcPr>
                </a:tc>
                <a:tc>
                  <a:txBody>
                    <a:bodyPr/>
                    <a:lstStyle/>
                    <a:p>
                      <a:pPr>
                        <a:defRPr sz="1300" b="1">
                          <a:solidFill>
                            <a:srgbClr val="FFFFFF"/>
                          </a:solidFill>
                        </a:defRPr>
                      </a:pPr>
                      <a:r>
                        <a:t>Après 6 mois</a:t>
                      </a:r>
                    </a:p>
                  </a:txBody>
                  <a:tcPr>
                    <a:solidFill>
                      <a:srgbClr val="0D9488"/>
                    </a:solidFill>
                  </a:tcPr>
                </a:tc>
                <a:tc>
                  <a:txBody>
                    <a:bodyPr/>
                    <a:lstStyle/>
                    <a:p>
                      <a:pPr>
                        <a:defRPr sz="1300" b="1">
                          <a:solidFill>
                            <a:srgbClr val="FFFFFF"/>
                          </a:solidFill>
                        </a:defRPr>
                      </a:pPr>
                      <a:r>
                        <a:t>Objectif</a:t>
                      </a:r>
                    </a:p>
                  </a:txBody>
                  <a:tcPr>
                    <a:solidFill>
                      <a:srgbClr val="0D9488"/>
                    </a:solidFill>
                  </a:tcPr>
                </a:tc>
              </a:tr>
              <a:tr h="457200">
                <a:tc>
                  <a:txBody>
                    <a:bodyPr/>
                    <a:lstStyle/>
                    <a:p>
                      <a:pPr>
                        <a:defRPr sz="1200">
                          <a:solidFill>
                            <a:srgbClr val="1E293B"/>
                          </a:solidFill>
                        </a:defRPr>
                      </a:pPr>
                      <a:r>
                        <a:t>% ménages avec un budget</a:t>
                      </a:r>
                    </a:p>
                  </a:txBody>
                  <a:tcPr>
                    <a:solidFill>
                      <a:srgbClr val="FFFFFF"/>
                    </a:solidFill>
                  </a:tcPr>
                </a:tc>
                <a:tc>
                  <a:txBody>
                    <a:bodyPr/>
                    <a:lstStyle/>
                    <a:p>
                      <a:pPr>
                        <a:defRPr sz="1200">
                          <a:solidFill>
                            <a:srgbClr val="1E293B"/>
                          </a:solidFill>
                        </a:defRPr>
                      </a:pPr>
                      <a:r>
                        <a:t>À mesurer</a:t>
                      </a:r>
                    </a:p>
                  </a:txBody>
                  <a:tcPr>
                    <a:solidFill>
                      <a:srgbClr val="FFFFFF"/>
                    </a:solidFill>
                  </a:tcPr>
                </a:tc>
                <a:tc>
                  <a:txBody>
                    <a:bodyPr/>
                    <a:lstStyle/>
                    <a:p>
                      <a:pPr>
                        <a:defRPr sz="1200">
                          <a:solidFill>
                            <a:srgbClr val="1E293B"/>
                          </a:solidFill>
                        </a:defRPr>
                      </a:pPr>
                      <a:r>
                        <a:t>À mesurer</a:t>
                      </a:r>
                    </a:p>
                  </a:txBody>
                  <a:tcPr>
                    <a:solidFill>
                      <a:srgbClr val="FFFFFF"/>
                    </a:solidFill>
                  </a:tcPr>
                </a:tc>
                <a:tc>
                  <a:txBody>
                    <a:bodyPr/>
                    <a:lstStyle/>
                    <a:p>
                      <a:pPr>
                        <a:defRPr sz="1200">
                          <a:solidFill>
                            <a:srgbClr val="1E293B"/>
                          </a:solidFill>
                        </a:defRPr>
                      </a:pPr>
                      <a:r>
                        <a:t>60%</a:t>
                      </a:r>
                    </a:p>
                  </a:txBody>
                  <a:tcPr>
                    <a:solidFill>
                      <a:srgbClr val="FFFFFF"/>
                    </a:solidFill>
                  </a:tcPr>
                </a:tc>
              </a:tr>
              <a:tr h="457200">
                <a:tc>
                  <a:txBody>
                    <a:bodyPr/>
                    <a:lstStyle/>
                    <a:p>
                      <a:pPr>
                        <a:defRPr sz="1200">
                          <a:solidFill>
                            <a:srgbClr val="1E293B"/>
                          </a:solidFill>
                        </a:defRPr>
                      </a:pPr>
                      <a:r>
                        <a:t>Épargne moyenne mensuelle</a:t>
                      </a:r>
                    </a:p>
                  </a:txBody>
                  <a:tcPr>
                    <a:solidFill>
                      <a:srgbClr val="F1F5F9"/>
                    </a:solidFill>
                  </a:tcPr>
                </a:tc>
                <a:tc>
                  <a:txBody>
                    <a:bodyPr/>
                    <a:lstStyle/>
                    <a:p>
                      <a:pPr>
                        <a:defRPr sz="1200">
                          <a:solidFill>
                            <a:srgbClr val="1E293B"/>
                          </a:solidFill>
                        </a:defRPr>
                      </a:pPr>
                      <a:r>
                        <a:t>À mesurer</a:t>
                      </a:r>
                    </a:p>
                  </a:txBody>
                  <a:tcPr>
                    <a:solidFill>
                      <a:srgbClr val="F1F5F9"/>
                    </a:solidFill>
                  </a:tcPr>
                </a:tc>
                <a:tc>
                  <a:txBody>
                    <a:bodyPr/>
                    <a:lstStyle/>
                    <a:p>
                      <a:pPr>
                        <a:defRPr sz="1200">
                          <a:solidFill>
                            <a:srgbClr val="1E293B"/>
                          </a:solidFill>
                        </a:defRPr>
                      </a:pPr>
                      <a:r>
                        <a:t>À mesurer</a:t>
                      </a:r>
                    </a:p>
                  </a:txBody>
                  <a:tcPr>
                    <a:solidFill>
                      <a:srgbClr val="F1F5F9"/>
                    </a:solidFill>
                  </a:tcPr>
                </a:tc>
                <a:tc>
                  <a:txBody>
                    <a:bodyPr/>
                    <a:lstStyle/>
                    <a:p>
                      <a:pPr>
                        <a:defRPr sz="1200">
                          <a:solidFill>
                            <a:srgbClr val="1E293B"/>
                          </a:solidFill>
                        </a:defRPr>
                      </a:pPr>
                      <a:r>
                        <a:t>+30%</a:t>
                      </a:r>
                    </a:p>
                  </a:txBody>
                  <a:tcPr>
                    <a:solidFill>
                      <a:srgbClr val="F1F5F9"/>
                    </a:solidFill>
                  </a:tcPr>
                </a:tc>
              </a:tr>
              <a:tr h="457200">
                <a:tc>
                  <a:txBody>
                    <a:bodyPr/>
                    <a:lstStyle/>
                    <a:p>
                      <a:pPr>
                        <a:defRPr sz="1200">
                          <a:solidFill>
                            <a:srgbClr val="1E293B"/>
                          </a:solidFill>
                        </a:defRPr>
                      </a:pPr>
                      <a:r>
                        <a:t>% utilisant le crédit commerçant</a:t>
                      </a:r>
                    </a:p>
                  </a:txBody>
                  <a:tcPr>
                    <a:solidFill>
                      <a:srgbClr val="FFFFFF"/>
                    </a:solidFill>
                  </a:tcPr>
                </a:tc>
                <a:tc>
                  <a:txBody>
                    <a:bodyPr/>
                    <a:lstStyle/>
                    <a:p>
                      <a:pPr>
                        <a:defRPr sz="1200">
                          <a:solidFill>
                            <a:srgbClr val="1E293B"/>
                          </a:solidFill>
                        </a:defRPr>
                      </a:pPr>
                      <a:r>
                        <a:t>À mesurer</a:t>
                      </a:r>
                    </a:p>
                  </a:txBody>
                  <a:tcPr>
                    <a:solidFill>
                      <a:srgbClr val="FFFFFF"/>
                    </a:solidFill>
                  </a:tcPr>
                </a:tc>
                <a:tc>
                  <a:txBody>
                    <a:bodyPr/>
                    <a:lstStyle/>
                    <a:p>
                      <a:pPr>
                        <a:defRPr sz="1200">
                          <a:solidFill>
                            <a:srgbClr val="1E293B"/>
                          </a:solidFill>
                        </a:defRPr>
                      </a:pPr>
                      <a:r>
                        <a:t>À mesurer</a:t>
                      </a:r>
                    </a:p>
                  </a:txBody>
                  <a:tcPr>
                    <a:solidFill>
                      <a:srgbClr val="FFFFFF"/>
                    </a:solidFill>
                  </a:tcPr>
                </a:tc>
                <a:tc>
                  <a:txBody>
                    <a:bodyPr/>
                    <a:lstStyle/>
                    <a:p>
                      <a:pPr>
                        <a:defRPr sz="1200">
                          <a:solidFill>
                            <a:srgbClr val="1E293B"/>
                          </a:solidFill>
                        </a:defRPr>
                      </a:pPr>
                      <a:r>
                        <a:t>-50%</a:t>
                      </a:r>
                    </a:p>
                  </a:txBody>
                  <a:tcPr>
                    <a:solidFill>
                      <a:srgbClr val="FFFFFF"/>
                    </a:solidFill>
                  </a:tcPr>
                </a:tc>
              </a:tr>
              <a:tr h="457200">
                <a:tc>
                  <a:txBody>
                    <a:bodyPr/>
                    <a:lstStyle/>
                    <a:p>
                      <a:pPr>
                        <a:defRPr sz="1200">
                          <a:solidFill>
                            <a:srgbClr val="1E293B"/>
                          </a:solidFill>
                        </a:defRPr>
                      </a:pPr>
                      <a:r>
                        <a:t>Nombre de tontines/AVEC actives</a:t>
                      </a:r>
                    </a:p>
                  </a:txBody>
                  <a:tcPr>
                    <a:solidFill>
                      <a:srgbClr val="F1F5F9"/>
                    </a:solidFill>
                  </a:tcPr>
                </a:tc>
                <a:tc>
                  <a:txBody>
                    <a:bodyPr/>
                    <a:lstStyle/>
                    <a:p>
                      <a:pPr>
                        <a:defRPr sz="1200">
                          <a:solidFill>
                            <a:srgbClr val="1E293B"/>
                          </a:solidFill>
                        </a:defRPr>
                      </a:pPr>
                      <a:r>
                        <a:t>À compter</a:t>
                      </a:r>
                    </a:p>
                  </a:txBody>
                  <a:tcPr>
                    <a:solidFill>
                      <a:srgbClr val="F1F5F9"/>
                    </a:solidFill>
                  </a:tcPr>
                </a:tc>
                <a:tc>
                  <a:txBody>
                    <a:bodyPr/>
                    <a:lstStyle/>
                    <a:p>
                      <a:pPr>
                        <a:defRPr sz="1200">
                          <a:solidFill>
                            <a:srgbClr val="1E293B"/>
                          </a:solidFill>
                        </a:defRPr>
                      </a:pPr>
                      <a:r>
                        <a:t>À compter</a:t>
                      </a:r>
                    </a:p>
                  </a:txBody>
                  <a:tcPr>
                    <a:solidFill>
                      <a:srgbClr val="F1F5F9"/>
                    </a:solidFill>
                  </a:tcPr>
                </a:tc>
                <a:tc>
                  <a:txBody>
                    <a:bodyPr/>
                    <a:lstStyle/>
                    <a:p>
                      <a:pPr>
                        <a:defRPr sz="1200">
                          <a:solidFill>
                            <a:srgbClr val="1E293B"/>
                          </a:solidFill>
                        </a:defRPr>
                      </a:pPr>
                      <a:r>
                        <a:t>+3</a:t>
                      </a:r>
                    </a:p>
                  </a:txBody>
                  <a:tcPr>
                    <a:solidFill>
                      <a:srgbClr val="F1F5F9"/>
                    </a:solidFill>
                  </a:tcPr>
                </a:tc>
              </a:tr>
              <a:tr h="457200">
                <a:tc>
                  <a:txBody>
                    <a:bodyPr/>
                    <a:lstStyle/>
                    <a:p>
                      <a:pPr>
                        <a:defRPr sz="1200">
                          <a:solidFill>
                            <a:srgbClr val="1E293B"/>
                          </a:solidFill>
                        </a:defRPr>
                      </a:pPr>
                      <a:r>
                        <a:t>Paysans formés (direct + indirect)</a:t>
                      </a:r>
                    </a:p>
                  </a:txBody>
                  <a:tcPr>
                    <a:solidFill>
                      <a:srgbClr val="FFFFFF"/>
                    </a:solidFill>
                  </a:tcPr>
                </a:tc>
                <a:tc>
                  <a:txBody>
                    <a:bodyPr/>
                    <a:lstStyle/>
                    <a:p>
                      <a:pPr>
                        <a:defRPr sz="1200">
                          <a:solidFill>
                            <a:srgbClr val="1E293B"/>
                          </a:solidFill>
                        </a:defRPr>
                      </a:pPr>
                      <a:r>
                        <a:t>0</a:t>
                      </a:r>
                    </a:p>
                  </a:txBody>
                  <a:tcPr>
                    <a:solidFill>
                      <a:srgbClr val="FFFFFF"/>
                    </a:solidFill>
                  </a:tcPr>
                </a:tc>
                <a:tc>
                  <a:txBody>
                    <a:bodyPr/>
                    <a:lstStyle/>
                    <a:p>
                      <a:pPr>
                        <a:defRPr sz="1200">
                          <a:solidFill>
                            <a:srgbClr val="1E293B"/>
                          </a:solidFill>
                        </a:defRPr>
                      </a:pPr>
                      <a:r>
                        <a:t>À compter</a:t>
                      </a:r>
                    </a:p>
                  </a:txBody>
                  <a:tcPr>
                    <a:solidFill>
                      <a:srgbClr val="FFFFFF"/>
                    </a:solidFill>
                  </a:tcPr>
                </a:tc>
                <a:tc>
                  <a:txBody>
                    <a:bodyPr/>
                    <a:lstStyle/>
                    <a:p>
                      <a:pPr>
                        <a:defRPr sz="1200">
                          <a:solidFill>
                            <a:srgbClr val="1E293B"/>
                          </a:solidFill>
                        </a:defRPr>
                      </a:pPr>
                      <a:r>
                        <a:t>300</a:t>
                      </a:r>
                    </a:p>
                  </a:txBody>
                  <a:tcPr>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828800"/>
          </a:xfrm>
          <a:prstGeom prst="rect">
            <a:avLst/>
          </a:prstGeom>
          <a:noFill/>
        </p:spPr>
        <p:txBody>
          <a:bodyPr wrap="square">
            <a:spAutoFit/>
          </a:bodyPr>
          <a:lstStyle/>
          <a:p>
            <a:pPr algn="ctr">
              <a:defRPr sz="4000" b="1">
                <a:solidFill>
                  <a:srgbClr val="FFFFFF"/>
                </a:solidFill>
              </a:defRPr>
            </a:pPr>
            <a:r>
              <a:t>Vous êtes maintenant</a:t>
            </a:r>
            <a:br/>
            <a:r>
              <a:t>Formateur en Gestion Financière Paysanne</a:t>
            </a:r>
          </a:p>
          <a:p>
            <a:pPr algn="ctr">
              <a:spcBef>
                <a:spcPts val="1600"/>
              </a:spcBef>
              <a:defRPr sz="2000">
                <a:solidFill>
                  <a:srgbClr val="CCFBF1"/>
                </a:solidFill>
              </a:defRPr>
            </a:pPr>
            <a:r>
              <a:t>Allez sur le terrain. Écoutez les paysans.</a:t>
            </a:r>
            <a:br/>
            <a:r>
              <a:t>Accompagnez-les avec des cailloux, des graines et beaucoup d'écoute.</a:t>
            </a:r>
            <a:br/>
            <a:br/>
            <a:r>
              <a:t>Bon terrain !</a:t>
            </a:r>
          </a:p>
        </p:txBody>
      </p:sp>
      <p:sp>
        <p:nvSpPr>
          <p:cNvPr id="4" name="TextBox 3"/>
          <p:cNvSpPr txBox="1"/>
          <p:nvPr/>
        </p:nvSpPr>
        <p:spPr>
          <a:xfrm>
            <a:off x="914400" y="5486400"/>
            <a:ext cx="10058400" cy="548640"/>
          </a:xfrm>
          <a:prstGeom prst="rect">
            <a:avLst/>
          </a:prstGeom>
          <a:noFill/>
        </p:spPr>
        <p:txBody>
          <a:bodyPr wrap="none">
            <a:spAutoFit/>
          </a:bodyPr>
          <a:lstStyle/>
          <a:p>
            <a:pPr algn="ctr">
              <a:defRPr sz="1200">
                <a:solidFill>
                  <a:srgbClr val="99F6E4"/>
                </a:solidFill>
              </a:defRPr>
            </a:pPr>
            <a:r>
              <a:t>DataMEAL Academy — Formation des Formateurs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