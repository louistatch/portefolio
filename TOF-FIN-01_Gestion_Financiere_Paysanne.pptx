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2286000"/>
          </a:xfrm>
          <a:prstGeom prst="rect">
            <a:avLst/>
          </a:prstGeom>
          <a:noFill/>
        </p:spPr>
        <p:txBody>
          <a:bodyPr wrap="square">
            <a:spAutoFit/>
          </a:bodyPr>
          <a:lstStyle/>
          <a:p>
            <a:pPr algn="ctr">
              <a:defRPr sz="4000" b="1">
                <a:solidFill>
                  <a:srgbClr val="FFFFFF"/>
                </a:solidFill>
              </a:defRPr>
            </a:pPr>
            <a:r>
              <a:t>Formation des Formateurs</a:t>
            </a:r>
            <a:br/>
            <a:r>
              <a:t>Gestion Financière Paysanne</a:t>
            </a:r>
          </a:p>
        </p:txBody>
      </p:sp>
      <p:sp>
        <p:nvSpPr>
          <p:cNvPr id="4" name="TextBox 3"/>
          <p:cNvSpPr txBox="1"/>
          <p:nvPr/>
        </p:nvSpPr>
        <p:spPr>
          <a:xfrm>
            <a:off x="914400" y="4114800"/>
            <a:ext cx="10332720" cy="1371600"/>
          </a:xfrm>
          <a:prstGeom prst="rect">
            <a:avLst/>
          </a:prstGeom>
          <a:noFill/>
        </p:spPr>
        <p:txBody>
          <a:bodyPr wrap="square">
            <a:spAutoFit/>
          </a:bodyPr>
          <a:lstStyle/>
          <a:p>
            <a:pPr algn="ctr">
              <a:defRPr sz="2000" b="0">
                <a:solidFill>
                  <a:srgbClr val="CCFBF1"/>
                </a:solidFill>
              </a:defRPr>
            </a:pPr>
            <a:r>
              <a:t>Parcours andragogique de 3 mois — 12 sessions</a:t>
            </a:r>
            <a:br/>
            <a:r>
              <a:t>DataMEAL Academy | TOF-FIN-01</a:t>
            </a:r>
          </a:p>
        </p:txBody>
      </p:sp>
      <p:sp>
        <p:nvSpPr>
          <p:cNvPr id="5" name="TextBox 4"/>
          <p:cNvSpPr txBox="1"/>
          <p:nvPr/>
        </p:nvSpPr>
        <p:spPr>
          <a:xfrm>
            <a:off x="914400" y="5943600"/>
            <a:ext cx="10332720" cy="457200"/>
          </a:xfrm>
          <a:prstGeom prst="rect">
            <a:avLst/>
          </a:prstGeom>
          <a:noFill/>
        </p:spPr>
        <p:txBody>
          <a:bodyPr wrap="square">
            <a:spAutoFit/>
          </a:bodyPr>
          <a:lstStyle/>
          <a:p>
            <a:pPr algn="ctr">
              <a:defRPr sz="1200" b="0">
                <a:solidFill>
                  <a:srgbClr val="99F6E4"/>
                </a:solidFill>
              </a:defRPr>
            </a:pPr>
            <a:r>
              <a:t>DataMEAL Academy — Formation des Formateurs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Programme — 12 sessions sur 3 mois</a:t>
            </a:r>
          </a:p>
        </p:txBody>
      </p:sp>
      <p:graphicFrame>
        <p:nvGraphicFramePr>
          <p:cNvPr id="4" name="Table 3"/>
          <p:cNvGraphicFramePr>
            <a:graphicFrameLocks noGrp="1"/>
          </p:cNvGraphicFramePr>
          <p:nvPr/>
        </p:nvGraphicFramePr>
        <p:xfrm>
          <a:off x="457200" y="1188720"/>
          <a:ext cx="10972800" cy="5029200"/>
        </p:xfrm>
        <a:graphic>
          <a:graphicData uri="http://schemas.openxmlformats.org/drawingml/2006/table">
            <a:tbl>
              <a:tblPr firstRow="1" bandRow="1">
                <a:tableStyleId>{5C22544A-7EE6-4342-B048-85BDC9FD1C3A}</a:tableStyleId>
              </a:tblPr>
              <a:tblGrid>
                <a:gridCol w="2743200"/>
                <a:gridCol w="2743200"/>
                <a:gridCol w="2743200"/>
                <a:gridCol w="2743200"/>
              </a:tblGrid>
              <a:tr h="386861">
                <a:tc>
                  <a:txBody>
                    <a:bodyPr/>
                    <a:lstStyle/>
                    <a:p>
                      <a:pPr>
                        <a:defRPr sz="1200" b="1">
                          <a:solidFill>
                            <a:srgbClr val="FFFFFF"/>
                          </a:solidFill>
                        </a:defRPr>
                      </a:pPr>
                      <a:r>
                        <a:t>#</a:t>
                      </a:r>
                    </a:p>
                  </a:txBody>
                  <a:tcPr>
                    <a:solidFill>
                      <a:srgbClr val="0D9488"/>
                    </a:solidFill>
                  </a:tcPr>
                </a:tc>
                <a:tc>
                  <a:txBody>
                    <a:bodyPr/>
                    <a:lstStyle/>
                    <a:p>
                      <a:pPr>
                        <a:defRPr sz="1200" b="1">
                          <a:solidFill>
                            <a:srgbClr val="FFFFFF"/>
                          </a:solidFill>
                        </a:defRPr>
                      </a:pPr>
                      <a:r>
                        <a:t>Période</a:t>
                      </a:r>
                    </a:p>
                  </a:txBody>
                  <a:tcPr>
                    <a:solidFill>
                      <a:srgbClr val="0D9488"/>
                    </a:solidFill>
                  </a:tcPr>
                </a:tc>
                <a:tc>
                  <a:txBody>
                    <a:bodyPr/>
                    <a:lstStyle/>
                    <a:p>
                      <a:pPr>
                        <a:defRPr sz="1200" b="1">
                          <a:solidFill>
                            <a:srgbClr val="FFFFFF"/>
                          </a:solidFill>
                        </a:defRPr>
                      </a:pPr>
                      <a:r>
                        <a:t>Thème</a:t>
                      </a:r>
                    </a:p>
                  </a:txBody>
                  <a:tcPr>
                    <a:solidFill>
                      <a:srgbClr val="0D9488"/>
                    </a:solidFill>
                  </a:tcPr>
                </a:tc>
                <a:tc>
                  <a:txBody>
                    <a:bodyPr/>
                    <a:lstStyle/>
                    <a:p>
                      <a:pPr>
                        <a:defRPr sz="1200" b="1">
                          <a:solidFill>
                            <a:srgbClr val="FFFFFF"/>
                          </a:solidFill>
                        </a:defRPr>
                      </a:pPr>
                      <a:r>
                        <a:t>Activité pratique</a:t>
                      </a:r>
                    </a:p>
                  </a:txBody>
                  <a:tcPr>
                    <a:solidFill>
                      <a:srgbClr val="0D9488"/>
                    </a:solidFill>
                  </a:tcPr>
                </a:tc>
              </a:tr>
              <a:tr h="386861">
                <a:tc>
                  <a:txBody>
                    <a:bodyPr/>
                    <a:lstStyle/>
                    <a:p>
                      <a:pPr>
                        <a:defRPr sz="1100">
                          <a:solidFill>
                            <a:srgbClr val="1E293B"/>
                          </a:solidFill>
                        </a:defRPr>
                      </a:pPr>
                      <a:r>
                        <a:t>1</a:t>
                      </a:r>
                    </a:p>
                  </a:txBody>
                  <a:tcPr>
                    <a:solidFill>
                      <a:srgbClr val="FFFFFF"/>
                    </a:solidFill>
                  </a:tcPr>
                </a:tc>
                <a:tc>
                  <a:txBody>
                    <a:bodyPr/>
                    <a:lstStyle/>
                    <a:p>
                      <a:pPr>
                        <a:defRPr sz="1100">
                          <a:solidFill>
                            <a:srgbClr val="1E293B"/>
                          </a:solidFill>
                        </a:defRPr>
                      </a:pPr>
                      <a:r>
                        <a:t>Mois 1</a:t>
                      </a:r>
                    </a:p>
                  </a:txBody>
                  <a:tcPr>
                    <a:solidFill>
                      <a:srgbClr val="FFFFFF"/>
                    </a:solidFill>
                  </a:tcPr>
                </a:tc>
                <a:tc>
                  <a:txBody>
                    <a:bodyPr/>
                    <a:lstStyle/>
                    <a:p>
                      <a:pPr>
                        <a:defRPr sz="1100">
                          <a:solidFill>
                            <a:srgbClr val="1E293B"/>
                          </a:solidFill>
                        </a:defRPr>
                      </a:pPr>
                      <a:r>
                        <a:t>Posture du formateur rural</a:t>
                      </a:r>
                    </a:p>
                  </a:txBody>
                  <a:tcPr>
                    <a:solidFill>
                      <a:srgbClr val="FFFFFF"/>
                    </a:solidFill>
                  </a:tcPr>
                </a:tc>
                <a:tc>
                  <a:txBody>
                    <a:bodyPr/>
                    <a:lstStyle/>
                    <a:p>
                      <a:pPr>
                        <a:defRPr sz="1100">
                          <a:solidFill>
                            <a:srgbClr val="1E293B"/>
                          </a:solidFill>
                        </a:defRPr>
                      </a:pPr>
                      <a:r>
                        <a:t>Cercle de parole</a:t>
                      </a:r>
                    </a:p>
                  </a:txBody>
                  <a:tcPr>
                    <a:solidFill>
                      <a:srgbClr val="FFFFFF"/>
                    </a:solidFill>
                  </a:tcPr>
                </a:tc>
              </a:tr>
              <a:tr h="386861">
                <a:tc>
                  <a:txBody>
                    <a:bodyPr/>
                    <a:lstStyle/>
                    <a:p>
                      <a:pPr>
                        <a:defRPr sz="1100">
                          <a:solidFill>
                            <a:srgbClr val="1E293B"/>
                          </a:solidFill>
                        </a:defRPr>
                      </a:pPr>
                      <a:r>
                        <a:t>2</a:t>
                      </a:r>
                    </a:p>
                  </a:txBody>
                  <a:tcPr>
                    <a:solidFill>
                      <a:srgbClr val="F1F5F9"/>
                    </a:solidFill>
                  </a:tcPr>
                </a:tc>
                <a:tc>
                  <a:txBody>
                    <a:bodyPr/>
                    <a:lstStyle/>
                    <a:p>
                      <a:pPr>
                        <a:defRPr sz="1100">
                          <a:solidFill>
                            <a:srgbClr val="1E293B"/>
                          </a:solidFill>
                        </a:defRPr>
                      </a:pPr>
                      <a:r>
                        <a:t>Mois 1</a:t>
                      </a:r>
                    </a:p>
                  </a:txBody>
                  <a:tcPr>
                    <a:solidFill>
                      <a:srgbClr val="F1F5F9"/>
                    </a:solidFill>
                  </a:tcPr>
                </a:tc>
                <a:tc>
                  <a:txBody>
                    <a:bodyPr/>
                    <a:lstStyle/>
                    <a:p>
                      <a:pPr>
                        <a:defRPr sz="1100">
                          <a:solidFill>
                            <a:srgbClr val="1E293B"/>
                          </a:solidFill>
                        </a:defRPr>
                      </a:pPr>
                      <a:r>
                        <a:t>D'où vient et où va l'argent ?</a:t>
                      </a:r>
                    </a:p>
                  </a:txBody>
                  <a:tcPr>
                    <a:solidFill>
                      <a:srgbClr val="F1F5F9"/>
                    </a:solidFill>
                  </a:tcPr>
                </a:tc>
                <a:tc>
                  <a:txBody>
                    <a:bodyPr/>
                    <a:lstStyle/>
                    <a:p>
                      <a:pPr>
                        <a:defRPr sz="1100">
                          <a:solidFill>
                            <a:srgbClr val="1E293B"/>
                          </a:solidFill>
                        </a:defRPr>
                      </a:pPr>
                      <a:r>
                        <a:t>Cailloux entrants/sortants</a:t>
                      </a:r>
                    </a:p>
                  </a:txBody>
                  <a:tcPr>
                    <a:solidFill>
                      <a:srgbClr val="F1F5F9"/>
                    </a:solidFill>
                  </a:tcPr>
                </a:tc>
              </a:tr>
              <a:tr h="386861">
                <a:tc>
                  <a:txBody>
                    <a:bodyPr/>
                    <a:lstStyle/>
                    <a:p>
                      <a:pPr>
                        <a:defRPr sz="1100">
                          <a:solidFill>
                            <a:srgbClr val="1E293B"/>
                          </a:solidFill>
                        </a:defRPr>
                      </a:pPr>
                      <a:r>
                        <a:t>3</a:t>
                      </a:r>
                    </a:p>
                  </a:txBody>
                  <a:tcPr>
                    <a:solidFill>
                      <a:srgbClr val="FFFFFF"/>
                    </a:solidFill>
                  </a:tcPr>
                </a:tc>
                <a:tc>
                  <a:txBody>
                    <a:bodyPr/>
                    <a:lstStyle/>
                    <a:p>
                      <a:pPr>
                        <a:defRPr sz="1100">
                          <a:solidFill>
                            <a:srgbClr val="1E293B"/>
                          </a:solidFill>
                        </a:defRPr>
                      </a:pPr>
                      <a:r>
                        <a:t>Mois 1</a:t>
                      </a:r>
                    </a:p>
                  </a:txBody>
                  <a:tcPr>
                    <a:solidFill>
                      <a:srgbClr val="FFFFFF"/>
                    </a:solidFill>
                  </a:tcPr>
                </a:tc>
                <a:tc>
                  <a:txBody>
                    <a:bodyPr/>
                    <a:lstStyle/>
                    <a:p>
                      <a:pPr>
                        <a:defRPr sz="1100">
                          <a:solidFill>
                            <a:srgbClr val="1E293B"/>
                          </a:solidFill>
                        </a:defRPr>
                      </a:pPr>
                      <a:r>
                        <a:t>Budget familial en graines</a:t>
                      </a:r>
                    </a:p>
                  </a:txBody>
                  <a:tcPr>
                    <a:solidFill>
                      <a:srgbClr val="FFFFFF"/>
                    </a:solidFill>
                  </a:tcPr>
                </a:tc>
                <a:tc>
                  <a:txBody>
                    <a:bodyPr/>
                    <a:lstStyle/>
                    <a:p>
                      <a:pPr>
                        <a:defRPr sz="1100">
                          <a:solidFill>
                            <a:srgbClr val="1E293B"/>
                          </a:solidFill>
                        </a:defRPr>
                      </a:pPr>
                      <a:r>
                        <a:t>12 tas + graines maïs/haricots</a:t>
                      </a:r>
                    </a:p>
                  </a:txBody>
                  <a:tcPr>
                    <a:solidFill>
                      <a:srgbClr val="FFFFFF"/>
                    </a:solidFill>
                  </a:tcPr>
                </a:tc>
              </a:tr>
              <a:tr h="386861">
                <a:tc>
                  <a:txBody>
                    <a:bodyPr/>
                    <a:lstStyle/>
                    <a:p>
                      <a:pPr>
                        <a:defRPr sz="1100">
                          <a:solidFill>
                            <a:srgbClr val="1E293B"/>
                          </a:solidFill>
                        </a:defRPr>
                      </a:pPr>
                      <a:r>
                        <a:t>4</a:t>
                      </a:r>
                    </a:p>
                  </a:txBody>
                  <a:tcPr>
                    <a:solidFill>
                      <a:srgbClr val="F1F5F9"/>
                    </a:solidFill>
                  </a:tcPr>
                </a:tc>
                <a:tc>
                  <a:txBody>
                    <a:bodyPr/>
                    <a:lstStyle/>
                    <a:p>
                      <a:pPr>
                        <a:defRPr sz="1100">
                          <a:solidFill>
                            <a:srgbClr val="1E293B"/>
                          </a:solidFill>
                        </a:defRPr>
                      </a:pPr>
                      <a:r>
                        <a:t>Mois 1</a:t>
                      </a:r>
                    </a:p>
                  </a:txBody>
                  <a:tcPr>
                    <a:solidFill>
                      <a:srgbClr val="F1F5F9"/>
                    </a:solidFill>
                  </a:tcPr>
                </a:tc>
                <a:tc>
                  <a:txBody>
                    <a:bodyPr/>
                    <a:lstStyle/>
                    <a:p>
                      <a:pPr>
                        <a:defRPr sz="1100">
                          <a:solidFill>
                            <a:srgbClr val="1E293B"/>
                          </a:solidFill>
                        </a:defRPr>
                      </a:pPr>
                      <a:r>
                        <a:t>Épargne, tontine et AVEC</a:t>
                      </a:r>
                    </a:p>
                  </a:txBody>
                  <a:tcPr>
                    <a:solidFill>
                      <a:srgbClr val="F1F5F9"/>
                    </a:solidFill>
                  </a:tcPr>
                </a:tc>
                <a:tc>
                  <a:txBody>
                    <a:bodyPr/>
                    <a:lstStyle/>
                    <a:p>
                      <a:pPr>
                        <a:defRPr sz="1100">
                          <a:solidFill>
                            <a:srgbClr val="1E293B"/>
                          </a:solidFill>
                        </a:defRPr>
                      </a:pPr>
                      <a:r>
                        <a:t>Simulation tontine en cercle</a:t>
                      </a:r>
                    </a:p>
                  </a:txBody>
                  <a:tcPr>
                    <a:solidFill>
                      <a:srgbClr val="F1F5F9"/>
                    </a:solidFill>
                  </a:tcPr>
                </a:tc>
              </a:tr>
              <a:tr h="386861">
                <a:tc>
                  <a:txBody>
                    <a:bodyPr/>
                    <a:lstStyle/>
                    <a:p>
                      <a:pPr>
                        <a:defRPr sz="1100">
                          <a:solidFill>
                            <a:srgbClr val="1E293B"/>
                          </a:solidFill>
                        </a:defRPr>
                      </a:pPr>
                      <a:r>
                        <a:t>5</a:t>
                      </a:r>
                    </a:p>
                  </a:txBody>
                  <a:tcPr>
                    <a:solidFill>
                      <a:srgbClr val="FFFFFF"/>
                    </a:solidFill>
                  </a:tcPr>
                </a:tc>
                <a:tc>
                  <a:txBody>
                    <a:bodyPr/>
                    <a:lstStyle/>
                    <a:p>
                      <a:pPr>
                        <a:defRPr sz="1100">
                          <a:solidFill>
                            <a:srgbClr val="1E293B"/>
                          </a:solidFill>
                        </a:defRPr>
                      </a:pPr>
                      <a:r>
                        <a:t>Mois 2</a:t>
                      </a:r>
                    </a:p>
                  </a:txBody>
                  <a:tcPr>
                    <a:solidFill>
                      <a:srgbClr val="FFFFFF"/>
                    </a:solidFill>
                  </a:tcPr>
                </a:tc>
                <a:tc>
                  <a:txBody>
                    <a:bodyPr/>
                    <a:lstStyle/>
                    <a:p>
                      <a:pPr>
                        <a:defRPr sz="1100">
                          <a:solidFill>
                            <a:srgbClr val="1E293B"/>
                          </a:solidFill>
                        </a:defRPr>
                      </a:pPr>
                      <a:r>
                        <a:t>Coût de production agricole</a:t>
                      </a:r>
                    </a:p>
                  </a:txBody>
                  <a:tcPr>
                    <a:solidFill>
                      <a:srgbClr val="FFFFFF"/>
                    </a:solidFill>
                  </a:tcPr>
                </a:tc>
                <a:tc>
                  <a:txBody>
                    <a:bodyPr/>
                    <a:lstStyle/>
                    <a:p>
                      <a:pPr>
                        <a:defRPr sz="1100">
                          <a:solidFill>
                            <a:srgbClr val="1E293B"/>
                          </a:solidFill>
                        </a:defRPr>
                      </a:pPr>
                      <a:r>
                        <a:t>Calcul collectif au tableau</a:t>
                      </a:r>
                    </a:p>
                  </a:txBody>
                  <a:tcPr>
                    <a:solidFill>
                      <a:srgbClr val="FFFFFF"/>
                    </a:solidFill>
                  </a:tcPr>
                </a:tc>
              </a:tr>
              <a:tr h="386861">
                <a:tc>
                  <a:txBody>
                    <a:bodyPr/>
                    <a:lstStyle/>
                    <a:p>
                      <a:pPr>
                        <a:defRPr sz="1100">
                          <a:solidFill>
                            <a:srgbClr val="1E293B"/>
                          </a:solidFill>
                        </a:defRPr>
                      </a:pPr>
                      <a:r>
                        <a:t>6</a:t>
                      </a:r>
                    </a:p>
                  </a:txBody>
                  <a:tcPr>
                    <a:solidFill>
                      <a:srgbClr val="F1F5F9"/>
                    </a:solidFill>
                  </a:tcPr>
                </a:tc>
                <a:tc>
                  <a:txBody>
                    <a:bodyPr/>
                    <a:lstStyle/>
                    <a:p>
                      <a:pPr>
                        <a:defRPr sz="1100">
                          <a:solidFill>
                            <a:srgbClr val="1E293B"/>
                          </a:solidFill>
                        </a:defRPr>
                      </a:pPr>
                      <a:r>
                        <a:t>Mois 2</a:t>
                      </a:r>
                    </a:p>
                  </a:txBody>
                  <a:tcPr>
                    <a:solidFill>
                      <a:srgbClr val="F1F5F9"/>
                    </a:solidFill>
                  </a:tcPr>
                </a:tc>
                <a:tc>
                  <a:txBody>
                    <a:bodyPr/>
                    <a:lstStyle/>
                    <a:p>
                      <a:pPr>
                        <a:defRPr sz="1100">
                          <a:solidFill>
                            <a:srgbClr val="1E293B"/>
                          </a:solidFill>
                        </a:defRPr>
                      </a:pPr>
                      <a:r>
                        <a:t>Planifier la campagne</a:t>
                      </a:r>
                    </a:p>
                  </a:txBody>
                  <a:tcPr>
                    <a:solidFill>
                      <a:srgbClr val="F1F5F9"/>
                    </a:solidFill>
                  </a:tcPr>
                </a:tc>
                <a:tc>
                  <a:txBody>
                    <a:bodyPr/>
                    <a:lstStyle/>
                    <a:p>
                      <a:pPr>
                        <a:defRPr sz="1100">
                          <a:solidFill>
                            <a:srgbClr val="1E293B"/>
                          </a:solidFill>
                        </a:defRPr>
                      </a:pPr>
                      <a:r>
                        <a:t>Corde des saisons</a:t>
                      </a:r>
                    </a:p>
                  </a:txBody>
                  <a:tcPr>
                    <a:solidFill>
                      <a:srgbClr val="F1F5F9"/>
                    </a:solidFill>
                  </a:tcPr>
                </a:tc>
              </a:tr>
              <a:tr h="386861">
                <a:tc>
                  <a:txBody>
                    <a:bodyPr/>
                    <a:lstStyle/>
                    <a:p>
                      <a:pPr>
                        <a:defRPr sz="1100">
                          <a:solidFill>
                            <a:srgbClr val="1E293B"/>
                          </a:solidFill>
                        </a:defRPr>
                      </a:pPr>
                      <a:r>
                        <a:t>7</a:t>
                      </a:r>
                    </a:p>
                  </a:txBody>
                  <a:tcPr>
                    <a:solidFill>
                      <a:srgbClr val="FFFFFF"/>
                    </a:solidFill>
                  </a:tcPr>
                </a:tc>
                <a:tc>
                  <a:txBody>
                    <a:bodyPr/>
                    <a:lstStyle/>
                    <a:p>
                      <a:pPr>
                        <a:defRPr sz="1100">
                          <a:solidFill>
                            <a:srgbClr val="1E293B"/>
                          </a:solidFill>
                        </a:defRPr>
                      </a:pPr>
                      <a:r>
                        <a:t>Mois 2</a:t>
                      </a:r>
                    </a:p>
                  </a:txBody>
                  <a:tcPr>
                    <a:solidFill>
                      <a:srgbClr val="FFFFFF"/>
                    </a:solidFill>
                  </a:tcPr>
                </a:tc>
                <a:tc>
                  <a:txBody>
                    <a:bodyPr/>
                    <a:lstStyle/>
                    <a:p>
                      <a:pPr>
                        <a:defRPr sz="1100">
                          <a:solidFill>
                            <a:srgbClr val="1E293B"/>
                          </a:solidFill>
                        </a:defRPr>
                      </a:pPr>
                      <a:r>
                        <a:t>Le crédit : opportunité ou piège ?</a:t>
                      </a:r>
                    </a:p>
                  </a:txBody>
                  <a:tcPr>
                    <a:solidFill>
                      <a:srgbClr val="FFFFFF"/>
                    </a:solidFill>
                  </a:tcPr>
                </a:tc>
                <a:tc>
                  <a:txBody>
                    <a:bodyPr/>
                    <a:lstStyle/>
                    <a:p>
                      <a:pPr>
                        <a:defRPr sz="1100">
                          <a:solidFill>
                            <a:srgbClr val="1E293B"/>
                          </a:solidFill>
                        </a:defRPr>
                      </a:pPr>
                      <a:r>
                        <a:t>Jeu de rôle 3 prêteurs</a:t>
                      </a:r>
                    </a:p>
                  </a:txBody>
                  <a:tcPr>
                    <a:solidFill>
                      <a:srgbClr val="FFFFFF"/>
                    </a:solidFill>
                  </a:tcPr>
                </a:tc>
              </a:tr>
              <a:tr h="386861">
                <a:tc>
                  <a:txBody>
                    <a:bodyPr/>
                    <a:lstStyle/>
                    <a:p>
                      <a:pPr>
                        <a:defRPr sz="1100">
                          <a:solidFill>
                            <a:srgbClr val="1E293B"/>
                          </a:solidFill>
                        </a:defRPr>
                      </a:pPr>
                      <a:r>
                        <a:t>8</a:t>
                      </a:r>
                    </a:p>
                  </a:txBody>
                  <a:tcPr>
                    <a:solidFill>
                      <a:srgbClr val="F1F5F9"/>
                    </a:solidFill>
                  </a:tcPr>
                </a:tc>
                <a:tc>
                  <a:txBody>
                    <a:bodyPr/>
                    <a:lstStyle/>
                    <a:p>
                      <a:pPr>
                        <a:defRPr sz="1100">
                          <a:solidFill>
                            <a:srgbClr val="1E293B"/>
                          </a:solidFill>
                        </a:defRPr>
                      </a:pPr>
                      <a:r>
                        <a:t>Mois 2</a:t>
                      </a:r>
                    </a:p>
                  </a:txBody>
                  <a:tcPr>
                    <a:solidFill>
                      <a:srgbClr val="F1F5F9"/>
                    </a:solidFill>
                  </a:tcPr>
                </a:tc>
                <a:tc>
                  <a:txBody>
                    <a:bodyPr/>
                    <a:lstStyle/>
                    <a:p>
                      <a:pPr>
                        <a:defRPr sz="1100">
                          <a:solidFill>
                            <a:srgbClr val="1E293B"/>
                          </a:solidFill>
                        </a:defRPr>
                      </a:pPr>
                      <a:r>
                        <a:t>Vendre au bon moment</a:t>
                      </a:r>
                    </a:p>
                  </a:txBody>
                  <a:tcPr>
                    <a:solidFill>
                      <a:srgbClr val="F1F5F9"/>
                    </a:solidFill>
                  </a:tcPr>
                </a:tc>
                <a:tc>
                  <a:txBody>
                    <a:bodyPr/>
                    <a:lstStyle/>
                    <a:p>
                      <a:pPr>
                        <a:defRPr sz="1100">
                          <a:solidFill>
                            <a:srgbClr val="1E293B"/>
                          </a:solidFill>
                        </a:defRPr>
                      </a:pPr>
                      <a:r>
                        <a:t>Courbe des prix au sol</a:t>
                      </a:r>
                    </a:p>
                  </a:txBody>
                  <a:tcPr>
                    <a:solidFill>
                      <a:srgbClr val="F1F5F9"/>
                    </a:solidFill>
                  </a:tcPr>
                </a:tc>
              </a:tr>
              <a:tr h="386861">
                <a:tc>
                  <a:txBody>
                    <a:bodyPr/>
                    <a:lstStyle/>
                    <a:p>
                      <a:pPr>
                        <a:defRPr sz="1100">
                          <a:solidFill>
                            <a:srgbClr val="1E293B"/>
                          </a:solidFill>
                        </a:defRPr>
                      </a:pPr>
                      <a:r>
                        <a:t>9</a:t>
                      </a:r>
                    </a:p>
                  </a:txBody>
                  <a:tcPr>
                    <a:solidFill>
                      <a:srgbClr val="FFFFFF"/>
                    </a:solidFill>
                  </a:tcPr>
                </a:tc>
                <a:tc>
                  <a:txBody>
                    <a:bodyPr/>
                    <a:lstStyle/>
                    <a:p>
                      <a:pPr>
                        <a:defRPr sz="1100">
                          <a:solidFill>
                            <a:srgbClr val="1E293B"/>
                          </a:solidFill>
                        </a:defRPr>
                      </a:pPr>
                      <a:r>
                        <a:t>Mois 3</a:t>
                      </a:r>
                    </a:p>
                  </a:txBody>
                  <a:tcPr>
                    <a:solidFill>
                      <a:srgbClr val="FFFFFF"/>
                    </a:solidFill>
                  </a:tcPr>
                </a:tc>
                <a:tc>
                  <a:txBody>
                    <a:bodyPr/>
                    <a:lstStyle/>
                    <a:p>
                      <a:pPr>
                        <a:defRPr sz="1100">
                          <a:solidFill>
                            <a:srgbClr val="1E293B"/>
                          </a:solidFill>
                        </a:defRPr>
                      </a:pPr>
                      <a:r>
                        <a:t>Gérer les risques financiers</a:t>
                      </a:r>
                    </a:p>
                  </a:txBody>
                  <a:tcPr>
                    <a:solidFill>
                      <a:srgbClr val="FFFFFF"/>
                    </a:solidFill>
                  </a:tcPr>
                </a:tc>
                <a:tc>
                  <a:txBody>
                    <a:bodyPr/>
                    <a:lstStyle/>
                    <a:p>
                      <a:pPr>
                        <a:defRPr sz="1100">
                          <a:solidFill>
                            <a:srgbClr val="1E293B"/>
                          </a:solidFill>
                        </a:defRPr>
                      </a:pPr>
                      <a:r>
                        <a:t>Méthode des 3 enveloppes</a:t>
                      </a:r>
                    </a:p>
                  </a:txBody>
                  <a:tcPr>
                    <a:solidFill>
                      <a:srgbClr val="FFFFFF"/>
                    </a:solidFill>
                  </a:tcPr>
                </a:tc>
              </a:tr>
              <a:tr h="386861">
                <a:tc>
                  <a:txBody>
                    <a:bodyPr/>
                    <a:lstStyle/>
                    <a:p>
                      <a:pPr>
                        <a:defRPr sz="1100">
                          <a:solidFill>
                            <a:srgbClr val="1E293B"/>
                          </a:solidFill>
                        </a:defRPr>
                      </a:pPr>
                      <a:r>
                        <a:t>10</a:t>
                      </a:r>
                    </a:p>
                  </a:txBody>
                  <a:tcPr>
                    <a:solidFill>
                      <a:srgbClr val="F1F5F9"/>
                    </a:solidFill>
                  </a:tcPr>
                </a:tc>
                <a:tc>
                  <a:txBody>
                    <a:bodyPr/>
                    <a:lstStyle/>
                    <a:p>
                      <a:pPr>
                        <a:defRPr sz="1100">
                          <a:solidFill>
                            <a:srgbClr val="1E293B"/>
                          </a:solidFill>
                        </a:defRPr>
                      </a:pPr>
                      <a:r>
                        <a:t>Mois 3</a:t>
                      </a:r>
                    </a:p>
                  </a:txBody>
                  <a:tcPr>
                    <a:solidFill>
                      <a:srgbClr val="F1F5F9"/>
                    </a:solidFill>
                  </a:tcPr>
                </a:tc>
                <a:tc>
                  <a:txBody>
                    <a:bodyPr/>
                    <a:lstStyle/>
                    <a:p>
                      <a:pPr>
                        <a:defRPr sz="1100">
                          <a:solidFill>
                            <a:srgbClr val="1E293B"/>
                          </a:solidFill>
                        </a:defRPr>
                      </a:pPr>
                      <a:r>
                        <a:t>Structurer une session APCA</a:t>
                      </a:r>
                    </a:p>
                  </a:txBody>
                  <a:tcPr>
                    <a:solidFill>
                      <a:srgbClr val="F1F5F9"/>
                    </a:solidFill>
                  </a:tcPr>
                </a:tc>
                <a:tc>
                  <a:txBody>
                    <a:bodyPr/>
                    <a:lstStyle/>
                    <a:p>
                      <a:pPr>
                        <a:defRPr sz="1100">
                          <a:solidFill>
                            <a:srgbClr val="1E293B"/>
                          </a:solidFill>
                        </a:defRPr>
                      </a:pPr>
                      <a:r>
                        <a:t>Préparer une fiche de session</a:t>
                      </a:r>
                    </a:p>
                  </a:txBody>
                  <a:tcPr>
                    <a:solidFill>
                      <a:srgbClr val="F1F5F9"/>
                    </a:solidFill>
                  </a:tcPr>
                </a:tc>
              </a:tr>
              <a:tr h="386861">
                <a:tc>
                  <a:txBody>
                    <a:bodyPr/>
                    <a:lstStyle/>
                    <a:p>
                      <a:pPr>
                        <a:defRPr sz="1100">
                          <a:solidFill>
                            <a:srgbClr val="1E293B"/>
                          </a:solidFill>
                        </a:defRPr>
                      </a:pPr>
                      <a:r>
                        <a:t>11</a:t>
                      </a:r>
                    </a:p>
                  </a:txBody>
                  <a:tcPr>
                    <a:solidFill>
                      <a:srgbClr val="FFFFFF"/>
                    </a:solidFill>
                  </a:tcPr>
                </a:tc>
                <a:tc>
                  <a:txBody>
                    <a:bodyPr/>
                    <a:lstStyle/>
                    <a:p>
                      <a:pPr>
                        <a:defRPr sz="1100">
                          <a:solidFill>
                            <a:srgbClr val="1E293B"/>
                          </a:solidFill>
                        </a:defRPr>
                      </a:pPr>
                      <a:r>
                        <a:t>Mois 3</a:t>
                      </a:r>
                    </a:p>
                  </a:txBody>
                  <a:tcPr>
                    <a:solidFill>
                      <a:srgbClr val="FFFFFF"/>
                    </a:solidFill>
                  </a:tcPr>
                </a:tc>
                <a:tc>
                  <a:txBody>
                    <a:bodyPr/>
                    <a:lstStyle/>
                    <a:p>
                      <a:pPr>
                        <a:defRPr sz="1100">
                          <a:solidFill>
                            <a:srgbClr val="1E293B"/>
                          </a:solidFill>
                        </a:defRPr>
                      </a:pPr>
                      <a:r>
                        <a:t>Pratique supervisée</a:t>
                      </a:r>
                    </a:p>
                  </a:txBody>
                  <a:tcPr>
                    <a:solidFill>
                      <a:srgbClr val="FFFFFF"/>
                    </a:solidFill>
                  </a:tcPr>
                </a:tc>
                <a:tc>
                  <a:txBody>
                    <a:bodyPr/>
                    <a:lstStyle/>
                    <a:p>
                      <a:pPr>
                        <a:defRPr sz="1100">
                          <a:solidFill>
                            <a:srgbClr val="1E293B"/>
                          </a:solidFill>
                        </a:defRPr>
                      </a:pPr>
                      <a:r>
                        <a:t>Chaque stagiaire anime 20 min</a:t>
                      </a:r>
                    </a:p>
                  </a:txBody>
                  <a:tcPr>
                    <a:solidFill>
                      <a:srgbClr val="FFFFFF"/>
                    </a:solidFill>
                  </a:tcPr>
                </a:tc>
              </a:tr>
              <a:tr h="386868">
                <a:tc>
                  <a:txBody>
                    <a:bodyPr/>
                    <a:lstStyle/>
                    <a:p>
                      <a:pPr>
                        <a:defRPr sz="1100">
                          <a:solidFill>
                            <a:srgbClr val="1E293B"/>
                          </a:solidFill>
                        </a:defRPr>
                      </a:pPr>
                      <a:r>
                        <a:t>12</a:t>
                      </a:r>
                    </a:p>
                  </a:txBody>
                  <a:tcPr>
                    <a:solidFill>
                      <a:srgbClr val="F1F5F9"/>
                    </a:solidFill>
                  </a:tcPr>
                </a:tc>
                <a:tc>
                  <a:txBody>
                    <a:bodyPr/>
                    <a:lstStyle/>
                    <a:p>
                      <a:pPr>
                        <a:defRPr sz="1100">
                          <a:solidFill>
                            <a:srgbClr val="1E293B"/>
                          </a:solidFill>
                        </a:defRPr>
                      </a:pPr>
                      <a:r>
                        <a:t>Mois 3</a:t>
                      </a:r>
                    </a:p>
                  </a:txBody>
                  <a:tcPr>
                    <a:solidFill>
                      <a:srgbClr val="F1F5F9"/>
                    </a:solidFill>
                  </a:tcPr>
                </a:tc>
                <a:tc>
                  <a:txBody>
                    <a:bodyPr/>
                    <a:lstStyle/>
                    <a:p>
                      <a:pPr>
                        <a:defRPr sz="1100">
                          <a:solidFill>
                            <a:srgbClr val="1E293B"/>
                          </a:solidFill>
                        </a:defRPr>
                      </a:pPr>
                      <a:r>
                        <a:t>Plan d'action communautaire</a:t>
                      </a:r>
                    </a:p>
                  </a:txBody>
                  <a:tcPr>
                    <a:solidFill>
                      <a:srgbClr val="F1F5F9"/>
                    </a:solidFill>
                  </a:tcPr>
                </a:tc>
                <a:tc>
                  <a:txBody>
                    <a:bodyPr/>
                    <a:lstStyle/>
                    <a:p>
                      <a:pPr>
                        <a:defRPr sz="1100">
                          <a:solidFill>
                            <a:srgbClr val="1E293B"/>
                          </a:solidFill>
                        </a:defRPr>
                      </a:pPr>
                      <a:r>
                        <a:t>Engagement collectif</a:t>
                      </a:r>
                    </a:p>
                  </a:txBody>
                  <a:tcPr>
                    <a:solidFill>
                      <a:srgbClr val="F1F5F9"/>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Approche andragogique : 5 principes</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1. L'adulte a besoin de savoir POURQUOI — Commencer par un problème concret</a:t>
            </a:r>
          </a:p>
          <a:p>
            <a:pPr>
              <a:spcBef>
                <a:spcPts val="400"/>
              </a:spcBef>
              <a:defRPr sz="1600">
                <a:solidFill>
                  <a:srgbClr val="1E293B"/>
                </a:solidFill>
              </a:defRPr>
            </a:pPr>
            <a:r>
              <a:t>2. L'adulte apporte son expérience — Faire parler les anciens d'abord</a:t>
            </a:r>
          </a:p>
          <a:p>
            <a:pPr>
              <a:spcBef>
                <a:spcPts val="400"/>
              </a:spcBef>
              <a:defRPr sz="1600">
                <a:solidFill>
                  <a:srgbClr val="1E293B"/>
                </a:solidFill>
              </a:defRPr>
            </a:pPr>
            <a:r>
              <a:t>3. L'adulte veut décider lui-même — Proposer, ne jamais imposer</a:t>
            </a:r>
          </a:p>
          <a:p>
            <a:pPr>
              <a:spcBef>
                <a:spcPts val="400"/>
              </a:spcBef>
              <a:defRPr sz="1600">
                <a:solidFill>
                  <a:srgbClr val="1E293B"/>
                </a:solidFill>
              </a:defRPr>
            </a:pPr>
            <a:r>
              <a:t>4. L'adulte apprend pour résoudre un problème immédiat</a:t>
            </a:r>
          </a:p>
          <a:p>
            <a:pPr>
              <a:spcBef>
                <a:spcPts val="400"/>
              </a:spcBef>
              <a:defRPr sz="1600">
                <a:solidFill>
                  <a:srgbClr val="1E293B"/>
                </a:solidFill>
              </a:defRPr>
            </a:pPr>
            <a:r>
              <a:t>5. L'adulte est motivé par des résultats concrets</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0D9488"/>
                </a:solidFill>
              </a:defRPr>
            </a:pPr>
            <a:r>
              <a:t>Règle d'or du facilitateur</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Le formateur parle 20% du temps maximum. Les 80% restants, ce sont les participants qui parlent, réfléchissent, calculent et échangent entre eux.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 cycle APCA — Canevas de chaque session</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 — ACCROCHE (15 min) : Problème vécu, histoire, question provocante</a:t>
            </a:r>
          </a:p>
          <a:p>
            <a:pPr>
              <a:spcBef>
                <a:spcPts val="400"/>
              </a:spcBef>
              <a:defRPr sz="1600">
                <a:solidFill>
                  <a:srgbClr val="1E293B"/>
                </a:solidFill>
              </a:defRPr>
            </a:pPr>
          </a:p>
          <a:p>
            <a:pPr>
              <a:spcBef>
                <a:spcPts val="400"/>
              </a:spcBef>
              <a:defRPr sz="1600">
                <a:solidFill>
                  <a:srgbClr val="1E293B"/>
                </a:solidFill>
              </a:defRPr>
            </a:pPr>
            <a:r>
              <a:t>P — PRATIQUE (60 min) : Activité participative (cailloux, jeu de rôle, calcul)</a:t>
            </a:r>
          </a:p>
          <a:p>
            <a:pPr>
              <a:spcBef>
                <a:spcPts val="400"/>
              </a:spcBef>
              <a:defRPr sz="1600">
                <a:solidFill>
                  <a:srgbClr val="1E293B"/>
                </a:solidFill>
              </a:defRPr>
            </a:pPr>
          </a:p>
          <a:p>
            <a:pPr>
              <a:spcBef>
                <a:spcPts val="400"/>
              </a:spcBef>
              <a:defRPr sz="1600">
                <a:solidFill>
                  <a:srgbClr val="1E293B"/>
                </a:solidFill>
              </a:defRPr>
            </a:pPr>
            <a:r>
              <a:t>C — CONCEPTUALISATION (20 min) : Le GROUPE formule la leçon — pas le formateur</a:t>
            </a:r>
          </a:p>
          <a:p>
            <a:pPr>
              <a:spcBef>
                <a:spcPts val="400"/>
              </a:spcBef>
              <a:defRPr sz="1600">
                <a:solidFill>
                  <a:srgbClr val="1E293B"/>
                </a:solidFill>
              </a:defRPr>
            </a:pPr>
          </a:p>
          <a:p>
            <a:pPr>
              <a:spcBef>
                <a:spcPts val="400"/>
              </a:spcBef>
              <a:defRPr sz="1600">
                <a:solidFill>
                  <a:srgbClr val="1E293B"/>
                </a:solidFill>
              </a:defRPr>
            </a:pPr>
            <a:r>
              <a:t>A — ACTION (15 min) : Engagement concret avant la prochaine session</a:t>
            </a:r>
          </a:p>
          <a:p>
            <a:pPr>
              <a:spcBef>
                <a:spcPts val="400"/>
              </a:spcBef>
              <a:defRPr sz="1600">
                <a:solidFill>
                  <a:srgbClr val="1E293B"/>
                </a:solidFill>
              </a:defRPr>
            </a:pPr>
          </a:p>
          <a:p>
            <a:pPr>
              <a:spcBef>
                <a:spcPts val="400"/>
              </a:spcBef>
              <a:defRPr sz="1600">
                <a:solidFill>
                  <a:srgbClr val="1E293B"/>
                </a:solidFill>
              </a:defRPr>
            </a:pPr>
            <a:r>
              <a:t>Durée totale : 2h maximum.</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2563EB"/>
                </a:solidFill>
              </a:defRPr>
            </a:pPr>
            <a:r>
              <a:t>Pourquoi APCA ?</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Les adultes retiennent 20% de ce qu'ils entendent, 50% de ce qu'ils voient, mais 80% de ce qu'ils FONT.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914400"/>
          </a:xfrm>
          <a:prstGeom prst="rect">
            <a:avLst/>
          </a:prstGeom>
          <a:noFill/>
        </p:spPr>
        <p:txBody>
          <a:bodyPr wrap="square">
            <a:spAutoFit/>
          </a:bodyPr>
          <a:lstStyle/>
          <a:p>
            <a:pPr algn="ctr">
              <a:defRPr sz="3600" b="1">
                <a:solidFill>
                  <a:srgbClr val="0D9488"/>
                </a:solidFill>
              </a:defRPr>
            </a:pPr>
            <a:r>
              <a:t>MOIS 1</a:t>
            </a:r>
          </a:p>
        </p:txBody>
      </p:sp>
      <p:sp>
        <p:nvSpPr>
          <p:cNvPr id="4" name="TextBox 3"/>
          <p:cNvSpPr txBox="1"/>
          <p:nvPr/>
        </p:nvSpPr>
        <p:spPr>
          <a:xfrm>
            <a:off x="914400" y="3474720"/>
            <a:ext cx="10332720" cy="914400"/>
          </a:xfrm>
          <a:prstGeom prst="rect">
            <a:avLst/>
          </a:prstGeom>
          <a:noFill/>
        </p:spPr>
        <p:txBody>
          <a:bodyPr wrap="square">
            <a:spAutoFit/>
          </a:bodyPr>
          <a:lstStyle/>
          <a:p>
            <a:pPr algn="ctr">
              <a:defRPr sz="2000" b="0">
                <a:solidFill>
                  <a:srgbClr val="64748B"/>
                </a:solidFill>
              </a:defRPr>
            </a:pPr>
            <a:r>
              <a:t>Comprendre l'argent du paysan — Semaines 1 à 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1</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1</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Posture du formateur-animateur en milieu rural</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  |  Matériel : cercle de chaises, images parlantes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Vous n'êtes pas un professeur, vous êtes un facilitateur</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Les paysans ont 20-40 ans d'expérience. Ils savent déjà beaucoup.</a:t>
            </a:r>
          </a:p>
          <a:p>
            <a:pPr>
              <a:spcBef>
                <a:spcPts val="400"/>
              </a:spcBef>
              <a:defRPr sz="1600">
                <a:solidFill>
                  <a:srgbClr val="1E293B"/>
                </a:solidFill>
              </a:defRPr>
            </a:pPr>
            <a:r>
              <a:t>Votre rôle : faciliter la prise de conscience, PAS enseigner.</a:t>
            </a:r>
          </a:p>
          <a:p>
            <a:pPr>
              <a:spcBef>
                <a:spcPts val="400"/>
              </a:spcBef>
              <a:defRPr sz="1600">
                <a:solidFill>
                  <a:srgbClr val="1E293B"/>
                </a:solidFill>
              </a:defRPr>
            </a:pPr>
          </a:p>
          <a:p>
            <a:pPr>
              <a:spcBef>
                <a:spcPts val="400"/>
              </a:spcBef>
              <a:defRPr sz="1600">
                <a:solidFill>
                  <a:srgbClr val="1E293B"/>
                </a:solidFill>
              </a:defRPr>
            </a:pPr>
            <a:r>
              <a:t>Boîte à outils du facilitateur :</a:t>
            </a:r>
          </a:p>
          <a:p>
            <a:pPr>
              <a:spcBef>
                <a:spcPts val="400"/>
              </a:spcBef>
              <a:defRPr sz="1600">
                <a:solidFill>
                  <a:srgbClr val="1E293B"/>
                </a:solidFill>
              </a:defRPr>
            </a:pPr>
            <a:r>
              <a:t>  • L'arbre à problèmes — dessiner causes/conséquences au sol</a:t>
            </a:r>
          </a:p>
          <a:p>
            <a:pPr>
              <a:spcBef>
                <a:spcPts val="400"/>
              </a:spcBef>
              <a:defRPr sz="1600">
                <a:solidFill>
                  <a:srgbClr val="1E293B"/>
                </a:solidFill>
              </a:defRPr>
            </a:pPr>
            <a:r>
              <a:t>  • Le cercle de parole — chacun parle à son tour</a:t>
            </a:r>
          </a:p>
          <a:p>
            <a:pPr>
              <a:spcBef>
                <a:spcPts val="400"/>
              </a:spcBef>
              <a:defRPr sz="1600">
                <a:solidFill>
                  <a:srgbClr val="1E293B"/>
                </a:solidFill>
              </a:defRPr>
            </a:pPr>
            <a:r>
              <a:t>  • Les images parlantes — dessins sans texte</a:t>
            </a:r>
          </a:p>
          <a:p>
            <a:pPr>
              <a:spcBef>
                <a:spcPts val="400"/>
              </a:spcBef>
              <a:defRPr sz="1600">
                <a:solidFill>
                  <a:srgbClr val="1E293B"/>
                </a:solidFill>
              </a:defRPr>
            </a:pPr>
            <a:r>
              <a:t>  • Le jeu de rôle — simuler des situations financières</a:t>
            </a:r>
          </a:p>
          <a:p>
            <a:pPr>
              <a:spcBef>
                <a:spcPts val="400"/>
              </a:spcBef>
              <a:defRPr sz="1600">
                <a:solidFill>
                  <a:srgbClr val="1E293B"/>
                </a:solidFill>
              </a:defRPr>
            </a:pPr>
            <a:r>
              <a:t>  • Les cailloux/graines — compter, représenter, répartir</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D97706"/>
                </a:solidFill>
              </a:defRPr>
            </a:pPr>
            <a:r>
              <a:t>Le piège du débutant</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Un formateur arrive avec des PowerPoint et du jargon comptable. Les paysans s'ennuient et ne reviennent pas. Ce qui marche : s'asseoir sous l'arbre à palabres, écouter d'abord.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Un formateur rural efficace consacre quelle proportion du temps à écouter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20% écoute, 80% cours</a:t>
            </a:r>
          </a:p>
        </p:txBody>
      </p:sp>
      <p:sp>
        <p:nvSpPr>
          <p:cNvPr id="9" name="Rectangle 8"/>
          <p:cNvSpPr/>
          <p:nvPr/>
        </p:nvSpPr>
        <p:spPr>
          <a:xfrm>
            <a:off x="1097280" y="333756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0">
                <a:solidFill>
                  <a:srgbClr val="1E293B"/>
                </a:solidFill>
              </a:defRPr>
            </a:pPr>
            <a:r>
              <a:t>B.  50/50</a:t>
            </a:r>
          </a:p>
        </p:txBody>
      </p:sp>
      <p:sp>
        <p:nvSpPr>
          <p:cNvPr id="11" name="Rectangle 10"/>
          <p:cNvSpPr/>
          <p:nvPr/>
        </p:nvSpPr>
        <p:spPr>
          <a:xfrm>
            <a:off x="1097280" y="420624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1">
                <a:solidFill>
                  <a:srgbClr val="FFFFFF"/>
                </a:solidFill>
              </a:defRPr>
            </a:pPr>
            <a:r>
              <a:t>C.  80% écoute et facilitation, 20% apport</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100% cours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2</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2</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D'où vient et où va l'argent du paysan ?</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  |  Matériel : sol sableux, cailloux 2 couleurs, bâton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Activité terrain : la carte des flux d'argent</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1. Grand cercle au sol = la famille / le ménage</a:t>
            </a:r>
          </a:p>
          <a:p>
            <a:pPr>
              <a:spcBef>
                <a:spcPts val="400"/>
              </a:spcBef>
              <a:defRPr sz="1600">
                <a:solidFill>
                  <a:srgbClr val="1E293B"/>
                </a:solidFill>
              </a:defRPr>
            </a:pPr>
            <a:r>
              <a:t>2. « D'où vient l'argent ? » — cailloux verts ENTRANTS</a:t>
            </a:r>
          </a:p>
          <a:p>
            <a:pPr>
              <a:spcBef>
                <a:spcPts val="400"/>
              </a:spcBef>
              <a:defRPr sz="1600">
                <a:solidFill>
                  <a:srgbClr val="1E293B"/>
                </a:solidFill>
              </a:defRPr>
            </a:pPr>
            <a:r>
              <a:t>3. « Où part l'argent ? » — cailloux rouges SORTANTS</a:t>
            </a:r>
          </a:p>
          <a:p>
            <a:pPr>
              <a:spcBef>
                <a:spcPts val="400"/>
              </a:spcBef>
              <a:defRPr sz="1600">
                <a:solidFill>
                  <a:srgbClr val="1E293B"/>
                </a:solidFill>
              </a:defRPr>
            </a:pPr>
            <a:r>
              <a:t>4. Le groupe débat et complète</a:t>
            </a:r>
          </a:p>
          <a:p>
            <a:pPr>
              <a:spcBef>
                <a:spcPts val="400"/>
              </a:spcBef>
              <a:defRPr sz="1600">
                <a:solidFill>
                  <a:srgbClr val="1E293B"/>
                </a:solidFill>
              </a:defRPr>
            </a:pPr>
          </a:p>
          <a:p>
            <a:pPr>
              <a:spcBef>
                <a:spcPts val="400"/>
              </a:spcBef>
              <a:defRPr sz="1600">
                <a:solidFill>
                  <a:srgbClr val="1E293B"/>
                </a:solidFill>
              </a:defRPr>
            </a:pPr>
            <a:r>
              <a:t>4 sources de revenus typiques :</a:t>
            </a:r>
          </a:p>
          <a:p>
            <a:pPr>
              <a:spcBef>
                <a:spcPts val="400"/>
              </a:spcBef>
              <a:defRPr sz="1600">
                <a:solidFill>
                  <a:srgbClr val="1E293B"/>
                </a:solidFill>
              </a:defRPr>
            </a:pPr>
            <a:r>
              <a:t>  • Vente de récolte (1-2x/an, gros montant)</a:t>
            </a:r>
          </a:p>
          <a:p>
            <a:pPr>
              <a:spcBef>
                <a:spcPts val="400"/>
              </a:spcBef>
              <a:defRPr sz="1600">
                <a:solidFill>
                  <a:srgbClr val="1E293B"/>
                </a:solidFill>
              </a:defRPr>
            </a:pPr>
            <a:r>
              <a:t>  • Petit commerce (quotidien, petits montants)</a:t>
            </a:r>
          </a:p>
          <a:p>
            <a:pPr>
              <a:spcBef>
                <a:spcPts val="400"/>
              </a:spcBef>
              <a:defRPr sz="1600">
                <a:solidFill>
                  <a:srgbClr val="1E293B"/>
                </a:solidFill>
              </a:defRPr>
            </a:pPr>
            <a:r>
              <a:t>  • Travail journalier (saisonnier, variable)</a:t>
            </a:r>
          </a:p>
          <a:p>
            <a:pPr>
              <a:spcBef>
                <a:spcPts val="400"/>
              </a:spcBef>
              <a:defRPr sz="1600">
                <a:solidFill>
                  <a:srgbClr val="1E293B"/>
                </a:solidFill>
              </a:defRPr>
            </a:pPr>
            <a:r>
              <a:t>  • Transferts diaspora (irrégulier)</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2563EB"/>
                </a:solidFill>
              </a:defRPr>
            </a:pPr>
            <a:r>
              <a:t>Le problème fondamental</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Les REVENUS sont saisonniers mais les DÉPENSES sont permanentes. Le paysan traverse 7-9 mois de déficit chaque année.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Quel problème l'activité des cailloux fait-elle apparaître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Il ne gagne pas assez</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Revenus saisonniers mais dépenses permanentes</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Trop de cérémonies</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Il ne sait pas compter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3</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3</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Construire un budget familial avec les paysans</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3h  |  Matériel : graines (maïs, haricots), 12 cuvettes, feuille A3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L'outil central : le budget en tas de graines</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1. 12 tas de sable en ligne = janvier à décembre</a:t>
            </a:r>
          </a:p>
          <a:p>
            <a:pPr>
              <a:spcBef>
                <a:spcPts val="400"/>
              </a:spcBef>
              <a:defRPr sz="1600">
                <a:solidFill>
                  <a:srgbClr val="1E293B"/>
                </a:solidFill>
              </a:defRPr>
            </a:pPr>
            <a:r>
              <a:t>2. 100 graines de maïs = tout l'argent gagné en un an</a:t>
            </a:r>
          </a:p>
          <a:p>
            <a:pPr>
              <a:spcBef>
                <a:spcPts val="400"/>
              </a:spcBef>
              <a:defRPr sz="1600">
                <a:solidFill>
                  <a:srgbClr val="1E293B"/>
                </a:solidFill>
              </a:defRPr>
            </a:pPr>
            <a:r>
              <a:t>3. « Répartissez dans les mois où vous recevez de l'argent »</a:t>
            </a:r>
          </a:p>
          <a:p>
            <a:pPr>
              <a:spcBef>
                <a:spcPts val="400"/>
              </a:spcBef>
              <a:defRPr sz="1600">
                <a:solidFill>
                  <a:srgbClr val="1E293B"/>
                </a:solidFill>
              </a:defRPr>
            </a:pPr>
            <a:r>
              <a:t>4. 100 graines de haricots = les dépenses par mois</a:t>
            </a:r>
          </a:p>
          <a:p>
            <a:pPr>
              <a:spcBef>
                <a:spcPts val="400"/>
              </a:spcBef>
              <a:defRPr sz="1600">
                <a:solidFill>
                  <a:srgbClr val="1E293B"/>
                </a:solidFill>
              </a:defRPr>
            </a:pPr>
            <a:r>
              <a:t>5. Le paysan VOIT les mois de galère</a:t>
            </a:r>
          </a:p>
          <a:p>
            <a:pPr>
              <a:spcBef>
                <a:spcPts val="400"/>
              </a:spcBef>
              <a:defRPr sz="1600">
                <a:solidFill>
                  <a:srgbClr val="1E293B"/>
                </a:solidFill>
              </a:defRPr>
            </a:pPr>
          </a:p>
          <a:p>
            <a:pPr>
              <a:spcBef>
                <a:spcPts val="400"/>
              </a:spcBef>
              <a:defRPr sz="1600">
                <a:solidFill>
                  <a:srgbClr val="1E293B"/>
                </a:solidFill>
              </a:defRPr>
            </a:pPr>
            <a:r>
              <a:t>Puis tableau papier simplifié :</a:t>
            </a:r>
          </a:p>
          <a:p>
            <a:pPr>
              <a:spcBef>
                <a:spcPts val="400"/>
              </a:spcBef>
              <a:defRPr sz="1600">
                <a:solidFill>
                  <a:srgbClr val="1E293B"/>
                </a:solidFill>
              </a:defRPr>
            </a:pPr>
            <a:r>
              <a:t>  Mois | Ce qui rentre | Ce qui sort | Il reste</a:t>
            </a:r>
          </a:p>
          <a:p>
            <a:pPr>
              <a:spcBef>
                <a:spcPts val="400"/>
              </a:spcBef>
              <a:defRPr sz="1600">
                <a:solidFill>
                  <a:srgbClr val="1E293B"/>
                </a:solidFill>
              </a:defRPr>
            </a:pPr>
          </a:p>
          <a:p>
            <a:pPr>
              <a:spcBef>
                <a:spcPts val="400"/>
              </a:spcBef>
              <a:defRPr sz="1600">
                <a:solidFill>
                  <a:srgbClr val="1E293B"/>
                </a:solidFill>
              </a:defRPr>
            </a:pPr>
            <a:r>
              <a:t>Les montants viennent DU PAYSAN, pas de vous.</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2563EB"/>
                </a:solidFill>
              </a:defRPr>
            </a:pPr>
            <a:r>
              <a:t>Témoignage terrain (Mali)</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 Quand Mamadou a vu que pendant 7 mois il avait plus de haricots que de maïs, il a dit : Ah, c'est pour ça qu'on souffre ! Il le vivait mais ne l'avait jamais VU.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Pourquoi utiliser des graines plutôt qu'un tableau écrit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C'est moins cher</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Les non-alphabétisés participent et VOIENT le déséquilibre</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Plus joli</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C'est obligatoire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4</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4</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L'épargne paysanne : tontines, AVEC et stratégies locales</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2h30  |  Matériel : dessins, graines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Les paysans épargnent DÉJÀ — mais comment ?</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Tour de cercle : « Où gardez-vous votre argent ? »</a:t>
            </a:r>
          </a:p>
          <a:p>
            <a:pPr>
              <a:spcBef>
                <a:spcPts val="400"/>
              </a:spcBef>
              <a:defRPr sz="1600">
                <a:solidFill>
                  <a:srgbClr val="1E293B"/>
                </a:solidFill>
              </a:defRPr>
            </a:pPr>
            <a:r>
              <a:t>  • Sous le matelas / pot enterré</a:t>
            </a:r>
          </a:p>
          <a:p>
            <a:pPr>
              <a:spcBef>
                <a:spcPts val="400"/>
              </a:spcBef>
              <a:defRPr sz="1600">
                <a:solidFill>
                  <a:srgbClr val="1E293B"/>
                </a:solidFill>
              </a:defRPr>
            </a:pPr>
            <a:r>
              <a:t>  • Grenier (stock grain = épargne en nature !)</a:t>
            </a:r>
          </a:p>
          <a:p>
            <a:pPr>
              <a:spcBef>
                <a:spcPts val="400"/>
              </a:spcBef>
              <a:defRPr sz="1600">
                <a:solidFill>
                  <a:srgbClr val="1E293B"/>
                </a:solidFill>
              </a:defRPr>
            </a:pPr>
            <a:r>
              <a:t>  • Tontine du village</a:t>
            </a:r>
          </a:p>
          <a:p>
            <a:pPr>
              <a:spcBef>
                <a:spcPts val="400"/>
              </a:spcBef>
              <a:defRPr sz="1600">
                <a:solidFill>
                  <a:srgbClr val="1E293B"/>
                </a:solidFill>
              </a:defRPr>
            </a:pPr>
            <a:r>
              <a:t>  • Mobile money</a:t>
            </a:r>
          </a:p>
          <a:p>
            <a:pPr>
              <a:spcBef>
                <a:spcPts val="400"/>
              </a:spcBef>
              <a:defRPr sz="1600">
                <a:solidFill>
                  <a:srgbClr val="1E293B"/>
                </a:solidFill>
              </a:defRPr>
            </a:pPr>
          </a:p>
          <a:p>
            <a:pPr>
              <a:spcBef>
                <a:spcPts val="400"/>
              </a:spcBef>
              <a:defRPr sz="1600">
                <a:solidFill>
                  <a:srgbClr val="1E293B"/>
                </a:solidFill>
              </a:defRPr>
            </a:pPr>
            <a:r>
              <a:t>La tontine : 10 membres × 5 000 FCFA/semaine</a:t>
            </a:r>
          </a:p>
          <a:p>
            <a:pPr>
              <a:spcBef>
                <a:spcPts val="400"/>
              </a:spcBef>
              <a:defRPr sz="1600">
                <a:solidFill>
                  <a:srgbClr val="1E293B"/>
                </a:solidFill>
              </a:defRPr>
            </a:pPr>
            <a:r>
              <a:t>  = 50 000 FCFA pour 1 membre chaque semaine</a:t>
            </a:r>
          </a:p>
          <a:p>
            <a:pPr>
              <a:spcBef>
                <a:spcPts val="400"/>
              </a:spcBef>
              <a:defRPr sz="1600">
                <a:solidFill>
                  <a:srgbClr val="1E293B"/>
                </a:solidFill>
              </a:defRPr>
            </a:pPr>
          </a:p>
          <a:p>
            <a:pPr>
              <a:spcBef>
                <a:spcPts val="400"/>
              </a:spcBef>
              <a:defRPr sz="1600">
                <a:solidFill>
                  <a:srgbClr val="1E293B"/>
                </a:solidFill>
              </a:defRPr>
            </a:pPr>
            <a:r>
              <a:t>Simulation : 10 volontaires en cercle avec des graines</a:t>
            </a:r>
          </a:p>
          <a:p>
            <a:pPr>
              <a:spcBef>
                <a:spcPts val="400"/>
              </a:spcBef>
              <a:defRPr sz="1600">
                <a:solidFill>
                  <a:srgbClr val="1E293B"/>
                </a:solidFill>
              </a:defRPr>
            </a:pPr>
            <a:r>
              <a:t>Question : « À quoi sert la tontine si on reçoit ce qu'on donne ? »</a:t>
            </a:r>
          </a:p>
          <a:p>
            <a:pPr>
              <a:spcBef>
                <a:spcPts val="400"/>
              </a:spcBef>
              <a:defRPr sz="1600">
                <a:solidFill>
                  <a:srgbClr val="1E293B"/>
                </a:solidFill>
              </a:defRPr>
            </a:pPr>
            <a:r>
              <a:t>Réponse du groupe : Elle FORCE l'épargne et donne un gros montant d'un coup.</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0D9488"/>
                </a:solidFill>
              </a:defRPr>
            </a:pPr>
            <a:r>
              <a:t>Le grenier = un compte épargne</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Stocker du mil à 250 FCFA/kg en novembre, revendre à 400 FCFA/kg en juillet. Rendement de 60% ! VALORISEZ cette intelligence paysanne.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Comparaison des formes d'épargne</a:t>
            </a:r>
          </a:p>
        </p:txBody>
      </p:sp>
      <p:graphicFrame>
        <p:nvGraphicFramePr>
          <p:cNvPr id="4" name="Table 3"/>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743200"/>
                <a:gridCol w="2743200"/>
                <a:gridCol w="2743200"/>
              </a:tblGrid>
              <a:tr h="457200">
                <a:tc>
                  <a:txBody>
                    <a:bodyPr/>
                    <a:lstStyle/>
                    <a:p>
                      <a:pPr>
                        <a:defRPr sz="1200" b="1">
                          <a:solidFill>
                            <a:srgbClr val="FFFFFF"/>
                          </a:solidFill>
                        </a:defRPr>
                      </a:pPr>
                      <a:r>
                        <a:t>Type</a:t>
                      </a:r>
                    </a:p>
                  </a:txBody>
                  <a:tcPr>
                    <a:solidFill>
                      <a:srgbClr val="0D9488"/>
                    </a:solidFill>
                  </a:tcPr>
                </a:tc>
                <a:tc>
                  <a:txBody>
                    <a:bodyPr/>
                    <a:lstStyle/>
                    <a:p>
                      <a:pPr>
                        <a:defRPr sz="1200" b="1">
                          <a:solidFill>
                            <a:srgbClr val="FFFFFF"/>
                          </a:solidFill>
                        </a:defRPr>
                      </a:pPr>
                      <a:r>
                        <a:t>Avantage</a:t>
                      </a:r>
                    </a:p>
                  </a:txBody>
                  <a:tcPr>
                    <a:solidFill>
                      <a:srgbClr val="0D9488"/>
                    </a:solidFill>
                  </a:tcPr>
                </a:tc>
                <a:tc>
                  <a:txBody>
                    <a:bodyPr/>
                    <a:lstStyle/>
                    <a:p>
                      <a:pPr>
                        <a:defRPr sz="1200" b="1">
                          <a:solidFill>
                            <a:srgbClr val="FFFFFF"/>
                          </a:solidFill>
                        </a:defRPr>
                      </a:pPr>
                      <a:r>
                        <a:t>Risque</a:t>
                      </a:r>
                    </a:p>
                  </a:txBody>
                  <a:tcPr>
                    <a:solidFill>
                      <a:srgbClr val="0D9488"/>
                    </a:solidFill>
                  </a:tcPr>
                </a:tc>
              </a:tr>
              <a:tr h="457200">
                <a:tc>
                  <a:txBody>
                    <a:bodyPr/>
                    <a:lstStyle/>
                    <a:p>
                      <a:pPr>
                        <a:defRPr sz="1100">
                          <a:solidFill>
                            <a:srgbClr val="1E293B"/>
                          </a:solidFill>
                        </a:defRPr>
                      </a:pPr>
                      <a:r>
                        <a:t>Sous le matelas</a:t>
                      </a:r>
                    </a:p>
                  </a:txBody>
                  <a:tcPr>
                    <a:solidFill>
                      <a:srgbClr val="FFFFFF"/>
                    </a:solidFill>
                  </a:tcPr>
                </a:tc>
                <a:tc>
                  <a:txBody>
                    <a:bodyPr/>
                    <a:lstStyle/>
                    <a:p>
                      <a:pPr>
                        <a:defRPr sz="1100">
                          <a:solidFill>
                            <a:srgbClr val="1E293B"/>
                          </a:solidFill>
                        </a:defRPr>
                      </a:pPr>
                      <a:r>
                        <a:t>Disponible immédiatement</a:t>
                      </a:r>
                    </a:p>
                  </a:txBody>
                  <a:tcPr>
                    <a:solidFill>
                      <a:srgbClr val="FFFFFF"/>
                    </a:solidFill>
                  </a:tcPr>
                </a:tc>
                <a:tc>
                  <a:txBody>
                    <a:bodyPr/>
                    <a:lstStyle/>
                    <a:p>
                      <a:pPr>
                        <a:defRPr sz="1100">
                          <a:solidFill>
                            <a:srgbClr val="1E293B"/>
                          </a:solidFill>
                        </a:defRPr>
                      </a:pPr>
                      <a:r>
                        <a:t>Vol, tentation</a:t>
                      </a:r>
                    </a:p>
                  </a:txBody>
                  <a:tcPr>
                    <a:solidFill>
                      <a:srgbClr val="FFFFFF"/>
                    </a:solidFill>
                  </a:tcPr>
                </a:tc>
              </a:tr>
              <a:tr h="457200">
                <a:tc>
                  <a:txBody>
                    <a:bodyPr/>
                    <a:lstStyle/>
                    <a:p>
                      <a:pPr>
                        <a:defRPr sz="1100">
                          <a:solidFill>
                            <a:srgbClr val="1E293B"/>
                          </a:solidFill>
                        </a:defRPr>
                      </a:pPr>
                      <a:r>
                        <a:t>Grenier (stock grain)</a:t>
                      </a:r>
                    </a:p>
                  </a:txBody>
                  <a:tcPr>
                    <a:solidFill>
                      <a:srgbClr val="F1F5F9"/>
                    </a:solidFill>
                  </a:tcPr>
                </a:tc>
                <a:tc>
                  <a:txBody>
                    <a:bodyPr/>
                    <a:lstStyle/>
                    <a:p>
                      <a:pPr>
                        <a:defRPr sz="1100">
                          <a:solidFill>
                            <a:srgbClr val="1E293B"/>
                          </a:solidFill>
                        </a:defRPr>
                      </a:pPr>
                      <a:r>
                        <a:t>+60% de valeur en 6 mois</a:t>
                      </a:r>
                    </a:p>
                  </a:txBody>
                  <a:tcPr>
                    <a:solidFill>
                      <a:srgbClr val="F1F5F9"/>
                    </a:solidFill>
                  </a:tcPr>
                </a:tc>
                <a:tc>
                  <a:txBody>
                    <a:bodyPr/>
                    <a:lstStyle/>
                    <a:p>
                      <a:pPr>
                        <a:defRPr sz="1100">
                          <a:solidFill>
                            <a:srgbClr val="1E293B"/>
                          </a:solidFill>
                        </a:defRPr>
                      </a:pPr>
                      <a:r>
                        <a:t>Insectes, incendie</a:t>
                      </a:r>
                    </a:p>
                  </a:txBody>
                  <a:tcPr>
                    <a:solidFill>
                      <a:srgbClr val="F1F5F9"/>
                    </a:solidFill>
                  </a:tcPr>
                </a:tc>
              </a:tr>
              <a:tr h="457200">
                <a:tc>
                  <a:txBody>
                    <a:bodyPr/>
                    <a:lstStyle/>
                    <a:p>
                      <a:pPr>
                        <a:defRPr sz="1100">
                          <a:solidFill>
                            <a:srgbClr val="1E293B"/>
                          </a:solidFill>
                        </a:defRPr>
                      </a:pPr>
                      <a:r>
                        <a:t>Tontine simple</a:t>
                      </a:r>
                    </a:p>
                  </a:txBody>
                  <a:tcPr>
                    <a:solidFill>
                      <a:srgbClr val="FFFFFF"/>
                    </a:solidFill>
                  </a:tcPr>
                </a:tc>
                <a:tc>
                  <a:txBody>
                    <a:bodyPr/>
                    <a:lstStyle/>
                    <a:p>
                      <a:pPr>
                        <a:defRPr sz="1100">
                          <a:solidFill>
                            <a:srgbClr val="1E293B"/>
                          </a:solidFill>
                        </a:defRPr>
                      </a:pPr>
                      <a:r>
                        <a:t>Force l'épargne</a:t>
                      </a:r>
                    </a:p>
                  </a:txBody>
                  <a:tcPr>
                    <a:solidFill>
                      <a:srgbClr val="FFFFFF"/>
                    </a:solidFill>
                  </a:tcPr>
                </a:tc>
                <a:tc>
                  <a:txBody>
                    <a:bodyPr/>
                    <a:lstStyle/>
                    <a:p>
                      <a:pPr>
                        <a:defRPr sz="1100">
                          <a:solidFill>
                            <a:srgbClr val="1E293B"/>
                          </a:solidFill>
                        </a:defRPr>
                      </a:pPr>
                      <a:r>
                        <a:t>Défaillance d'un membre</a:t>
                      </a:r>
                    </a:p>
                  </a:txBody>
                  <a:tcPr>
                    <a:solidFill>
                      <a:srgbClr val="FFFFFF"/>
                    </a:solidFill>
                  </a:tcPr>
                </a:tc>
              </a:tr>
              <a:tr h="457200">
                <a:tc>
                  <a:txBody>
                    <a:bodyPr/>
                    <a:lstStyle/>
                    <a:p>
                      <a:pPr>
                        <a:defRPr sz="1100">
                          <a:solidFill>
                            <a:srgbClr val="1E293B"/>
                          </a:solidFill>
                        </a:defRPr>
                      </a:pPr>
                      <a:r>
                        <a:t>AVEC / VSLA</a:t>
                      </a:r>
                    </a:p>
                  </a:txBody>
                  <a:tcPr>
                    <a:solidFill>
                      <a:srgbClr val="F1F5F9"/>
                    </a:solidFill>
                  </a:tcPr>
                </a:tc>
                <a:tc>
                  <a:txBody>
                    <a:bodyPr/>
                    <a:lstStyle/>
                    <a:p>
                      <a:pPr>
                        <a:defRPr sz="1100">
                          <a:solidFill>
                            <a:srgbClr val="1E293B"/>
                          </a:solidFill>
                        </a:defRPr>
                      </a:pPr>
                      <a:r>
                        <a:t>Épargne + crédit + fonds social</a:t>
                      </a:r>
                    </a:p>
                  </a:txBody>
                  <a:tcPr>
                    <a:solidFill>
                      <a:srgbClr val="F1F5F9"/>
                    </a:solidFill>
                  </a:tcPr>
                </a:tc>
                <a:tc>
                  <a:txBody>
                    <a:bodyPr/>
                    <a:lstStyle/>
                    <a:p>
                      <a:pPr>
                        <a:defRPr sz="1100">
                          <a:solidFill>
                            <a:srgbClr val="1E293B"/>
                          </a:solidFill>
                        </a:defRPr>
                      </a:pPr>
                      <a:r>
                        <a:t>Nécessite formation</a:t>
                      </a:r>
                    </a:p>
                  </a:txBody>
                  <a:tcPr>
                    <a:solidFill>
                      <a:srgbClr val="F1F5F9"/>
                    </a:solidFill>
                  </a:tcPr>
                </a:tc>
              </a:tr>
              <a:tr h="457200">
                <a:tc>
                  <a:txBody>
                    <a:bodyPr/>
                    <a:lstStyle/>
                    <a:p>
                      <a:pPr>
                        <a:defRPr sz="1100">
                          <a:solidFill>
                            <a:srgbClr val="1E293B"/>
                          </a:solidFill>
                        </a:defRPr>
                      </a:pPr>
                      <a:r>
                        <a:t>Mobile money</a:t>
                      </a:r>
                    </a:p>
                  </a:txBody>
                  <a:tcPr>
                    <a:solidFill>
                      <a:srgbClr val="FFFFFF"/>
                    </a:solidFill>
                  </a:tcPr>
                </a:tc>
                <a:tc>
                  <a:txBody>
                    <a:bodyPr/>
                    <a:lstStyle/>
                    <a:p>
                      <a:pPr>
                        <a:defRPr sz="1100">
                          <a:solidFill>
                            <a:srgbClr val="1E293B"/>
                          </a:solidFill>
                        </a:defRPr>
                      </a:pPr>
                      <a:r>
                        <a:t>Sécurisé</a:t>
                      </a:r>
                    </a:p>
                  </a:txBody>
                  <a:tcPr>
                    <a:solidFill>
                      <a:srgbClr val="FFFFFF"/>
                    </a:solidFill>
                  </a:tcPr>
                </a:tc>
                <a:tc>
                  <a:txBody>
                    <a:bodyPr/>
                    <a:lstStyle/>
                    <a:p>
                      <a:pPr>
                        <a:defRPr sz="1100">
                          <a:solidFill>
                            <a:srgbClr val="1E293B"/>
                          </a:solidFill>
                        </a:defRPr>
                      </a:pPr>
                      <a:r>
                        <a:t>Frais, réseau</a:t>
                      </a:r>
                    </a:p>
                  </a:txBody>
                  <a:tcP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Quel est le principal avantage de la tontine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Intérêts élevés</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Force l'épargne et donne un gros montant d'un coup</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Remplace la banque</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Gratuite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914400"/>
          </a:xfrm>
          <a:prstGeom prst="rect">
            <a:avLst/>
          </a:prstGeom>
          <a:noFill/>
        </p:spPr>
        <p:txBody>
          <a:bodyPr wrap="square">
            <a:spAutoFit/>
          </a:bodyPr>
          <a:lstStyle/>
          <a:p>
            <a:pPr algn="ctr">
              <a:defRPr sz="3600" b="1">
                <a:solidFill>
                  <a:srgbClr val="0D9488"/>
                </a:solidFill>
              </a:defRPr>
            </a:pPr>
            <a:r>
              <a:t>MOIS 2</a:t>
            </a:r>
          </a:p>
        </p:txBody>
      </p:sp>
      <p:sp>
        <p:nvSpPr>
          <p:cNvPr id="4" name="TextBox 3"/>
          <p:cNvSpPr txBox="1"/>
          <p:nvPr/>
        </p:nvSpPr>
        <p:spPr>
          <a:xfrm>
            <a:off x="914400" y="3474720"/>
            <a:ext cx="10332720" cy="914400"/>
          </a:xfrm>
          <a:prstGeom prst="rect">
            <a:avLst/>
          </a:prstGeom>
          <a:noFill/>
        </p:spPr>
        <p:txBody>
          <a:bodyPr wrap="square">
            <a:spAutoFit/>
          </a:bodyPr>
          <a:lstStyle/>
          <a:p>
            <a:pPr algn="ctr">
              <a:defRPr sz="2000" b="0">
                <a:solidFill>
                  <a:srgbClr val="64748B"/>
                </a:solidFill>
              </a:defRPr>
            </a:pPr>
            <a:r>
              <a:t>Gérer et planifier — Semaines 5 à 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5</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5</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Calculer le coût de production avec les paysans</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3h  |  Matériel : grande feuille, graines, dessins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 paysan connaît-il le vrai coût de sa production ?</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Animation : « Combien vous coûte un sac de maïs ? »</a:t>
            </a:r>
          </a:p>
          <a:p>
            <a:pPr>
              <a:spcBef>
                <a:spcPts val="400"/>
              </a:spcBef>
              <a:defRPr sz="1600">
                <a:solidFill>
                  <a:srgbClr val="1E293B"/>
                </a:solidFill>
              </a:defRPr>
            </a:pPr>
            <a:r>
              <a:t>1. Dessinez un grand champ au tableau/sol</a:t>
            </a:r>
          </a:p>
          <a:p>
            <a:pPr>
              <a:spcBef>
                <a:spcPts val="400"/>
              </a:spcBef>
              <a:defRPr sz="1600">
                <a:solidFill>
                  <a:srgbClr val="1E293B"/>
                </a:solidFill>
              </a:defRPr>
            </a:pPr>
            <a:r>
              <a:t>2. « Pour cultiver 1 ha, qu'est-ce qu'il vous faut ? »</a:t>
            </a:r>
          </a:p>
          <a:p>
            <a:pPr>
              <a:spcBef>
                <a:spcPts val="400"/>
              </a:spcBef>
              <a:defRPr sz="1600">
                <a:solidFill>
                  <a:srgbClr val="1E293B"/>
                </a:solidFill>
              </a:defRPr>
            </a:pPr>
            <a:r>
              <a:t>3. Le groupe liste : semences, engrais, labour, sarclage...</a:t>
            </a:r>
          </a:p>
          <a:p>
            <a:pPr>
              <a:spcBef>
                <a:spcPts val="400"/>
              </a:spcBef>
              <a:defRPr sz="1600">
                <a:solidFill>
                  <a:srgbClr val="1E293B"/>
                </a:solidFill>
              </a:defRPr>
            </a:pPr>
            <a:r>
              <a:t>4. Pour CHAQUE élément : « Combien ça coûte ? »</a:t>
            </a:r>
          </a:p>
          <a:p>
            <a:pPr>
              <a:spcBef>
                <a:spcPts val="400"/>
              </a:spcBef>
              <a:defRPr sz="1600">
                <a:solidFill>
                  <a:srgbClr val="1E293B"/>
                </a:solidFill>
              </a:defRPr>
            </a:pPr>
            <a:r>
              <a:t>5. Additionnez ensemble.</a:t>
            </a:r>
          </a:p>
          <a:p>
            <a:pPr>
              <a:spcBef>
                <a:spcPts val="400"/>
              </a:spcBef>
              <a:defRPr sz="1600">
                <a:solidFill>
                  <a:srgbClr val="1E293B"/>
                </a:solidFill>
              </a:defRPr>
            </a:pPr>
          </a:p>
          <a:p>
            <a:pPr>
              <a:spcBef>
                <a:spcPts val="400"/>
              </a:spcBef>
              <a:defRPr sz="1600">
                <a:solidFill>
                  <a:srgbClr val="1E293B"/>
                </a:solidFill>
              </a:defRPr>
            </a:pPr>
            <a:r>
              <a:t>Le coût invisible : la main-d'œuvre familiale</a:t>
            </a:r>
          </a:p>
          <a:p>
            <a:pPr>
              <a:spcBef>
                <a:spcPts val="400"/>
              </a:spcBef>
              <a:defRPr sz="1600">
                <a:solidFill>
                  <a:srgbClr val="1E293B"/>
                </a:solidFill>
              </a:defRPr>
            </a:pPr>
            <a:r>
              <a:t>« Si votre femme allait vendre au marché au lieu de sarcler,</a:t>
            </a:r>
          </a:p>
          <a:p>
            <a:pPr>
              <a:spcBef>
                <a:spcPts val="400"/>
              </a:spcBef>
              <a:defRPr sz="1600">
                <a:solidFill>
                  <a:srgbClr val="1E293B"/>
                </a:solidFill>
              </a:defRPr>
            </a:pPr>
            <a:r>
              <a:t>  combien gagnerait-elle ? » = coût d'opportunité</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D97706"/>
                </a:solidFill>
              </a:defRPr>
            </a:pPr>
            <a:r>
              <a:t>Le choc du calcul</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Au nord-Cameroun, un paysan vendait son sac à 8 000 FCFA. Coût réel : 9 500 FCFA/sac. Il travaillait à PERTE depuis des années sans le savoir.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Coût de production — 1 hectare de maïs</a:t>
            </a:r>
          </a:p>
        </p:txBody>
      </p:sp>
      <p:graphicFrame>
        <p:nvGraphicFramePr>
          <p:cNvPr id="4" name="Table 3"/>
          <p:cNvGraphicFramePr>
            <a:graphicFrameLocks noGrp="1"/>
          </p:cNvGraphicFramePr>
          <p:nvPr/>
        </p:nvGraphicFramePr>
        <p:xfrm>
          <a:off x="457200" y="1188720"/>
          <a:ext cx="5486400" cy="4114800"/>
        </p:xfrm>
        <a:graphic>
          <a:graphicData uri="http://schemas.openxmlformats.org/drawingml/2006/table">
            <a:tbl>
              <a:tblPr firstRow="1" bandRow="1">
                <a:tableStyleId>{5C22544A-7EE6-4342-B048-85BDC9FD1C3A}</a:tableStyleId>
              </a:tblPr>
              <a:tblGrid>
                <a:gridCol w="2743200"/>
                <a:gridCol w="2743200"/>
              </a:tblGrid>
              <a:tr h="457200">
                <a:tc>
                  <a:txBody>
                    <a:bodyPr/>
                    <a:lstStyle/>
                    <a:p>
                      <a:pPr>
                        <a:defRPr sz="1200" b="1">
                          <a:solidFill>
                            <a:srgbClr val="FFFFFF"/>
                          </a:solidFill>
                        </a:defRPr>
                      </a:pPr>
                      <a:r>
                        <a:t>Poste</a:t>
                      </a:r>
                    </a:p>
                  </a:txBody>
                  <a:tcPr>
                    <a:solidFill>
                      <a:srgbClr val="0D9488"/>
                    </a:solidFill>
                  </a:tcPr>
                </a:tc>
                <a:tc>
                  <a:txBody>
                    <a:bodyPr/>
                    <a:lstStyle/>
                    <a:p>
                      <a:pPr>
                        <a:defRPr sz="1200" b="1">
                          <a:solidFill>
                            <a:srgbClr val="FFFFFF"/>
                          </a:solidFill>
                        </a:defRPr>
                      </a:pPr>
                      <a:r>
                        <a:t>Montant (FCFA)</a:t>
                      </a:r>
                    </a:p>
                  </a:txBody>
                  <a:tcPr>
                    <a:solidFill>
                      <a:srgbClr val="0D9488"/>
                    </a:solidFill>
                  </a:tcPr>
                </a:tc>
              </a:tr>
              <a:tr h="457200">
                <a:tc>
                  <a:txBody>
                    <a:bodyPr/>
                    <a:lstStyle/>
                    <a:p>
                      <a:pPr>
                        <a:defRPr sz="1100">
                          <a:solidFill>
                            <a:srgbClr val="1E293B"/>
                          </a:solidFill>
                        </a:defRPr>
                      </a:pPr>
                      <a:r>
                        <a:t>Semences (20 kg)</a:t>
                      </a:r>
                    </a:p>
                  </a:txBody>
                  <a:tcPr>
                    <a:solidFill>
                      <a:srgbClr val="FFFFFF"/>
                    </a:solidFill>
                  </a:tcPr>
                </a:tc>
                <a:tc>
                  <a:txBody>
                    <a:bodyPr/>
                    <a:lstStyle/>
                    <a:p>
                      <a:pPr>
                        <a:defRPr sz="1100">
                          <a:solidFill>
                            <a:srgbClr val="1E293B"/>
                          </a:solidFill>
                        </a:defRPr>
                      </a:pPr>
                      <a:r>
                        <a:t>15 000</a:t>
                      </a:r>
                    </a:p>
                  </a:txBody>
                  <a:tcPr>
                    <a:solidFill>
                      <a:srgbClr val="FFFFFF"/>
                    </a:solidFill>
                  </a:tcPr>
                </a:tc>
              </a:tr>
              <a:tr h="457200">
                <a:tc>
                  <a:txBody>
                    <a:bodyPr/>
                    <a:lstStyle/>
                    <a:p>
                      <a:pPr>
                        <a:defRPr sz="1100">
                          <a:solidFill>
                            <a:srgbClr val="1E293B"/>
                          </a:solidFill>
                        </a:defRPr>
                      </a:pPr>
                      <a:r>
                        <a:t>Engrais NPK (2 sacs)</a:t>
                      </a:r>
                    </a:p>
                  </a:txBody>
                  <a:tcPr>
                    <a:solidFill>
                      <a:srgbClr val="F1F5F9"/>
                    </a:solidFill>
                  </a:tcPr>
                </a:tc>
                <a:tc>
                  <a:txBody>
                    <a:bodyPr/>
                    <a:lstStyle/>
                    <a:p>
                      <a:pPr>
                        <a:defRPr sz="1100">
                          <a:solidFill>
                            <a:srgbClr val="1E293B"/>
                          </a:solidFill>
                        </a:defRPr>
                      </a:pPr>
                      <a:r>
                        <a:t>40 000</a:t>
                      </a:r>
                    </a:p>
                  </a:txBody>
                  <a:tcPr>
                    <a:solidFill>
                      <a:srgbClr val="F1F5F9"/>
                    </a:solidFill>
                  </a:tcPr>
                </a:tc>
              </a:tr>
              <a:tr h="457200">
                <a:tc>
                  <a:txBody>
                    <a:bodyPr/>
                    <a:lstStyle/>
                    <a:p>
                      <a:pPr>
                        <a:defRPr sz="1100">
                          <a:solidFill>
                            <a:srgbClr val="1E293B"/>
                          </a:solidFill>
                        </a:defRPr>
                      </a:pPr>
                      <a:r>
                        <a:t>Engrais urée (1 sac)</a:t>
                      </a:r>
                    </a:p>
                  </a:txBody>
                  <a:tcPr>
                    <a:solidFill>
                      <a:srgbClr val="FFFFFF"/>
                    </a:solidFill>
                  </a:tcPr>
                </a:tc>
                <a:tc>
                  <a:txBody>
                    <a:bodyPr/>
                    <a:lstStyle/>
                    <a:p>
                      <a:pPr>
                        <a:defRPr sz="1100">
                          <a:solidFill>
                            <a:srgbClr val="1E293B"/>
                          </a:solidFill>
                        </a:defRPr>
                      </a:pPr>
                      <a:r>
                        <a:t>22 000</a:t>
                      </a:r>
                    </a:p>
                  </a:txBody>
                  <a:tcPr>
                    <a:solidFill>
                      <a:srgbClr val="FFFFFF"/>
                    </a:solidFill>
                  </a:tcPr>
                </a:tc>
              </a:tr>
              <a:tr h="457200">
                <a:tc>
                  <a:txBody>
                    <a:bodyPr/>
                    <a:lstStyle/>
                    <a:p>
                      <a:pPr>
                        <a:defRPr sz="1100">
                          <a:solidFill>
                            <a:srgbClr val="1E293B"/>
                          </a:solidFill>
                        </a:defRPr>
                      </a:pPr>
                      <a:r>
                        <a:t>Labour</a:t>
                      </a:r>
                    </a:p>
                  </a:txBody>
                  <a:tcPr>
                    <a:solidFill>
                      <a:srgbClr val="F1F5F9"/>
                    </a:solidFill>
                  </a:tcPr>
                </a:tc>
                <a:tc>
                  <a:txBody>
                    <a:bodyPr/>
                    <a:lstStyle/>
                    <a:p>
                      <a:pPr>
                        <a:defRPr sz="1100">
                          <a:solidFill>
                            <a:srgbClr val="1E293B"/>
                          </a:solidFill>
                        </a:defRPr>
                      </a:pPr>
                      <a:r>
                        <a:t>25 000</a:t>
                      </a:r>
                    </a:p>
                  </a:txBody>
                  <a:tcPr>
                    <a:solidFill>
                      <a:srgbClr val="F1F5F9"/>
                    </a:solidFill>
                  </a:tcPr>
                </a:tc>
              </a:tr>
              <a:tr h="457200">
                <a:tc>
                  <a:txBody>
                    <a:bodyPr/>
                    <a:lstStyle/>
                    <a:p>
                      <a:pPr>
                        <a:defRPr sz="1100">
                          <a:solidFill>
                            <a:srgbClr val="1E293B"/>
                          </a:solidFill>
                        </a:defRPr>
                      </a:pPr>
                      <a:r>
                        <a:t>Main-d'œuvre (semis+sarclage+récolte)</a:t>
                      </a:r>
                    </a:p>
                  </a:txBody>
                  <a:tcPr>
                    <a:solidFill>
                      <a:srgbClr val="FFFFFF"/>
                    </a:solidFill>
                  </a:tcPr>
                </a:tc>
                <a:tc>
                  <a:txBody>
                    <a:bodyPr/>
                    <a:lstStyle/>
                    <a:p>
                      <a:pPr>
                        <a:defRPr sz="1100">
                          <a:solidFill>
                            <a:srgbClr val="1E293B"/>
                          </a:solidFill>
                        </a:defRPr>
                      </a:pPr>
                      <a:r>
                        <a:t>57 000</a:t>
                      </a:r>
                    </a:p>
                  </a:txBody>
                  <a:tcPr>
                    <a:solidFill>
                      <a:srgbClr val="FFFFFF"/>
                    </a:solidFill>
                  </a:tcPr>
                </a:tc>
              </a:tr>
              <a:tr h="457200">
                <a:tc>
                  <a:txBody>
                    <a:bodyPr/>
                    <a:lstStyle/>
                    <a:p>
                      <a:pPr>
                        <a:defRPr sz="1100">
                          <a:solidFill>
                            <a:srgbClr val="1E293B"/>
                          </a:solidFill>
                        </a:defRPr>
                      </a:pPr>
                      <a:r>
                        <a:t>Transport + stockage</a:t>
                      </a:r>
                    </a:p>
                  </a:txBody>
                  <a:tcPr>
                    <a:solidFill>
                      <a:srgbClr val="F1F5F9"/>
                    </a:solidFill>
                  </a:tcPr>
                </a:tc>
                <a:tc>
                  <a:txBody>
                    <a:bodyPr/>
                    <a:lstStyle/>
                    <a:p>
                      <a:pPr>
                        <a:defRPr sz="1100">
                          <a:solidFill>
                            <a:srgbClr val="1E293B"/>
                          </a:solidFill>
                        </a:defRPr>
                      </a:pPr>
                      <a:r>
                        <a:t>16 000</a:t>
                      </a:r>
                    </a:p>
                  </a:txBody>
                  <a:tcPr>
                    <a:solidFill>
                      <a:srgbClr val="F1F5F9"/>
                    </a:solidFill>
                  </a:tcPr>
                </a:tc>
              </a:tr>
              <a:tr h="457200">
                <a:tc>
                  <a:txBody>
                    <a:bodyPr/>
                    <a:lstStyle/>
                    <a:p>
                      <a:pPr>
                        <a:defRPr sz="1100">
                          <a:solidFill>
                            <a:srgbClr val="1E293B"/>
                          </a:solidFill>
                        </a:defRPr>
                      </a:pPr>
                      <a:r>
                        <a:t>TOTAL</a:t>
                      </a:r>
                    </a:p>
                  </a:txBody>
                  <a:tcPr>
                    <a:solidFill>
                      <a:srgbClr val="FFFFFF"/>
                    </a:solidFill>
                  </a:tcPr>
                </a:tc>
                <a:tc>
                  <a:txBody>
                    <a:bodyPr/>
                    <a:lstStyle/>
                    <a:p>
                      <a:pPr>
                        <a:defRPr sz="1100">
                          <a:solidFill>
                            <a:srgbClr val="1E293B"/>
                          </a:solidFill>
                        </a:defRPr>
                      </a:pPr>
                      <a:r>
                        <a:t>175 000</a:t>
                      </a:r>
                    </a:p>
                  </a:txBody>
                  <a:tcPr>
                    <a:solidFill>
                      <a:srgbClr val="FFFFFF"/>
                    </a:solidFill>
                  </a:tcPr>
                </a:tc>
              </a:tr>
              <a:tr h="457200">
                <a:tc>
                  <a:txBody>
                    <a:bodyPr/>
                    <a:lstStyle/>
                    <a:p>
                      <a:pPr>
                        <a:defRPr sz="1100">
                          <a:solidFill>
                            <a:srgbClr val="1E293B"/>
                          </a:solidFill>
                        </a:defRPr>
                      </a:pPr>
                      <a:r>
                        <a:t>Coût par sac (20 sacs/ha)</a:t>
                      </a:r>
                    </a:p>
                  </a:txBody>
                  <a:tcPr>
                    <a:solidFill>
                      <a:srgbClr val="F1F5F9"/>
                    </a:solidFill>
                  </a:tcPr>
                </a:tc>
                <a:tc>
                  <a:txBody>
                    <a:bodyPr/>
                    <a:lstStyle/>
                    <a:p>
                      <a:pPr>
                        <a:defRPr sz="1100">
                          <a:solidFill>
                            <a:srgbClr val="1E293B"/>
                          </a:solidFill>
                        </a:defRPr>
                      </a:pPr>
                      <a:r>
                        <a:t>8 750 FCFA = prix plancher</a:t>
                      </a:r>
                    </a:p>
                  </a:txBody>
                  <a:tcPr>
                    <a:solidFill>
                      <a:srgbClr val="F1F5F9"/>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Sac vendu 8 000 FCFA, coût réel 9 500 FCFA. Situation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Bénéfice 1 500</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Perte de 1 500 FCFA par sac</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Équilibre</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Impossible à dire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6</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6</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Planifier financièrement la campagne agricole</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3h  |  Matériel : corde 3m, 12 noeuds, cartons illustrés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 calendrier cultural = le calendrier financier</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Activité : La corde des saisons</a:t>
            </a:r>
          </a:p>
          <a:p>
            <a:pPr>
              <a:spcBef>
                <a:spcPts val="400"/>
              </a:spcBef>
              <a:defRPr sz="1600">
                <a:solidFill>
                  <a:srgbClr val="1E293B"/>
                </a:solidFill>
              </a:defRPr>
            </a:pPr>
            <a:r>
              <a:t>1. Corde 12 nœuds entre deux piquets</a:t>
            </a:r>
          </a:p>
          <a:p>
            <a:pPr>
              <a:spcBef>
                <a:spcPts val="400"/>
              </a:spcBef>
              <a:defRPr sz="1600">
                <a:solidFill>
                  <a:srgbClr val="1E293B"/>
                </a:solidFill>
              </a:defRPr>
            </a:pPr>
            <a:r>
              <a:t>2. Placer les cartons : labour, semis, sarclage, récolte, vente</a:t>
            </a:r>
          </a:p>
          <a:p>
            <a:pPr>
              <a:spcBef>
                <a:spcPts val="400"/>
              </a:spcBef>
              <a:defRPr sz="1600">
                <a:solidFill>
                  <a:srgbClr val="1E293B"/>
                </a:solidFill>
              </a:defRPr>
            </a:pPr>
            <a:r>
              <a:t>3. Sous chaque carton : graines = argent nécessaire</a:t>
            </a:r>
          </a:p>
          <a:p>
            <a:pPr>
              <a:spcBef>
                <a:spcPts val="400"/>
              </a:spcBef>
              <a:defRPr sz="1600">
                <a:solidFill>
                  <a:srgbClr val="1E293B"/>
                </a:solidFill>
              </a:defRPr>
            </a:pPr>
            <a:r>
              <a:t>4. « En avril, vous avez l'argent pour les intrants ? »</a:t>
            </a:r>
          </a:p>
          <a:p>
            <a:pPr>
              <a:spcBef>
                <a:spcPts val="400"/>
              </a:spcBef>
              <a:defRPr sz="1600">
                <a:solidFill>
                  <a:srgbClr val="1E293B"/>
                </a:solidFill>
              </a:defRPr>
            </a:pPr>
          </a:p>
          <a:p>
            <a:pPr>
              <a:spcBef>
                <a:spcPts val="400"/>
              </a:spcBef>
              <a:defRPr sz="1600">
                <a:solidFill>
                  <a:srgbClr val="1E293B"/>
                </a:solidFill>
              </a:defRPr>
            </a:pPr>
            <a:r>
              <a:t>Stratégie d'épargne anticipée :</a:t>
            </a:r>
          </a:p>
          <a:p>
            <a:pPr>
              <a:spcBef>
                <a:spcPts val="400"/>
              </a:spcBef>
              <a:defRPr sz="1600">
                <a:solidFill>
                  <a:srgbClr val="1E293B"/>
                </a:solidFill>
              </a:defRPr>
            </a:pPr>
            <a:r>
              <a:t>  Besoins avril : ~80 000 FCFA</a:t>
            </a:r>
          </a:p>
          <a:p>
            <a:pPr>
              <a:spcBef>
                <a:spcPts val="400"/>
              </a:spcBef>
              <a:defRPr sz="1600">
                <a:solidFill>
                  <a:srgbClr val="1E293B"/>
                </a:solidFill>
              </a:defRPr>
            </a:pPr>
            <a:r>
              <a:t>  Mois pour épargner (nov-mars) : 5 mois</a:t>
            </a:r>
          </a:p>
          <a:p>
            <a:pPr>
              <a:spcBef>
                <a:spcPts val="400"/>
              </a:spcBef>
              <a:defRPr sz="1600">
                <a:solidFill>
                  <a:srgbClr val="1E293B"/>
                </a:solidFill>
              </a:defRPr>
            </a:pPr>
            <a:r>
              <a:t>  = 16 000 FCFA/mois</a:t>
            </a:r>
          </a:p>
          <a:p>
            <a:pPr>
              <a:spcBef>
                <a:spcPts val="400"/>
              </a:spcBef>
              <a:defRPr sz="1600">
                <a:solidFill>
                  <a:srgbClr val="1E293B"/>
                </a:solidFill>
              </a:defRPr>
            </a:pPr>
            <a:r>
              <a:t>  Concret, atteignable, brise le cycle d'endettement</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D97706"/>
                </a:solidFill>
              </a:defRPr>
            </a:pPr>
            <a:r>
              <a:t>Le cercle vicieux</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Avril : plus d'argent → emprunt au commerçant → remboursement en nature à la récolte (prix le plus bas) → perte de 30-50%. Chaque année.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Pourquoi le paysan s'endette-t-il en avril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Paresse</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Pas d'épargne planifiée pour les intrants</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Intrants trop chers</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La banque le force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7</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7</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Le crédit agricole : opportunité ou piège ?</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2h30  |  Matériel : 3 chaises, cartons offres de crédit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Jeu de rôle : le paysan face au crédit</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Aminata a besoin de 100 000 FCFA pour les intrants.</a:t>
            </a:r>
          </a:p>
          <a:p>
            <a:pPr>
              <a:spcBef>
                <a:spcPts val="400"/>
              </a:spcBef>
              <a:defRPr sz="1600">
                <a:solidFill>
                  <a:srgbClr val="1E293B"/>
                </a:solidFill>
              </a:defRPr>
            </a:pPr>
          </a:p>
          <a:p>
            <a:pPr>
              <a:spcBef>
                <a:spcPts val="400"/>
              </a:spcBef>
              <a:defRPr sz="1600">
                <a:solidFill>
                  <a:srgbClr val="1E293B"/>
                </a:solidFill>
              </a:defRPr>
            </a:pPr>
            <a:r>
              <a:t>3 prêteurs :</a:t>
            </a:r>
          </a:p>
          <a:p>
            <a:pPr>
              <a:spcBef>
                <a:spcPts val="400"/>
              </a:spcBef>
              <a:defRPr sz="1600">
                <a:solidFill>
                  <a:srgbClr val="1E293B"/>
                </a:solidFill>
              </a:defRPr>
            </a:pPr>
            <a:r>
              <a:t>  A. Commerçant : intrants maintenant, 5 sacs à la récolte</a:t>
            </a:r>
          </a:p>
          <a:p>
            <a:pPr>
              <a:spcBef>
                <a:spcPts val="400"/>
              </a:spcBef>
              <a:defRPr sz="1600">
                <a:solidFill>
                  <a:srgbClr val="1E293B"/>
                </a:solidFill>
              </a:defRPr>
            </a:pPr>
            <a:r>
              <a:t>     Coût : 50 000 FCFA (50%)</a:t>
            </a:r>
          </a:p>
          <a:p>
            <a:pPr>
              <a:spcBef>
                <a:spcPts val="400"/>
              </a:spcBef>
              <a:defRPr sz="1600">
                <a:solidFill>
                  <a:srgbClr val="1E293B"/>
                </a:solidFill>
              </a:defRPr>
            </a:pPr>
            <a:r>
              <a:t>  B. Microfinance : 2%/mois sur 8 mois</a:t>
            </a:r>
          </a:p>
          <a:p>
            <a:pPr>
              <a:spcBef>
                <a:spcPts val="400"/>
              </a:spcBef>
              <a:defRPr sz="1600">
                <a:solidFill>
                  <a:srgbClr val="1E293B"/>
                </a:solidFill>
              </a:defRPr>
            </a:pPr>
            <a:r>
              <a:t>     Coût : 19 000 FCFA (19%)</a:t>
            </a:r>
          </a:p>
          <a:p>
            <a:pPr>
              <a:spcBef>
                <a:spcPts val="400"/>
              </a:spcBef>
              <a:defRPr sz="1600">
                <a:solidFill>
                  <a:srgbClr val="1E293B"/>
                </a:solidFill>
              </a:defRPr>
            </a:pPr>
            <a:r>
              <a:t>  C. AVEC/VSLA : 5% sur 4 mois</a:t>
            </a:r>
          </a:p>
          <a:p>
            <a:pPr>
              <a:spcBef>
                <a:spcPts val="400"/>
              </a:spcBef>
              <a:defRPr sz="1600">
                <a:solidFill>
                  <a:srgbClr val="1E293B"/>
                </a:solidFill>
              </a:defRPr>
            </a:pPr>
            <a:r>
              <a:t>     Coût : 5 000 FCFA (5%)</a:t>
            </a:r>
          </a:p>
          <a:p>
            <a:pPr>
              <a:spcBef>
                <a:spcPts val="400"/>
              </a:spcBef>
              <a:defRPr sz="1600">
                <a:solidFill>
                  <a:srgbClr val="1E293B"/>
                </a:solidFill>
              </a:defRPr>
            </a:pPr>
          </a:p>
          <a:p>
            <a:pPr>
              <a:spcBef>
                <a:spcPts val="400"/>
              </a:spcBef>
              <a:defRPr sz="1600">
                <a:solidFill>
                  <a:srgbClr val="1E293B"/>
                </a:solidFill>
              </a:defRPr>
            </a:pPr>
            <a:r>
              <a:t>3 règles d'or :</a:t>
            </a:r>
          </a:p>
          <a:p>
            <a:pPr>
              <a:spcBef>
                <a:spcPts val="400"/>
              </a:spcBef>
              <a:defRPr sz="1600">
                <a:solidFill>
                  <a:srgbClr val="1E293B"/>
                </a:solidFill>
              </a:defRPr>
            </a:pPr>
            <a:r>
              <a:t>  1. Emprunter UNIQUEMENT pour un investissement productif</a:t>
            </a:r>
          </a:p>
          <a:p>
            <a:pPr>
              <a:spcBef>
                <a:spcPts val="400"/>
              </a:spcBef>
              <a:defRPr sz="1600">
                <a:solidFill>
                  <a:srgbClr val="1E293B"/>
                </a:solidFill>
              </a:defRPr>
            </a:pPr>
            <a:r>
              <a:t>  2. Calculer le coût TOTAL du remboursement</a:t>
            </a:r>
          </a:p>
          <a:p>
            <a:pPr>
              <a:spcBef>
                <a:spcPts val="400"/>
              </a:spcBef>
              <a:defRPr sz="1600">
                <a:solidFill>
                  <a:srgbClr val="1E293B"/>
                </a:solidFill>
              </a:defRPr>
            </a:pPr>
            <a:r>
              <a:t>  3. Préférer l'épargne au crédit</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0D9488"/>
                </a:solidFill>
              </a:defRPr>
            </a:pPr>
            <a:r>
              <a:t>Facilitation</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Si un participant dit 'j'emprunte au commerçant', ne critiquez pas. Demandez 'combien tu rembourses ?' et laissez le GROUPE calculer.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Commerçant prête 100 000 FCFA, demande 5 sacs à 30 000 FCFA. Coût du crédit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0 FCFA</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50 000 FCFA (150 000 - 100 000)</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30 000 FCFA</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100 000 FCFA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8</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8</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Vendre au bon moment</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2h30  |  Matériel : cailloux, 12 mois au sol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 paradoxe : il vend quand le prix est le plus bas</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Activité : La courbe des prix au sol</a:t>
            </a:r>
          </a:p>
          <a:p>
            <a:pPr>
              <a:spcBef>
                <a:spcPts val="400"/>
              </a:spcBef>
              <a:defRPr sz="1600">
                <a:solidFill>
                  <a:srgbClr val="1E293B"/>
                </a:solidFill>
              </a:defRPr>
            </a:pPr>
            <a:r>
              <a:t>1. Ligne 3m = 12 mois</a:t>
            </a:r>
          </a:p>
          <a:p>
            <a:pPr>
              <a:spcBef>
                <a:spcPts val="400"/>
              </a:spcBef>
              <a:defRPr sz="1600">
                <a:solidFill>
                  <a:srgbClr val="1E293B"/>
                </a:solidFill>
              </a:defRPr>
            </a:pPr>
            <a:r>
              <a:t>2. « En nov, un sac coûte combien ? Et en juillet ? »</a:t>
            </a:r>
          </a:p>
          <a:p>
            <a:pPr>
              <a:spcBef>
                <a:spcPts val="400"/>
              </a:spcBef>
              <a:defRPr sz="1600">
                <a:solidFill>
                  <a:srgbClr val="1E293B"/>
                </a:solidFill>
              </a:defRPr>
            </a:pPr>
            <a:r>
              <a:t>3. Empilez des cailloux = prix de chaque mois</a:t>
            </a:r>
          </a:p>
          <a:p>
            <a:pPr>
              <a:spcBef>
                <a:spcPts val="400"/>
              </a:spcBef>
              <a:defRPr sz="1600">
                <a:solidFill>
                  <a:srgbClr val="1E293B"/>
                </a:solidFill>
              </a:defRPr>
            </a:pPr>
            <a:r>
              <a:t>4. Le groupe VOIT : prix bas à la récolte, haut en soudure</a:t>
            </a:r>
          </a:p>
          <a:p>
            <a:pPr>
              <a:spcBef>
                <a:spcPts val="400"/>
              </a:spcBef>
              <a:defRPr sz="1600">
                <a:solidFill>
                  <a:srgbClr val="1E293B"/>
                </a:solidFill>
              </a:defRPr>
            </a:pPr>
          </a:p>
          <a:p>
            <a:pPr>
              <a:spcBef>
                <a:spcPts val="400"/>
              </a:spcBef>
              <a:defRPr sz="1600">
                <a:solidFill>
                  <a:srgbClr val="1E293B"/>
                </a:solidFill>
              </a:defRPr>
            </a:pPr>
            <a:r>
              <a:t>4 stratégies de commercialisation :</a:t>
            </a:r>
          </a:p>
          <a:p>
            <a:pPr>
              <a:spcBef>
                <a:spcPts val="400"/>
              </a:spcBef>
              <a:defRPr sz="1600">
                <a:solidFill>
                  <a:srgbClr val="1E293B"/>
                </a:solidFill>
              </a:defRPr>
            </a:pPr>
            <a:r>
              <a:t>  • Vente groupée — ensemble = meilleur prix</a:t>
            </a:r>
          </a:p>
          <a:p>
            <a:pPr>
              <a:spcBef>
                <a:spcPts val="400"/>
              </a:spcBef>
              <a:defRPr sz="1600">
                <a:solidFill>
                  <a:srgbClr val="1E293B"/>
                </a:solidFill>
              </a:defRPr>
            </a:pPr>
            <a:r>
              <a:t>  • Stockage individuel — vendre en mai-juillet</a:t>
            </a:r>
          </a:p>
          <a:p>
            <a:pPr>
              <a:spcBef>
                <a:spcPts val="400"/>
              </a:spcBef>
              <a:defRPr sz="1600">
                <a:solidFill>
                  <a:srgbClr val="1E293B"/>
                </a:solidFill>
              </a:defRPr>
            </a:pPr>
            <a:r>
              <a:t>  • Warrantage — stocker + crédit 70% + vente différée</a:t>
            </a:r>
          </a:p>
          <a:p>
            <a:pPr>
              <a:spcBef>
                <a:spcPts val="400"/>
              </a:spcBef>
              <a:defRPr sz="1600">
                <a:solidFill>
                  <a:srgbClr val="1E293B"/>
                </a:solidFill>
              </a:defRPr>
            </a:pPr>
            <a:r>
              <a:t>  • Transformation — farine, huile = valeur ajoutée</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2563EB"/>
                </a:solidFill>
              </a:defRPr>
            </a:pPr>
            <a:r>
              <a:t>Warrantage (Niger/PAM)</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Paysans stockent dans entrepôt certifié, reçoivent 70% en crédit, vendent 4-6 mois plus tard. Résultat : +40% de revenus.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Gain du stockage — 20 sacs de maïs</a:t>
            </a:r>
          </a:p>
        </p:txBody>
      </p:sp>
      <p:graphicFrame>
        <p:nvGraphicFramePr>
          <p:cNvPr id="4" name="Table 3"/>
          <p:cNvGraphicFramePr>
            <a:graphicFrameLocks noGrp="1"/>
          </p:cNvGraphicFramePr>
          <p:nvPr/>
        </p:nvGraphicFramePr>
        <p:xfrm>
          <a:off x="457200" y="1188720"/>
          <a:ext cx="10972800" cy="22860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pPr>
                        <a:defRPr sz="1200" b="1">
                          <a:solidFill>
                            <a:srgbClr val="FFFFFF"/>
                          </a:solidFill>
                        </a:defRPr>
                      </a:pPr>
                      <a:r>
                        <a:t>Scénario</a:t>
                      </a:r>
                    </a:p>
                  </a:txBody>
                  <a:tcPr>
                    <a:solidFill>
                      <a:srgbClr val="0D9488"/>
                    </a:solidFill>
                  </a:tcPr>
                </a:tc>
                <a:tc>
                  <a:txBody>
                    <a:bodyPr/>
                    <a:lstStyle/>
                    <a:p>
                      <a:pPr>
                        <a:defRPr sz="1200" b="1">
                          <a:solidFill>
                            <a:srgbClr val="FFFFFF"/>
                          </a:solidFill>
                        </a:defRPr>
                      </a:pPr>
                      <a:r>
                        <a:t>Prix/sac</a:t>
                      </a:r>
                    </a:p>
                  </a:txBody>
                  <a:tcPr>
                    <a:solidFill>
                      <a:srgbClr val="0D9488"/>
                    </a:solidFill>
                  </a:tcPr>
                </a:tc>
                <a:tc>
                  <a:txBody>
                    <a:bodyPr/>
                    <a:lstStyle/>
                    <a:p>
                      <a:pPr>
                        <a:defRPr sz="1200" b="1">
                          <a:solidFill>
                            <a:srgbClr val="FFFFFF"/>
                          </a:solidFill>
                        </a:defRPr>
                      </a:pPr>
                      <a:r>
                        <a:t>Total</a:t>
                      </a:r>
                    </a:p>
                  </a:txBody>
                  <a:tcPr>
                    <a:solidFill>
                      <a:srgbClr val="0D9488"/>
                    </a:solidFill>
                  </a:tcPr>
                </a:tc>
                <a:tc>
                  <a:txBody>
                    <a:bodyPr/>
                    <a:lstStyle/>
                    <a:p>
                      <a:pPr>
                        <a:defRPr sz="1200" b="1">
                          <a:solidFill>
                            <a:srgbClr val="FFFFFF"/>
                          </a:solidFill>
                        </a:defRPr>
                      </a:pPr>
                      <a:r>
                        <a:t>Gain</a:t>
                      </a:r>
                    </a:p>
                  </a:txBody>
                  <a:tcPr>
                    <a:solidFill>
                      <a:srgbClr val="0D9488"/>
                    </a:solidFill>
                  </a:tcPr>
                </a:tc>
              </a:tr>
              <a:tr h="457200">
                <a:tc>
                  <a:txBody>
                    <a:bodyPr/>
                    <a:lstStyle/>
                    <a:p>
                      <a:pPr>
                        <a:defRPr sz="1100">
                          <a:solidFill>
                            <a:srgbClr val="1E293B"/>
                          </a:solidFill>
                        </a:defRPr>
                      </a:pPr>
                      <a:r>
                        <a:t>Vente nov.</a:t>
                      </a:r>
                    </a:p>
                  </a:txBody>
                  <a:tcPr>
                    <a:solidFill>
                      <a:srgbClr val="FFFFFF"/>
                    </a:solidFill>
                  </a:tcPr>
                </a:tc>
                <a:tc>
                  <a:txBody>
                    <a:bodyPr/>
                    <a:lstStyle/>
                    <a:p>
                      <a:pPr>
                        <a:defRPr sz="1100">
                          <a:solidFill>
                            <a:srgbClr val="1E293B"/>
                          </a:solidFill>
                        </a:defRPr>
                      </a:pPr>
                      <a:r>
                        <a:t>8 000</a:t>
                      </a:r>
                    </a:p>
                  </a:txBody>
                  <a:tcPr>
                    <a:solidFill>
                      <a:srgbClr val="FFFFFF"/>
                    </a:solidFill>
                  </a:tcPr>
                </a:tc>
                <a:tc>
                  <a:txBody>
                    <a:bodyPr/>
                    <a:lstStyle/>
                    <a:p>
                      <a:pPr>
                        <a:defRPr sz="1100">
                          <a:solidFill>
                            <a:srgbClr val="1E293B"/>
                          </a:solidFill>
                        </a:defRPr>
                      </a:pPr>
                      <a:r>
                        <a:t>160 000</a:t>
                      </a:r>
                    </a:p>
                  </a:txBody>
                  <a:tcPr>
                    <a:solidFill>
                      <a:srgbClr val="FFFFFF"/>
                    </a:solidFill>
                  </a:tcPr>
                </a:tc>
                <a:tc>
                  <a:txBody>
                    <a:bodyPr/>
                    <a:lstStyle/>
                    <a:p>
                      <a:pPr>
                        <a:defRPr sz="1100">
                          <a:solidFill>
                            <a:srgbClr val="1E293B"/>
                          </a:solidFill>
                        </a:defRPr>
                      </a:pPr>
                      <a:r>
                        <a:t>—</a:t>
                      </a:r>
                    </a:p>
                  </a:txBody>
                  <a:tcPr>
                    <a:solidFill>
                      <a:srgbClr val="FFFFFF"/>
                    </a:solidFill>
                  </a:tcPr>
                </a:tc>
              </a:tr>
              <a:tr h="457200">
                <a:tc>
                  <a:txBody>
                    <a:bodyPr/>
                    <a:lstStyle/>
                    <a:p>
                      <a:pPr>
                        <a:defRPr sz="1100">
                          <a:solidFill>
                            <a:srgbClr val="1E293B"/>
                          </a:solidFill>
                        </a:defRPr>
                      </a:pPr>
                      <a:r>
                        <a:t>Vente mai</a:t>
                      </a:r>
                    </a:p>
                  </a:txBody>
                  <a:tcPr>
                    <a:solidFill>
                      <a:srgbClr val="F1F5F9"/>
                    </a:solidFill>
                  </a:tcPr>
                </a:tc>
                <a:tc>
                  <a:txBody>
                    <a:bodyPr/>
                    <a:lstStyle/>
                    <a:p>
                      <a:pPr>
                        <a:defRPr sz="1100">
                          <a:solidFill>
                            <a:srgbClr val="1E293B"/>
                          </a:solidFill>
                        </a:defRPr>
                      </a:pPr>
                      <a:r>
                        <a:t>17 000</a:t>
                      </a:r>
                    </a:p>
                  </a:txBody>
                  <a:tcPr>
                    <a:solidFill>
                      <a:srgbClr val="F1F5F9"/>
                    </a:solidFill>
                  </a:tcPr>
                </a:tc>
                <a:tc>
                  <a:txBody>
                    <a:bodyPr/>
                    <a:lstStyle/>
                    <a:p>
                      <a:pPr>
                        <a:defRPr sz="1100">
                          <a:solidFill>
                            <a:srgbClr val="1E293B"/>
                          </a:solidFill>
                        </a:defRPr>
                      </a:pPr>
                      <a:r>
                        <a:t>340 000</a:t>
                      </a:r>
                    </a:p>
                  </a:txBody>
                  <a:tcPr>
                    <a:solidFill>
                      <a:srgbClr val="F1F5F9"/>
                    </a:solidFill>
                  </a:tcPr>
                </a:tc>
                <a:tc>
                  <a:txBody>
                    <a:bodyPr/>
                    <a:lstStyle/>
                    <a:p>
                      <a:pPr>
                        <a:defRPr sz="1100">
                          <a:solidFill>
                            <a:srgbClr val="1E293B"/>
                          </a:solidFill>
                        </a:defRPr>
                      </a:pPr>
                      <a:r>
                        <a:t>+180 000</a:t>
                      </a:r>
                    </a:p>
                  </a:txBody>
                  <a:tcPr>
                    <a:solidFill>
                      <a:srgbClr val="F1F5F9"/>
                    </a:solidFill>
                  </a:tcPr>
                </a:tc>
              </a:tr>
              <a:tr h="457200">
                <a:tc>
                  <a:txBody>
                    <a:bodyPr/>
                    <a:lstStyle/>
                    <a:p>
                      <a:pPr>
                        <a:defRPr sz="1100">
                          <a:solidFill>
                            <a:srgbClr val="1E293B"/>
                          </a:solidFill>
                        </a:defRPr>
                      </a:pPr>
                      <a:r>
                        <a:t>Coût stockage</a:t>
                      </a:r>
                    </a:p>
                  </a:txBody>
                  <a:tcPr>
                    <a:solidFill>
                      <a:srgbClr val="FFFFFF"/>
                    </a:solidFill>
                  </a:tcPr>
                </a:tc>
                <a:tc>
                  <a:txBody>
                    <a:bodyPr/>
                    <a:lstStyle/>
                    <a:p>
                      <a:pPr>
                        <a:defRPr sz="1100">
                          <a:solidFill>
                            <a:srgbClr val="1E293B"/>
                          </a:solidFill>
                        </a:defRPr>
                      </a:pPr>
                      <a:r>
                        <a:t>—</a:t>
                      </a:r>
                    </a:p>
                  </a:txBody>
                  <a:tcPr>
                    <a:solidFill>
                      <a:srgbClr val="FFFFFF"/>
                    </a:solidFill>
                  </a:tcPr>
                </a:tc>
                <a:tc>
                  <a:txBody>
                    <a:bodyPr/>
                    <a:lstStyle/>
                    <a:p>
                      <a:pPr>
                        <a:defRPr sz="1100">
                          <a:solidFill>
                            <a:srgbClr val="1E293B"/>
                          </a:solidFill>
                        </a:defRPr>
                      </a:pPr>
                      <a:r>
                        <a:t>-15 000</a:t>
                      </a:r>
                    </a:p>
                  </a:txBody>
                  <a:tcPr>
                    <a:solidFill>
                      <a:srgbClr val="FFFFFF"/>
                    </a:solidFill>
                  </a:tcPr>
                </a:tc>
                <a:tc>
                  <a:txBody>
                    <a:bodyPr/>
                    <a:lstStyle/>
                    <a:p>
                      <a:pPr>
                        <a:defRPr sz="1100">
                          <a:solidFill>
                            <a:srgbClr val="1E293B"/>
                          </a:solidFill>
                        </a:defRPr>
                      </a:pPr>
                      <a:r>
                        <a:t>—</a:t>
                      </a:r>
                    </a:p>
                  </a:txBody>
                  <a:tcPr>
                    <a:solidFill>
                      <a:srgbClr val="FFFFFF"/>
                    </a:solidFill>
                  </a:tcPr>
                </a:tc>
              </a:tr>
              <a:tr h="457200">
                <a:tc>
                  <a:txBody>
                    <a:bodyPr/>
                    <a:lstStyle/>
                    <a:p>
                      <a:pPr>
                        <a:defRPr sz="1100">
                          <a:solidFill>
                            <a:srgbClr val="1E293B"/>
                          </a:solidFill>
                        </a:defRPr>
                      </a:pPr>
                      <a:r>
                        <a:t>Gain NET</a:t>
                      </a:r>
                    </a:p>
                  </a:txBody>
                  <a:tcPr>
                    <a:solidFill>
                      <a:srgbClr val="F1F5F9"/>
                    </a:solidFill>
                  </a:tcPr>
                </a:tc>
                <a:tc>
                  <a:txBody>
                    <a:bodyPr/>
                    <a:lstStyle/>
                    <a:p>
                      <a:pPr>
                        <a:defRPr sz="1100">
                          <a:solidFill>
                            <a:srgbClr val="1E293B"/>
                          </a:solidFill>
                        </a:defRPr>
                      </a:pPr>
                      <a:r>
                        <a:t>—</a:t>
                      </a:r>
                    </a:p>
                  </a:txBody>
                  <a:tcPr>
                    <a:solidFill>
                      <a:srgbClr val="F1F5F9"/>
                    </a:solidFill>
                  </a:tcPr>
                </a:tc>
                <a:tc>
                  <a:txBody>
                    <a:bodyPr/>
                    <a:lstStyle/>
                    <a:p>
                      <a:pPr>
                        <a:defRPr sz="1100">
                          <a:solidFill>
                            <a:srgbClr val="1E293B"/>
                          </a:solidFill>
                        </a:defRPr>
                      </a:pPr>
                      <a:r>
                        <a:t>—</a:t>
                      </a:r>
                    </a:p>
                  </a:txBody>
                  <a:tcPr>
                    <a:solidFill>
                      <a:srgbClr val="F1F5F9"/>
                    </a:solidFill>
                  </a:tcPr>
                </a:tc>
                <a:tc>
                  <a:txBody>
                    <a:bodyPr/>
                    <a:lstStyle/>
                    <a:p>
                      <a:pPr>
                        <a:defRPr sz="1100">
                          <a:solidFill>
                            <a:srgbClr val="1E293B"/>
                          </a:solidFill>
                        </a:defRPr>
                      </a:pPr>
                      <a:r>
                        <a:t>+165 000 (+103%)</a:t>
                      </a:r>
                    </a:p>
                  </a:txBody>
                  <a:tcPr>
                    <a:solidFill>
                      <a:srgbClr val="F1F5F9"/>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20 sacs vendus à 8 000 au lieu de 17 000 FCFA. Perte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Rien</a:t>
            </a:r>
          </a:p>
        </p:txBody>
      </p:sp>
      <p:sp>
        <p:nvSpPr>
          <p:cNvPr id="9" name="Rectangle 8"/>
          <p:cNvSpPr/>
          <p:nvPr/>
        </p:nvSpPr>
        <p:spPr>
          <a:xfrm>
            <a:off x="1097280" y="333756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0">
                <a:solidFill>
                  <a:srgbClr val="1E293B"/>
                </a:solidFill>
              </a:defRPr>
            </a:pPr>
            <a:r>
              <a:t>B.  90 000</a:t>
            </a:r>
          </a:p>
        </p:txBody>
      </p:sp>
      <p:sp>
        <p:nvSpPr>
          <p:cNvPr id="11" name="Rectangle 10"/>
          <p:cNvSpPr/>
          <p:nvPr/>
        </p:nvSpPr>
        <p:spPr>
          <a:xfrm>
            <a:off x="1097280" y="420624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1">
                <a:solidFill>
                  <a:srgbClr val="FFFFFF"/>
                </a:solidFill>
              </a:defRPr>
            </a:pPr>
            <a:r>
              <a:t>C.  180 000 FCFA (9 000 × 20)</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20 000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914400"/>
          </a:xfrm>
          <a:prstGeom prst="rect">
            <a:avLst/>
          </a:prstGeom>
          <a:noFill/>
        </p:spPr>
        <p:txBody>
          <a:bodyPr wrap="square">
            <a:spAutoFit/>
          </a:bodyPr>
          <a:lstStyle/>
          <a:p>
            <a:pPr algn="ctr">
              <a:defRPr sz="3600" b="1">
                <a:solidFill>
                  <a:srgbClr val="0D9488"/>
                </a:solidFill>
              </a:defRPr>
            </a:pPr>
            <a:r>
              <a:t>MOIS 3</a:t>
            </a:r>
          </a:p>
        </p:txBody>
      </p:sp>
      <p:sp>
        <p:nvSpPr>
          <p:cNvPr id="4" name="TextBox 3"/>
          <p:cNvSpPr txBox="1"/>
          <p:nvPr/>
        </p:nvSpPr>
        <p:spPr>
          <a:xfrm>
            <a:off x="914400" y="3474720"/>
            <a:ext cx="10332720" cy="914400"/>
          </a:xfrm>
          <a:prstGeom prst="rect">
            <a:avLst/>
          </a:prstGeom>
          <a:noFill/>
        </p:spPr>
        <p:txBody>
          <a:bodyPr wrap="square">
            <a:spAutoFit/>
          </a:bodyPr>
          <a:lstStyle/>
          <a:p>
            <a:pPr algn="ctr">
              <a:defRPr sz="2000" b="0">
                <a:solidFill>
                  <a:srgbClr val="64748B"/>
                </a:solidFill>
              </a:defRPr>
            </a:pPr>
            <a:r>
              <a:t>Transmettre et pérenniser — Semaines 9 à 12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9</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9</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Gérer les risques : maladies, sécheresse, vol</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2h30  |  Matériel : cartes illustrées, 3 boîtes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Les risques qui ruinent les paysans</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Activité : classement des risques (cartes illustrées)</a:t>
            </a:r>
          </a:p>
          <a:p>
            <a:pPr>
              <a:spcBef>
                <a:spcPts val="400"/>
              </a:spcBef>
              <a:defRPr sz="1600">
                <a:solidFill>
                  <a:srgbClr val="1E293B"/>
                </a:solidFill>
              </a:defRPr>
            </a:pPr>
            <a:r>
              <a:t>  « Le plus fréquent ? Le plus grave ? »</a:t>
            </a:r>
          </a:p>
          <a:p>
            <a:pPr>
              <a:spcBef>
                <a:spcPts val="400"/>
              </a:spcBef>
              <a:defRPr sz="1600">
                <a:solidFill>
                  <a:srgbClr val="1E293B"/>
                </a:solidFill>
              </a:defRPr>
            </a:pPr>
          </a:p>
          <a:p>
            <a:pPr>
              <a:spcBef>
                <a:spcPts val="400"/>
              </a:spcBef>
              <a:defRPr sz="1600">
                <a:solidFill>
                  <a:srgbClr val="1E293B"/>
                </a:solidFill>
              </a:defRPr>
            </a:pPr>
            <a:r>
              <a:t>3 stratégies :</a:t>
            </a:r>
          </a:p>
          <a:p>
            <a:pPr>
              <a:spcBef>
                <a:spcPts val="400"/>
              </a:spcBef>
              <a:defRPr sz="1600">
                <a:solidFill>
                  <a:srgbClr val="1E293B"/>
                </a:solidFill>
              </a:defRPr>
            </a:pPr>
            <a:r>
              <a:t>  • PRÉVENIR — diversifier cultures, variétés résistantes</a:t>
            </a:r>
          </a:p>
          <a:p>
            <a:pPr>
              <a:spcBef>
                <a:spcPts val="400"/>
              </a:spcBef>
              <a:defRPr sz="1600">
                <a:solidFill>
                  <a:srgbClr val="1E293B"/>
                </a:solidFill>
              </a:defRPr>
            </a:pPr>
            <a:r>
              <a:t>  • ATTÉNUER — fonds d'urgence (épargne séparée)</a:t>
            </a:r>
          </a:p>
          <a:p>
            <a:pPr>
              <a:spcBef>
                <a:spcPts val="400"/>
              </a:spcBef>
              <a:defRPr sz="1600">
                <a:solidFill>
                  <a:srgbClr val="1E293B"/>
                </a:solidFill>
              </a:defRPr>
            </a:pPr>
            <a:r>
              <a:t>  • TRANSFÉRER — assurance, mutuelle, fonds social AVEC</a:t>
            </a:r>
          </a:p>
          <a:p>
            <a:pPr>
              <a:spcBef>
                <a:spcPts val="400"/>
              </a:spcBef>
              <a:defRPr sz="1600">
                <a:solidFill>
                  <a:srgbClr val="1E293B"/>
                </a:solidFill>
              </a:defRPr>
            </a:pPr>
          </a:p>
          <a:p>
            <a:pPr>
              <a:spcBef>
                <a:spcPts val="400"/>
              </a:spcBef>
              <a:defRPr sz="1600">
                <a:solidFill>
                  <a:srgbClr val="1E293B"/>
                </a:solidFill>
              </a:defRPr>
            </a:pPr>
            <a:r>
              <a:t>Priorité : fonds d'urgence = 2-3 mois de dépenses</a:t>
            </a:r>
          </a:p>
          <a:p>
            <a:pPr>
              <a:spcBef>
                <a:spcPts val="400"/>
              </a:spcBef>
              <a:defRPr sz="1600">
                <a:solidFill>
                  <a:srgbClr val="1E293B"/>
                </a:solidFill>
              </a:defRPr>
            </a:pPr>
            <a:r>
              <a:t>SÉPARÉ de l'épargne intrants</a:t>
            </a:r>
          </a:p>
          <a:p>
            <a:pPr>
              <a:spcBef>
                <a:spcPts val="400"/>
              </a:spcBef>
              <a:defRPr sz="1600">
                <a:solidFill>
                  <a:srgbClr val="1E293B"/>
                </a:solidFill>
              </a:defRPr>
            </a:pPr>
          </a:p>
          <a:p>
            <a:pPr>
              <a:spcBef>
                <a:spcPts val="400"/>
              </a:spcBef>
              <a:defRPr sz="1600">
                <a:solidFill>
                  <a:srgbClr val="1E293B"/>
                </a:solidFill>
              </a:defRPr>
            </a:pPr>
            <a:r>
              <a:t>Méthode des 3 enveloppes : INTRANTS | URGENCE | FAMILLE</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D97706"/>
                </a:solidFill>
              </a:defRPr>
            </a:pPr>
            <a:r>
              <a:t>L'histoire de Moussa</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200 000 FCFA épargnés pour un bœuf. Son fils tombe malade. Toute l'épargne part en soins. Plus de bœuf, campagne ratée. Sans fonds d'urgence séparé, UN événement efface des ANNÉES d'efforts.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Pourquoi le fonds d'urgence doit être SÉPARÉ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Compliquer les choses</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Éviter qu'un imprévu détruise la campagne agricole</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Gagner des intérêts</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Pas nécessaire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10</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10</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Structurer et animer une session au village</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2h  |  Matériel : fiches APCA vierges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Le plan de session APCA</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Chaque session = 4 phases, 2h maximum :</a:t>
            </a:r>
          </a:p>
          <a:p>
            <a:pPr>
              <a:spcBef>
                <a:spcPts val="400"/>
              </a:spcBef>
              <a:defRPr sz="1600">
                <a:solidFill>
                  <a:srgbClr val="1E293B"/>
                </a:solidFill>
              </a:defRPr>
            </a:pPr>
          </a:p>
          <a:p>
            <a:pPr>
              <a:spcBef>
                <a:spcPts val="400"/>
              </a:spcBef>
              <a:defRPr sz="1600">
                <a:solidFill>
                  <a:srgbClr val="1E293B"/>
                </a:solidFill>
              </a:defRPr>
            </a:pPr>
            <a:r>
              <a:t>  ACCROCHE (15 min)</a:t>
            </a:r>
          </a:p>
          <a:p>
            <a:pPr>
              <a:spcBef>
                <a:spcPts val="400"/>
              </a:spcBef>
              <a:defRPr sz="1600">
                <a:solidFill>
                  <a:srgbClr val="1E293B"/>
                </a:solidFill>
              </a:defRPr>
            </a:pPr>
            <a:r>
              <a:t>  Problème vécu, histoire, question provocante</a:t>
            </a:r>
          </a:p>
          <a:p>
            <a:pPr>
              <a:spcBef>
                <a:spcPts val="400"/>
              </a:spcBef>
              <a:defRPr sz="1600">
                <a:solidFill>
                  <a:srgbClr val="1E293B"/>
                </a:solidFill>
              </a:defRPr>
            </a:pPr>
          </a:p>
          <a:p>
            <a:pPr>
              <a:spcBef>
                <a:spcPts val="400"/>
              </a:spcBef>
              <a:defRPr sz="1600">
                <a:solidFill>
                  <a:srgbClr val="1E293B"/>
                </a:solidFill>
              </a:defRPr>
            </a:pPr>
            <a:r>
              <a:t>  PRATIQUE (60 min)</a:t>
            </a:r>
          </a:p>
          <a:p>
            <a:pPr>
              <a:spcBef>
                <a:spcPts val="400"/>
              </a:spcBef>
              <a:defRPr sz="1600">
                <a:solidFill>
                  <a:srgbClr val="1E293B"/>
                </a:solidFill>
              </a:defRPr>
            </a:pPr>
            <a:r>
              <a:t>  Cailloux, jeu de rôle, calcul collectif</a:t>
            </a:r>
          </a:p>
          <a:p>
            <a:pPr>
              <a:spcBef>
                <a:spcPts val="400"/>
              </a:spcBef>
              <a:defRPr sz="1600">
                <a:solidFill>
                  <a:srgbClr val="1E293B"/>
                </a:solidFill>
              </a:defRPr>
            </a:pPr>
          </a:p>
          <a:p>
            <a:pPr>
              <a:spcBef>
                <a:spcPts val="400"/>
              </a:spcBef>
              <a:defRPr sz="1600">
                <a:solidFill>
                  <a:srgbClr val="1E293B"/>
                </a:solidFill>
              </a:defRPr>
            </a:pPr>
            <a:r>
              <a:t>  CONCEPTUALISATION (20 min)</a:t>
            </a:r>
          </a:p>
          <a:p>
            <a:pPr>
              <a:spcBef>
                <a:spcPts val="400"/>
              </a:spcBef>
              <a:defRPr sz="1600">
                <a:solidFill>
                  <a:srgbClr val="1E293B"/>
                </a:solidFill>
              </a:defRPr>
            </a:pPr>
            <a:r>
              <a:t>  Le GROUPE formule la leçon (pas vous !)</a:t>
            </a:r>
          </a:p>
          <a:p>
            <a:pPr>
              <a:spcBef>
                <a:spcPts val="400"/>
              </a:spcBef>
              <a:defRPr sz="1600">
                <a:solidFill>
                  <a:srgbClr val="1E293B"/>
                </a:solidFill>
              </a:defRPr>
            </a:pPr>
          </a:p>
          <a:p>
            <a:pPr>
              <a:spcBef>
                <a:spcPts val="400"/>
              </a:spcBef>
              <a:defRPr sz="1600">
                <a:solidFill>
                  <a:srgbClr val="1E293B"/>
                </a:solidFill>
              </a:defRPr>
            </a:pPr>
            <a:r>
              <a:t>  ACTION (15 min)</a:t>
            </a:r>
          </a:p>
          <a:p>
            <a:pPr>
              <a:spcBef>
                <a:spcPts val="400"/>
              </a:spcBef>
              <a:defRPr sz="1600">
                <a:solidFill>
                  <a:srgbClr val="1E293B"/>
                </a:solidFill>
              </a:defRPr>
            </a:pPr>
            <a:r>
              <a:t>  Engagement concret avant la prochaine session</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0D9488"/>
                </a:solidFill>
              </a:defRPr>
            </a:pPr>
            <a:r>
              <a:t>La fiche de session</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Pour CHAQUE session : fiche A4 recto-verso avec objectif, matériel, déroulement minute par minute, questions de facilitation. C'est l'outil de démultiplication.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Exemple : session budget familial</a:t>
            </a:r>
          </a:p>
        </p:txBody>
      </p:sp>
      <p:graphicFrame>
        <p:nvGraphicFramePr>
          <p:cNvPr id="4" name="Table 3"/>
          <p:cNvGraphicFramePr>
            <a:graphicFrameLocks noGrp="1"/>
          </p:cNvGraphicFramePr>
          <p:nvPr/>
        </p:nvGraphicFramePr>
        <p:xfrm>
          <a:off x="457200" y="1188720"/>
          <a:ext cx="10972800" cy="22860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pPr>
                        <a:defRPr sz="1200" b="1">
                          <a:solidFill>
                            <a:srgbClr val="FFFFFF"/>
                          </a:solidFill>
                        </a:defRPr>
                      </a:pPr>
                      <a:r>
                        <a:t>Phase</a:t>
                      </a:r>
                    </a:p>
                  </a:txBody>
                  <a:tcPr>
                    <a:solidFill>
                      <a:srgbClr val="0D9488"/>
                    </a:solidFill>
                  </a:tcPr>
                </a:tc>
                <a:tc>
                  <a:txBody>
                    <a:bodyPr/>
                    <a:lstStyle/>
                    <a:p>
                      <a:pPr>
                        <a:defRPr sz="1200" b="1">
                          <a:solidFill>
                            <a:srgbClr val="FFFFFF"/>
                          </a:solidFill>
                        </a:defRPr>
                      </a:pPr>
                      <a:r>
                        <a:t>Durée</a:t>
                      </a:r>
                    </a:p>
                  </a:txBody>
                  <a:tcPr>
                    <a:solidFill>
                      <a:srgbClr val="0D9488"/>
                    </a:solidFill>
                  </a:tcPr>
                </a:tc>
                <a:tc>
                  <a:txBody>
                    <a:bodyPr/>
                    <a:lstStyle/>
                    <a:p>
                      <a:pPr>
                        <a:defRPr sz="1200" b="1">
                          <a:solidFill>
                            <a:srgbClr val="FFFFFF"/>
                          </a:solidFill>
                        </a:defRPr>
                      </a:pPr>
                      <a:r>
                        <a:t>Le formateur</a:t>
                      </a:r>
                    </a:p>
                  </a:txBody>
                  <a:tcPr>
                    <a:solidFill>
                      <a:srgbClr val="0D9488"/>
                    </a:solidFill>
                  </a:tcPr>
                </a:tc>
                <a:tc>
                  <a:txBody>
                    <a:bodyPr/>
                    <a:lstStyle/>
                    <a:p>
                      <a:pPr>
                        <a:defRPr sz="1200" b="1">
                          <a:solidFill>
                            <a:srgbClr val="FFFFFF"/>
                          </a:solidFill>
                        </a:defRPr>
                      </a:pPr>
                      <a:r>
                        <a:t>Les participants</a:t>
                      </a:r>
                    </a:p>
                  </a:txBody>
                  <a:tcPr>
                    <a:solidFill>
                      <a:srgbClr val="0D9488"/>
                    </a:solidFill>
                  </a:tcPr>
                </a:tc>
              </a:tr>
              <a:tr h="457200">
                <a:tc>
                  <a:txBody>
                    <a:bodyPr/>
                    <a:lstStyle/>
                    <a:p>
                      <a:pPr>
                        <a:defRPr sz="1100">
                          <a:solidFill>
                            <a:srgbClr val="1E293B"/>
                          </a:solidFill>
                        </a:defRPr>
                      </a:pPr>
                      <a:r>
                        <a:t>Accroche</a:t>
                      </a:r>
                    </a:p>
                  </a:txBody>
                  <a:tcPr>
                    <a:solidFill>
                      <a:srgbClr val="FFFFFF"/>
                    </a:solidFill>
                  </a:tcPr>
                </a:tc>
                <a:tc>
                  <a:txBody>
                    <a:bodyPr/>
                    <a:lstStyle/>
                    <a:p>
                      <a:pPr>
                        <a:defRPr sz="1100">
                          <a:solidFill>
                            <a:srgbClr val="1E293B"/>
                          </a:solidFill>
                        </a:defRPr>
                      </a:pPr>
                      <a:r>
                        <a:t>15 min</a:t>
                      </a:r>
                    </a:p>
                  </a:txBody>
                  <a:tcPr>
                    <a:solidFill>
                      <a:srgbClr val="FFFFFF"/>
                    </a:solidFill>
                  </a:tcPr>
                </a:tc>
                <a:tc>
                  <a:txBody>
                    <a:bodyPr/>
                    <a:lstStyle/>
                    <a:p>
                      <a:pPr>
                        <a:defRPr sz="1100">
                          <a:solidFill>
                            <a:srgbClr val="1E293B"/>
                          </a:solidFill>
                        </a:defRPr>
                      </a:pPr>
                      <a:r>
                        <a:t>Histoire de Mamadou</a:t>
                      </a:r>
                    </a:p>
                  </a:txBody>
                  <a:tcPr>
                    <a:solidFill>
                      <a:srgbClr val="FFFFFF"/>
                    </a:solidFill>
                  </a:tcPr>
                </a:tc>
                <a:tc>
                  <a:txBody>
                    <a:bodyPr/>
                    <a:lstStyle/>
                    <a:p>
                      <a:pPr>
                        <a:defRPr sz="1100">
                          <a:solidFill>
                            <a:srgbClr val="1E293B"/>
                          </a:solidFill>
                        </a:defRPr>
                      </a:pPr>
                      <a:r>
                        <a:t>Réagissent, s'identifient</a:t>
                      </a:r>
                    </a:p>
                  </a:txBody>
                  <a:tcPr>
                    <a:solidFill>
                      <a:srgbClr val="FFFFFF"/>
                    </a:solidFill>
                  </a:tcPr>
                </a:tc>
              </a:tr>
              <a:tr h="457200">
                <a:tc>
                  <a:txBody>
                    <a:bodyPr/>
                    <a:lstStyle/>
                    <a:p>
                      <a:pPr>
                        <a:defRPr sz="1100">
                          <a:solidFill>
                            <a:srgbClr val="1E293B"/>
                          </a:solidFill>
                        </a:defRPr>
                      </a:pPr>
                      <a:r>
                        <a:t>Pratique</a:t>
                      </a:r>
                    </a:p>
                  </a:txBody>
                  <a:tcPr>
                    <a:solidFill>
                      <a:srgbClr val="F1F5F9"/>
                    </a:solidFill>
                  </a:tcPr>
                </a:tc>
                <a:tc>
                  <a:txBody>
                    <a:bodyPr/>
                    <a:lstStyle/>
                    <a:p>
                      <a:pPr>
                        <a:defRPr sz="1100">
                          <a:solidFill>
                            <a:srgbClr val="1E293B"/>
                          </a:solidFill>
                        </a:defRPr>
                      </a:pPr>
                      <a:r>
                        <a:t>60 min</a:t>
                      </a:r>
                    </a:p>
                  </a:txBody>
                  <a:tcPr>
                    <a:solidFill>
                      <a:srgbClr val="F1F5F9"/>
                    </a:solidFill>
                  </a:tcPr>
                </a:tc>
                <a:tc>
                  <a:txBody>
                    <a:bodyPr/>
                    <a:lstStyle/>
                    <a:p>
                      <a:pPr>
                        <a:defRPr sz="1100">
                          <a:solidFill>
                            <a:srgbClr val="1E293B"/>
                          </a:solidFill>
                        </a:defRPr>
                      </a:pPr>
                      <a:r>
                        <a:t>Distribue les graines</a:t>
                      </a:r>
                    </a:p>
                  </a:txBody>
                  <a:tcPr>
                    <a:solidFill>
                      <a:srgbClr val="F1F5F9"/>
                    </a:solidFill>
                  </a:tcPr>
                </a:tc>
                <a:tc>
                  <a:txBody>
                    <a:bodyPr/>
                    <a:lstStyle/>
                    <a:p>
                      <a:pPr>
                        <a:defRPr sz="1100">
                          <a:solidFill>
                            <a:srgbClr val="1E293B"/>
                          </a:solidFill>
                        </a:defRPr>
                      </a:pPr>
                      <a:r>
                        <a:t>Construisent LEUR budget</a:t>
                      </a:r>
                    </a:p>
                  </a:txBody>
                  <a:tcPr>
                    <a:solidFill>
                      <a:srgbClr val="F1F5F9"/>
                    </a:solidFill>
                  </a:tcPr>
                </a:tc>
              </a:tr>
              <a:tr h="457200">
                <a:tc>
                  <a:txBody>
                    <a:bodyPr/>
                    <a:lstStyle/>
                    <a:p>
                      <a:pPr>
                        <a:defRPr sz="1100">
                          <a:solidFill>
                            <a:srgbClr val="1E293B"/>
                          </a:solidFill>
                        </a:defRPr>
                      </a:pPr>
                      <a:r>
                        <a:t>Concept.</a:t>
                      </a:r>
                    </a:p>
                  </a:txBody>
                  <a:tcPr>
                    <a:solidFill>
                      <a:srgbClr val="FFFFFF"/>
                    </a:solidFill>
                  </a:tcPr>
                </a:tc>
                <a:tc>
                  <a:txBody>
                    <a:bodyPr/>
                    <a:lstStyle/>
                    <a:p>
                      <a:pPr>
                        <a:defRPr sz="1100">
                          <a:solidFill>
                            <a:srgbClr val="1E293B"/>
                          </a:solidFill>
                        </a:defRPr>
                      </a:pPr>
                      <a:r>
                        <a:t>20 min</a:t>
                      </a:r>
                    </a:p>
                  </a:txBody>
                  <a:tcPr>
                    <a:solidFill>
                      <a:srgbClr val="FFFFFF"/>
                    </a:solidFill>
                  </a:tcPr>
                </a:tc>
                <a:tc>
                  <a:txBody>
                    <a:bodyPr/>
                    <a:lstStyle/>
                    <a:p>
                      <a:pPr>
                        <a:defRPr sz="1100">
                          <a:solidFill>
                            <a:srgbClr val="1E293B"/>
                          </a:solidFill>
                        </a:defRPr>
                      </a:pPr>
                      <a:r>
                        <a:t>« Qu'avez-vous découvert ? »</a:t>
                      </a:r>
                    </a:p>
                  </a:txBody>
                  <a:tcPr>
                    <a:solidFill>
                      <a:srgbClr val="FFFFFF"/>
                    </a:solidFill>
                  </a:tcPr>
                </a:tc>
                <a:tc>
                  <a:txBody>
                    <a:bodyPr/>
                    <a:lstStyle/>
                    <a:p>
                      <a:pPr>
                        <a:defRPr sz="1100">
                          <a:solidFill>
                            <a:srgbClr val="1E293B"/>
                          </a:solidFill>
                        </a:defRPr>
                      </a:pPr>
                      <a:r>
                        <a:t>Formulent la leçon</a:t>
                      </a:r>
                    </a:p>
                  </a:txBody>
                  <a:tcPr>
                    <a:solidFill>
                      <a:srgbClr val="FFFFFF"/>
                    </a:solidFill>
                  </a:tcPr>
                </a:tc>
              </a:tr>
              <a:tr h="457200">
                <a:tc>
                  <a:txBody>
                    <a:bodyPr/>
                    <a:lstStyle/>
                    <a:p>
                      <a:pPr>
                        <a:defRPr sz="1100">
                          <a:solidFill>
                            <a:srgbClr val="1E293B"/>
                          </a:solidFill>
                        </a:defRPr>
                      </a:pPr>
                      <a:r>
                        <a:t>Action</a:t>
                      </a:r>
                    </a:p>
                  </a:txBody>
                  <a:tcPr>
                    <a:solidFill>
                      <a:srgbClr val="F1F5F9"/>
                    </a:solidFill>
                  </a:tcPr>
                </a:tc>
                <a:tc>
                  <a:txBody>
                    <a:bodyPr/>
                    <a:lstStyle/>
                    <a:p>
                      <a:pPr>
                        <a:defRPr sz="1100">
                          <a:solidFill>
                            <a:srgbClr val="1E293B"/>
                          </a:solidFill>
                        </a:defRPr>
                      </a:pPr>
                      <a:r>
                        <a:t>15 min</a:t>
                      </a:r>
                    </a:p>
                  </a:txBody>
                  <a:tcPr>
                    <a:solidFill>
                      <a:srgbClr val="F1F5F9"/>
                    </a:solidFill>
                  </a:tcPr>
                </a:tc>
                <a:tc>
                  <a:txBody>
                    <a:bodyPr/>
                    <a:lstStyle/>
                    <a:p>
                      <a:pPr>
                        <a:defRPr sz="1100">
                          <a:solidFill>
                            <a:srgbClr val="1E293B"/>
                          </a:solidFill>
                        </a:defRPr>
                      </a:pPr>
                      <a:r>
                        <a:t>« Que comptez-vous faire ? »</a:t>
                      </a:r>
                    </a:p>
                  </a:txBody>
                  <a:tcPr>
                    <a:solidFill>
                      <a:srgbClr val="F1F5F9"/>
                    </a:solidFill>
                  </a:tcPr>
                </a:tc>
                <a:tc>
                  <a:txBody>
                    <a:bodyPr/>
                    <a:lstStyle/>
                    <a:p>
                      <a:pPr>
                        <a:defRPr sz="1100">
                          <a:solidFill>
                            <a:srgbClr val="1E293B"/>
                          </a:solidFill>
                        </a:defRPr>
                      </a:pPr>
                      <a:r>
                        <a:t>S'engagent</a:t>
                      </a:r>
                    </a:p>
                  </a:txBody>
                  <a:tcPr>
                    <a:solidFill>
                      <a:srgbClr val="F1F5F9"/>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Dans le cycle APCA, le formateur parle combien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Pendant l'Accroche surtout</a:t>
            </a:r>
          </a:p>
        </p:txBody>
      </p:sp>
      <p:sp>
        <p:nvSpPr>
          <p:cNvPr id="9" name="Rectangle 8"/>
          <p:cNvSpPr/>
          <p:nvPr/>
        </p:nvSpPr>
        <p:spPr>
          <a:xfrm>
            <a:off x="1097280" y="333756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0">
                <a:solidFill>
                  <a:srgbClr val="1E293B"/>
                </a:solidFill>
              </a:defRPr>
            </a:pPr>
            <a:r>
              <a:t>B.  Pendant la Pratique</a:t>
            </a:r>
          </a:p>
        </p:txBody>
      </p:sp>
      <p:sp>
        <p:nvSpPr>
          <p:cNvPr id="11" name="Rectangle 10"/>
          <p:cNvSpPr/>
          <p:nvPr/>
        </p:nvSpPr>
        <p:spPr>
          <a:xfrm>
            <a:off x="1097280" y="420624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1">
                <a:solidFill>
                  <a:srgbClr val="FFFFFF"/>
                </a:solidFill>
              </a:defRPr>
            </a:pPr>
            <a:r>
              <a:t>C.  20% max — le groupe fait 80%</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Pendant la Conceptualisation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11</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11</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Pratique supervisée : animez votre première session</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3h  |  Matériel : matériel du thème choisi</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C'est à vous de jouer !</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1. Choisissez UN thème (sessions 1 à 9)</a:t>
            </a:r>
          </a:p>
          <a:p>
            <a:pPr>
              <a:spcBef>
                <a:spcPts val="400"/>
              </a:spcBef>
              <a:defRPr sz="1600">
                <a:solidFill>
                  <a:srgbClr val="1E293B"/>
                </a:solidFill>
              </a:defRPr>
            </a:pPr>
            <a:r>
              <a:t>2. Préparez votre fiche APCA</a:t>
            </a:r>
          </a:p>
          <a:p>
            <a:pPr>
              <a:spcBef>
                <a:spcPts val="400"/>
              </a:spcBef>
              <a:defRPr sz="1600">
                <a:solidFill>
                  <a:srgbClr val="1E293B"/>
                </a:solidFill>
              </a:defRPr>
            </a:pPr>
            <a:r>
              <a:t>3. Animez 20 min devant vos co-stagiaires</a:t>
            </a:r>
          </a:p>
          <a:p>
            <a:pPr>
              <a:spcBef>
                <a:spcPts val="400"/>
              </a:spcBef>
              <a:defRPr sz="1600">
                <a:solidFill>
                  <a:srgbClr val="1E293B"/>
                </a:solidFill>
              </a:defRPr>
            </a:pPr>
            <a:r>
              <a:t>4. Feedback constructif (groupe + superviseur)</a:t>
            </a:r>
          </a:p>
          <a:p>
            <a:pPr>
              <a:spcBef>
                <a:spcPts val="400"/>
              </a:spcBef>
              <a:defRPr sz="1600">
                <a:solidFill>
                  <a:srgbClr val="1E293B"/>
                </a:solidFill>
              </a:defRPr>
            </a:pPr>
          </a:p>
          <a:p>
            <a:pPr>
              <a:spcBef>
                <a:spcPts val="400"/>
              </a:spcBef>
              <a:defRPr sz="1600">
                <a:solidFill>
                  <a:srgbClr val="1E293B"/>
                </a:solidFill>
              </a:defRPr>
            </a:pPr>
            <a:r>
              <a:t>Grille d'observation (5 critères, note 1-3) :</a:t>
            </a:r>
          </a:p>
          <a:p>
            <a:pPr>
              <a:spcBef>
                <a:spcPts val="400"/>
              </a:spcBef>
              <a:defRPr sz="1600">
                <a:solidFill>
                  <a:srgbClr val="1E293B"/>
                </a:solidFill>
              </a:defRPr>
            </a:pPr>
            <a:r>
              <a:t>  • Pose des questions avant d'expliquer</a:t>
            </a:r>
          </a:p>
          <a:p>
            <a:pPr>
              <a:spcBef>
                <a:spcPts val="400"/>
              </a:spcBef>
              <a:defRPr sz="1600">
                <a:solidFill>
                  <a:srgbClr val="1E293B"/>
                </a:solidFill>
              </a:defRPr>
            </a:pPr>
            <a:r>
              <a:t>  • Utilise du matériel concret</a:t>
            </a:r>
          </a:p>
          <a:p>
            <a:pPr>
              <a:spcBef>
                <a:spcPts val="400"/>
              </a:spcBef>
              <a:defRPr sz="1600">
                <a:solidFill>
                  <a:srgbClr val="1E293B"/>
                </a:solidFill>
              </a:defRPr>
            </a:pPr>
            <a:r>
              <a:t>  • Langage simple, pas de jargon</a:t>
            </a:r>
          </a:p>
          <a:p>
            <a:pPr>
              <a:spcBef>
                <a:spcPts val="400"/>
              </a:spcBef>
              <a:defRPr sz="1600">
                <a:solidFill>
                  <a:srgbClr val="1E293B"/>
                </a:solidFill>
              </a:defRPr>
            </a:pPr>
            <a:r>
              <a:t>  • Respect du cycle APCA et du temps</a:t>
            </a:r>
          </a:p>
          <a:p>
            <a:pPr>
              <a:spcBef>
                <a:spcPts val="400"/>
              </a:spcBef>
              <a:defRPr sz="1600">
                <a:solidFill>
                  <a:srgbClr val="1E293B"/>
                </a:solidFill>
              </a:defRPr>
            </a:pPr>
            <a:r>
              <a:t>  • Bienveillance, valorise les savoirs</a:t>
            </a:r>
          </a:p>
          <a:p>
            <a:pPr>
              <a:spcBef>
                <a:spcPts val="400"/>
              </a:spcBef>
              <a:defRPr sz="1600">
                <a:solidFill>
                  <a:srgbClr val="1E293B"/>
                </a:solidFill>
              </a:defRPr>
            </a:pPr>
          </a:p>
          <a:p>
            <a:pPr>
              <a:spcBef>
                <a:spcPts val="400"/>
              </a:spcBef>
              <a:defRPr sz="1600">
                <a:solidFill>
                  <a:srgbClr val="1E293B"/>
                </a:solidFill>
              </a:defRPr>
            </a:pPr>
            <a:r>
              <a:t>Feedback : méthode sandwich</a:t>
            </a:r>
          </a:p>
          <a:p>
            <a:pPr>
              <a:spcBef>
                <a:spcPts val="400"/>
              </a:spcBef>
              <a:defRPr sz="1600">
                <a:solidFill>
                  <a:srgbClr val="1E293B"/>
                </a:solidFill>
              </a:defRPr>
            </a:pPr>
            <a:r>
              <a:t>  Positif → 1 amélioration → Positif</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D97706"/>
                </a:solidFill>
              </a:defRPr>
            </a:pPr>
            <a:r>
              <a:t>Erreur la plus fréquente</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90% des stagiaires parlent trop lors de leur première animation. Normal — on a tous été formés par le modèle scolaire. L'andragogie c'est le contraire.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822960" cy="4114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84048"/>
            <a:ext cx="822960" cy="411480"/>
          </a:xfrm>
          <a:prstGeom prst="rect">
            <a:avLst/>
          </a:prstGeom>
          <a:noFill/>
        </p:spPr>
        <p:txBody>
          <a:bodyPr wrap="square">
            <a:spAutoFit/>
          </a:bodyPr>
          <a:lstStyle/>
          <a:p>
            <a:pPr algn="ctr">
              <a:defRPr sz="1400" b="1">
                <a:solidFill>
                  <a:srgbClr val="FFFFFF"/>
                </a:solidFill>
              </a:defRPr>
            </a:pPr>
            <a:r>
              <a:t>QUIZ</a:t>
            </a:r>
          </a:p>
        </p:txBody>
      </p:sp>
      <p:sp>
        <p:nvSpPr>
          <p:cNvPr id="6" name="TextBox 5"/>
          <p:cNvSpPr txBox="1"/>
          <p:nvPr/>
        </p:nvSpPr>
        <p:spPr>
          <a:xfrm>
            <a:off x="457200" y="1097280"/>
            <a:ext cx="10972800" cy="914400"/>
          </a:xfrm>
          <a:prstGeom prst="rect">
            <a:avLst/>
          </a:prstGeom>
          <a:noFill/>
        </p:spPr>
        <p:txBody>
          <a:bodyPr wrap="square">
            <a:spAutoFit/>
          </a:bodyPr>
          <a:lstStyle/>
          <a:p>
            <a:pPr algn="l">
              <a:defRPr sz="2200" b="1">
                <a:solidFill>
                  <a:srgbClr val="1E293B"/>
                </a:solidFill>
              </a:defRPr>
            </a:pPr>
            <a:r>
              <a:t>Lors du feedback, par quoi commencer ?</a:t>
            </a:r>
          </a:p>
        </p:txBody>
      </p:sp>
      <p:sp>
        <p:nvSpPr>
          <p:cNvPr id="7" name="Rectangle 6"/>
          <p:cNvSpPr/>
          <p:nvPr/>
        </p:nvSpPr>
        <p:spPr>
          <a:xfrm>
            <a:off x="1097280" y="246888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2545080"/>
            <a:ext cx="9144000" cy="548640"/>
          </a:xfrm>
          <a:prstGeom prst="rect">
            <a:avLst/>
          </a:prstGeom>
          <a:noFill/>
        </p:spPr>
        <p:txBody>
          <a:bodyPr wrap="square">
            <a:spAutoFit/>
          </a:bodyPr>
          <a:lstStyle/>
          <a:p>
            <a:pPr algn="l">
              <a:defRPr sz="1600" b="0">
                <a:solidFill>
                  <a:srgbClr val="1E293B"/>
                </a:solidFill>
              </a:defRPr>
            </a:pPr>
            <a:r>
              <a:t>A.  Les erreurs</a:t>
            </a:r>
          </a:p>
        </p:txBody>
      </p:sp>
      <p:sp>
        <p:nvSpPr>
          <p:cNvPr id="9" name="Rectangle 8"/>
          <p:cNvSpPr/>
          <p:nvPr/>
        </p:nvSpPr>
        <p:spPr>
          <a:xfrm>
            <a:off x="1097280" y="3337560"/>
            <a:ext cx="9601200" cy="64008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0" y="3413760"/>
            <a:ext cx="9144000" cy="548640"/>
          </a:xfrm>
          <a:prstGeom prst="rect">
            <a:avLst/>
          </a:prstGeom>
          <a:noFill/>
        </p:spPr>
        <p:txBody>
          <a:bodyPr wrap="square">
            <a:spAutoFit/>
          </a:bodyPr>
          <a:lstStyle/>
          <a:p>
            <a:pPr algn="l">
              <a:defRPr sz="1600" b="1">
                <a:solidFill>
                  <a:srgbClr val="FFFFFF"/>
                </a:solidFill>
              </a:defRPr>
            </a:pPr>
            <a:r>
              <a:t>B.  Ce qu'il a bien fait (méthode sandwich)</a:t>
            </a:r>
          </a:p>
        </p:txBody>
      </p:sp>
      <p:sp>
        <p:nvSpPr>
          <p:cNvPr id="11" name="Rectangle 10"/>
          <p:cNvSpPr/>
          <p:nvPr/>
        </p:nvSpPr>
        <p:spPr>
          <a:xfrm>
            <a:off x="1097280" y="420624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4282440"/>
            <a:ext cx="9144000" cy="548640"/>
          </a:xfrm>
          <a:prstGeom prst="rect">
            <a:avLst/>
          </a:prstGeom>
          <a:noFill/>
        </p:spPr>
        <p:txBody>
          <a:bodyPr wrap="square">
            <a:spAutoFit/>
          </a:bodyPr>
          <a:lstStyle/>
          <a:p>
            <a:pPr algn="l">
              <a:defRPr sz="1600" b="0">
                <a:solidFill>
                  <a:srgbClr val="1E293B"/>
                </a:solidFill>
              </a:defRPr>
            </a:pPr>
            <a:r>
              <a:t>C.  Une note chiffrée</a:t>
            </a:r>
          </a:p>
        </p:txBody>
      </p:sp>
      <p:sp>
        <p:nvSpPr>
          <p:cNvPr id="13" name="Rectangle 12"/>
          <p:cNvSpPr/>
          <p:nvPr/>
        </p:nvSpPr>
        <p:spPr>
          <a:xfrm>
            <a:off x="1097280" y="5074920"/>
            <a:ext cx="9601200"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5151120"/>
            <a:ext cx="9144000" cy="548640"/>
          </a:xfrm>
          <a:prstGeom prst="rect">
            <a:avLst/>
          </a:prstGeom>
          <a:noFill/>
        </p:spPr>
        <p:txBody>
          <a:bodyPr wrap="square">
            <a:spAutoFit/>
          </a:bodyPr>
          <a:lstStyle/>
          <a:p>
            <a:pPr algn="l">
              <a:defRPr sz="1600" b="0">
                <a:solidFill>
                  <a:srgbClr val="1E293B"/>
                </a:solidFill>
              </a:defRPr>
            </a:pPr>
            <a:r>
              <a:t>D.  Un silence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371600"/>
            <a:ext cx="1005840" cy="100584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05840" cy="731520"/>
          </a:xfrm>
          <a:prstGeom prst="rect">
            <a:avLst/>
          </a:prstGeom>
          <a:noFill/>
        </p:spPr>
        <p:txBody>
          <a:bodyPr wrap="square">
            <a:spAutoFit/>
          </a:bodyPr>
          <a:lstStyle/>
          <a:p>
            <a:pPr algn="ctr">
              <a:defRPr sz="4000" b="1">
                <a:solidFill>
                  <a:srgbClr val="FFFFFF"/>
                </a:solidFill>
              </a:defRPr>
            </a:pPr>
            <a:r>
              <a:t>12</a:t>
            </a:r>
          </a:p>
        </p:txBody>
      </p:sp>
      <p:sp>
        <p:nvSpPr>
          <p:cNvPr id="5" name="TextBox 4"/>
          <p:cNvSpPr txBox="1"/>
          <p:nvPr/>
        </p:nvSpPr>
        <p:spPr>
          <a:xfrm>
            <a:off x="2286000" y="1097280"/>
            <a:ext cx="9144000" cy="457200"/>
          </a:xfrm>
          <a:prstGeom prst="rect">
            <a:avLst/>
          </a:prstGeom>
          <a:noFill/>
        </p:spPr>
        <p:txBody>
          <a:bodyPr wrap="square">
            <a:spAutoFit/>
          </a:bodyPr>
          <a:lstStyle/>
          <a:p>
            <a:pPr algn="l">
              <a:defRPr sz="1600" b="1">
                <a:solidFill>
                  <a:srgbClr val="0D9488"/>
                </a:solidFill>
              </a:defRPr>
            </a:pPr>
            <a:r>
              <a:t>Leçon 12</a:t>
            </a:r>
          </a:p>
        </p:txBody>
      </p:sp>
      <p:sp>
        <p:nvSpPr>
          <p:cNvPr id="6" name="TextBox 5"/>
          <p:cNvSpPr txBox="1"/>
          <p:nvPr/>
        </p:nvSpPr>
        <p:spPr>
          <a:xfrm>
            <a:off x="2286000" y="1645920"/>
            <a:ext cx="9144000" cy="1371600"/>
          </a:xfrm>
          <a:prstGeom prst="rect">
            <a:avLst/>
          </a:prstGeom>
          <a:noFill/>
        </p:spPr>
        <p:txBody>
          <a:bodyPr wrap="square">
            <a:spAutoFit/>
          </a:bodyPr>
          <a:lstStyle/>
          <a:p>
            <a:pPr algn="l">
              <a:defRPr sz="3000" b="1">
                <a:solidFill>
                  <a:srgbClr val="1E293B"/>
                </a:solidFill>
              </a:defRPr>
            </a:pPr>
            <a:r>
              <a:t>Capstone : plan d'action communautaire</a:t>
            </a:r>
          </a:p>
        </p:txBody>
      </p:sp>
      <p:sp>
        <p:nvSpPr>
          <p:cNvPr id="7" name="TextBox 6"/>
          <p:cNvSpPr txBox="1"/>
          <p:nvPr/>
        </p:nvSpPr>
        <p:spPr>
          <a:xfrm>
            <a:off x="2286000" y="3200400"/>
            <a:ext cx="9144000" cy="457200"/>
          </a:xfrm>
          <a:prstGeom prst="rect">
            <a:avLst/>
          </a:prstGeom>
          <a:noFill/>
        </p:spPr>
        <p:txBody>
          <a:bodyPr wrap="square">
            <a:spAutoFit/>
          </a:bodyPr>
          <a:lstStyle/>
          <a:p>
            <a:pPr algn="l">
              <a:defRPr sz="1400" b="0">
                <a:solidFill>
                  <a:srgbClr val="64748B"/>
                </a:solidFill>
              </a:defRPr>
            </a:pPr>
            <a:r>
              <a:t>Durée : 3h  |  Matériel : fiches plan d'action, tableau de suivi</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Bilan et engagement</a:t>
            </a:r>
          </a:p>
        </p:txBody>
      </p:sp>
      <p:sp>
        <p:nvSpPr>
          <p:cNvPr id="4" name="TextBox 3"/>
          <p:cNvSpPr txBox="1"/>
          <p:nvPr/>
        </p:nvSpPr>
        <p:spPr>
          <a:xfrm>
            <a:off x="457200" y="1188720"/>
            <a:ext cx="6400800" cy="5029200"/>
          </a:xfrm>
          <a:prstGeom prst="rect">
            <a:avLst/>
          </a:prstGeom>
          <a:noFill/>
        </p:spPr>
        <p:txBody>
          <a:bodyPr wrap="square">
            <a:spAutoFit/>
          </a:bodyPr>
          <a:lstStyle/>
          <a:p>
            <a:pPr>
              <a:spcBef>
                <a:spcPts val="400"/>
              </a:spcBef>
              <a:defRPr sz="1600">
                <a:solidFill>
                  <a:srgbClr val="1E293B"/>
                </a:solidFill>
              </a:defRPr>
            </a:pPr>
            <a:r>
              <a:t>Ce que vous maîtrisez maintenant :</a:t>
            </a:r>
          </a:p>
          <a:p>
            <a:pPr>
              <a:spcBef>
                <a:spcPts val="400"/>
              </a:spcBef>
              <a:defRPr sz="1600">
                <a:solidFill>
                  <a:srgbClr val="1E293B"/>
                </a:solidFill>
              </a:defRPr>
            </a:pPr>
            <a:r>
              <a:t>  Posture de facilitateur — Budget en graines</a:t>
            </a:r>
          </a:p>
          <a:p>
            <a:pPr>
              <a:spcBef>
                <a:spcPts val="400"/>
              </a:spcBef>
              <a:defRPr sz="1600">
                <a:solidFill>
                  <a:srgbClr val="1E293B"/>
                </a:solidFill>
              </a:defRPr>
            </a:pPr>
            <a:r>
              <a:t>  Épargne/tontine/AVEC — Coût de production</a:t>
            </a:r>
          </a:p>
          <a:p>
            <a:pPr>
              <a:spcBef>
                <a:spcPts val="400"/>
              </a:spcBef>
              <a:defRPr sz="1600">
                <a:solidFill>
                  <a:srgbClr val="1E293B"/>
                </a:solidFill>
              </a:defRPr>
            </a:pPr>
            <a:r>
              <a:t>  Planification campagne — Crédit et commercialisation</a:t>
            </a:r>
          </a:p>
          <a:p>
            <a:pPr>
              <a:spcBef>
                <a:spcPts val="400"/>
              </a:spcBef>
              <a:defRPr sz="1600">
                <a:solidFill>
                  <a:srgbClr val="1E293B"/>
                </a:solidFill>
              </a:defRPr>
            </a:pPr>
            <a:r>
              <a:t>  Gestion des risques — Animation APCA</a:t>
            </a:r>
          </a:p>
          <a:p>
            <a:pPr>
              <a:spcBef>
                <a:spcPts val="400"/>
              </a:spcBef>
              <a:defRPr sz="1600">
                <a:solidFill>
                  <a:srgbClr val="1E293B"/>
                </a:solidFill>
              </a:defRPr>
            </a:pPr>
          </a:p>
          <a:p>
            <a:pPr>
              <a:spcBef>
                <a:spcPts val="400"/>
              </a:spcBef>
              <a:defRPr sz="1600">
                <a:solidFill>
                  <a:srgbClr val="1E293B"/>
                </a:solidFill>
              </a:defRPr>
            </a:pPr>
            <a:r>
              <a:t>Votre plan d'action :</a:t>
            </a:r>
          </a:p>
          <a:p>
            <a:pPr>
              <a:spcBef>
                <a:spcPts val="400"/>
              </a:spcBef>
              <a:defRPr sz="1600">
                <a:solidFill>
                  <a:srgbClr val="1E293B"/>
                </a:solidFill>
              </a:defRPr>
            </a:pPr>
            <a:r>
              <a:t>  1. OÙ — quel(s) village(s) ?</a:t>
            </a:r>
          </a:p>
          <a:p>
            <a:pPr>
              <a:spcBef>
                <a:spcPts val="400"/>
              </a:spcBef>
              <a:defRPr sz="1600">
                <a:solidFill>
                  <a:srgbClr val="1E293B"/>
                </a:solidFill>
              </a:defRPr>
            </a:pPr>
            <a:r>
              <a:t>  2. QUAND — calendrier des 12 sessions</a:t>
            </a:r>
          </a:p>
          <a:p>
            <a:pPr>
              <a:spcBef>
                <a:spcPts val="400"/>
              </a:spcBef>
              <a:defRPr sz="1600">
                <a:solidFill>
                  <a:srgbClr val="1E293B"/>
                </a:solidFill>
              </a:defRPr>
            </a:pPr>
            <a:r>
              <a:t>  3. QUI — combien de groupes et participants ?</a:t>
            </a:r>
          </a:p>
          <a:p>
            <a:pPr>
              <a:spcBef>
                <a:spcPts val="400"/>
              </a:spcBef>
              <a:defRPr sz="1600">
                <a:solidFill>
                  <a:srgbClr val="1E293B"/>
                </a:solidFill>
              </a:defRPr>
            </a:pPr>
            <a:r>
              <a:t>  4. COMMENT — matériel nécessaire</a:t>
            </a:r>
          </a:p>
          <a:p>
            <a:pPr>
              <a:spcBef>
                <a:spcPts val="400"/>
              </a:spcBef>
              <a:defRPr sz="1600">
                <a:solidFill>
                  <a:srgbClr val="1E293B"/>
                </a:solidFill>
              </a:defRPr>
            </a:pPr>
            <a:r>
              <a:t>  5. SUIVI — mesurer le changement (avant/après)</a:t>
            </a:r>
          </a:p>
        </p:txBody>
      </p:sp>
      <p:sp>
        <p:nvSpPr>
          <p:cNvPr id="5" name="Rectangle 4"/>
          <p:cNvSpPr/>
          <p:nvPr/>
        </p:nvSpPr>
        <p:spPr>
          <a:xfrm>
            <a:off x="7315200" y="1188720"/>
            <a:ext cx="4389120" cy="41148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0" y="1371600"/>
            <a:ext cx="3931920" cy="548640"/>
          </a:xfrm>
          <a:prstGeom prst="rect">
            <a:avLst/>
          </a:prstGeom>
          <a:noFill/>
        </p:spPr>
        <p:txBody>
          <a:bodyPr wrap="square">
            <a:spAutoFit/>
          </a:bodyPr>
          <a:lstStyle/>
          <a:p>
            <a:pPr algn="l">
              <a:defRPr sz="1400" b="1">
                <a:solidFill>
                  <a:srgbClr val="2563EB"/>
                </a:solidFill>
              </a:defRPr>
            </a:pPr>
            <a:r>
              <a:t>Impact projeté</a:t>
            </a:r>
          </a:p>
        </p:txBody>
      </p:sp>
      <p:sp>
        <p:nvSpPr>
          <p:cNvPr id="7" name="TextBox 6"/>
          <p:cNvSpPr txBox="1"/>
          <p:nvPr/>
        </p:nvSpPr>
        <p:spPr>
          <a:xfrm>
            <a:off x="7589520" y="2011680"/>
            <a:ext cx="3931920" cy="3017520"/>
          </a:xfrm>
          <a:prstGeom prst="rect">
            <a:avLst/>
          </a:prstGeom>
          <a:noFill/>
        </p:spPr>
        <p:txBody>
          <a:bodyPr wrap="square">
            <a:spAutoFit/>
          </a:bodyPr>
          <a:lstStyle/>
          <a:p>
            <a:pPr algn="l">
              <a:defRPr sz="1300" b="0">
                <a:solidFill>
                  <a:srgbClr val="1E293B"/>
                </a:solidFill>
              </a:defRPr>
            </a:pPr>
            <a:r>
              <a:t>1 formateur × 4 groupes × 25 paysans = 100 ménages. Effet boule de neige : 300 ménages = 2 100 personnes. +35% épargne, -40% crédit commerçant après 1 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64008"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640080"/>
          </a:xfrm>
          <a:prstGeom prst="rect">
            <a:avLst/>
          </a:prstGeom>
          <a:noFill/>
        </p:spPr>
        <p:txBody>
          <a:bodyPr wrap="square">
            <a:spAutoFit/>
          </a:bodyPr>
          <a:lstStyle/>
          <a:p>
            <a:pPr algn="l">
              <a:defRPr sz="2600" b="1">
                <a:solidFill>
                  <a:srgbClr val="1E293B"/>
                </a:solidFill>
              </a:defRPr>
            </a:pPr>
            <a:r>
              <a:t>Tableau de suivi d'impact</a:t>
            </a:r>
          </a:p>
        </p:txBody>
      </p:sp>
      <p:graphicFrame>
        <p:nvGraphicFramePr>
          <p:cNvPr id="4" name="Table 3"/>
          <p:cNvGraphicFramePr>
            <a:graphicFrameLocks noGrp="1"/>
          </p:cNvGraphicFramePr>
          <p:nvPr/>
        </p:nvGraphicFramePr>
        <p:xfrm>
          <a:off x="457200" y="11887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457200">
                <a:tc>
                  <a:txBody>
                    <a:bodyPr/>
                    <a:lstStyle/>
                    <a:p>
                      <a:pPr>
                        <a:defRPr sz="1200" b="1">
                          <a:solidFill>
                            <a:srgbClr val="FFFFFF"/>
                          </a:solidFill>
                        </a:defRPr>
                      </a:pPr>
                      <a:r>
                        <a:t>Indicateur</a:t>
                      </a:r>
                    </a:p>
                  </a:txBody>
                  <a:tcPr>
                    <a:solidFill>
                      <a:srgbClr val="0D9488"/>
                    </a:solidFill>
                  </a:tcPr>
                </a:tc>
                <a:tc>
                  <a:txBody>
                    <a:bodyPr/>
                    <a:lstStyle/>
                    <a:p>
                      <a:pPr>
                        <a:defRPr sz="1200" b="1">
                          <a:solidFill>
                            <a:srgbClr val="FFFFFF"/>
                          </a:solidFill>
                        </a:defRPr>
                      </a:pPr>
                      <a:r>
                        <a:t>Avant</a:t>
                      </a:r>
                    </a:p>
                  </a:txBody>
                  <a:tcPr>
                    <a:solidFill>
                      <a:srgbClr val="0D9488"/>
                    </a:solidFill>
                  </a:tcPr>
                </a:tc>
                <a:tc>
                  <a:txBody>
                    <a:bodyPr/>
                    <a:lstStyle/>
                    <a:p>
                      <a:pPr>
                        <a:defRPr sz="1200" b="1">
                          <a:solidFill>
                            <a:srgbClr val="FFFFFF"/>
                          </a:solidFill>
                        </a:defRPr>
                      </a:pPr>
                      <a:r>
                        <a:t>Après 6 mois</a:t>
                      </a:r>
                    </a:p>
                  </a:txBody>
                  <a:tcPr>
                    <a:solidFill>
                      <a:srgbClr val="0D9488"/>
                    </a:solidFill>
                  </a:tcPr>
                </a:tc>
                <a:tc>
                  <a:txBody>
                    <a:bodyPr/>
                    <a:lstStyle/>
                    <a:p>
                      <a:pPr>
                        <a:defRPr sz="1200" b="1">
                          <a:solidFill>
                            <a:srgbClr val="FFFFFF"/>
                          </a:solidFill>
                        </a:defRPr>
                      </a:pPr>
                      <a:r>
                        <a:t>Objectif</a:t>
                      </a:r>
                    </a:p>
                  </a:txBody>
                  <a:tcPr>
                    <a:solidFill>
                      <a:srgbClr val="0D9488"/>
                    </a:solidFill>
                  </a:tcPr>
                </a:tc>
              </a:tr>
              <a:tr h="457200">
                <a:tc>
                  <a:txBody>
                    <a:bodyPr/>
                    <a:lstStyle/>
                    <a:p>
                      <a:pPr>
                        <a:defRPr sz="1100">
                          <a:solidFill>
                            <a:srgbClr val="1E293B"/>
                          </a:solidFill>
                        </a:defRPr>
                      </a:pPr>
                      <a:r>
                        <a:t>% ménages avec budget</a:t>
                      </a:r>
                    </a:p>
                  </a:txBody>
                  <a:tcPr>
                    <a:solidFill>
                      <a:srgbClr val="FFFFFF"/>
                    </a:solidFill>
                  </a:tcPr>
                </a:tc>
                <a:tc>
                  <a:txBody>
                    <a:bodyPr/>
                    <a:lstStyle/>
                    <a:p>
                      <a:pPr>
                        <a:defRPr sz="1100">
                          <a:solidFill>
                            <a:srgbClr val="1E293B"/>
                          </a:solidFill>
                        </a:defRPr>
                      </a:pPr>
                      <a:r>
                        <a:t>À mesurer</a:t>
                      </a:r>
                    </a:p>
                  </a:txBody>
                  <a:tcPr>
                    <a:solidFill>
                      <a:srgbClr val="FFFFFF"/>
                    </a:solidFill>
                  </a:tcPr>
                </a:tc>
                <a:tc>
                  <a:txBody>
                    <a:bodyPr/>
                    <a:lstStyle/>
                    <a:p>
                      <a:pPr>
                        <a:defRPr sz="1100">
                          <a:solidFill>
                            <a:srgbClr val="1E293B"/>
                          </a:solidFill>
                        </a:defRPr>
                      </a:pPr>
                      <a:r>
                        <a:t>À mesurer</a:t>
                      </a:r>
                    </a:p>
                  </a:txBody>
                  <a:tcPr>
                    <a:solidFill>
                      <a:srgbClr val="FFFFFF"/>
                    </a:solidFill>
                  </a:tcPr>
                </a:tc>
                <a:tc>
                  <a:txBody>
                    <a:bodyPr/>
                    <a:lstStyle/>
                    <a:p>
                      <a:pPr>
                        <a:defRPr sz="1100">
                          <a:solidFill>
                            <a:srgbClr val="1E293B"/>
                          </a:solidFill>
                        </a:defRPr>
                      </a:pPr>
                      <a:r>
                        <a:t>60%</a:t>
                      </a:r>
                    </a:p>
                  </a:txBody>
                  <a:tcPr>
                    <a:solidFill>
                      <a:srgbClr val="FFFFFF"/>
                    </a:solidFill>
                  </a:tcPr>
                </a:tc>
              </a:tr>
              <a:tr h="457200">
                <a:tc>
                  <a:txBody>
                    <a:bodyPr/>
                    <a:lstStyle/>
                    <a:p>
                      <a:pPr>
                        <a:defRPr sz="1100">
                          <a:solidFill>
                            <a:srgbClr val="1E293B"/>
                          </a:solidFill>
                        </a:defRPr>
                      </a:pPr>
                      <a:r>
                        <a:t>Épargne mensuelle</a:t>
                      </a:r>
                    </a:p>
                  </a:txBody>
                  <a:tcPr>
                    <a:solidFill>
                      <a:srgbClr val="F1F5F9"/>
                    </a:solidFill>
                  </a:tcPr>
                </a:tc>
                <a:tc>
                  <a:txBody>
                    <a:bodyPr/>
                    <a:lstStyle/>
                    <a:p>
                      <a:pPr>
                        <a:defRPr sz="1100">
                          <a:solidFill>
                            <a:srgbClr val="1E293B"/>
                          </a:solidFill>
                        </a:defRPr>
                      </a:pPr>
                      <a:r>
                        <a:t>À mesurer</a:t>
                      </a:r>
                    </a:p>
                  </a:txBody>
                  <a:tcPr>
                    <a:solidFill>
                      <a:srgbClr val="F1F5F9"/>
                    </a:solidFill>
                  </a:tcPr>
                </a:tc>
                <a:tc>
                  <a:txBody>
                    <a:bodyPr/>
                    <a:lstStyle/>
                    <a:p>
                      <a:pPr>
                        <a:defRPr sz="1100">
                          <a:solidFill>
                            <a:srgbClr val="1E293B"/>
                          </a:solidFill>
                        </a:defRPr>
                      </a:pPr>
                      <a:r>
                        <a:t>À mesurer</a:t>
                      </a:r>
                    </a:p>
                  </a:txBody>
                  <a:tcPr>
                    <a:solidFill>
                      <a:srgbClr val="F1F5F9"/>
                    </a:solidFill>
                  </a:tcPr>
                </a:tc>
                <a:tc>
                  <a:txBody>
                    <a:bodyPr/>
                    <a:lstStyle/>
                    <a:p>
                      <a:pPr>
                        <a:defRPr sz="1100">
                          <a:solidFill>
                            <a:srgbClr val="1E293B"/>
                          </a:solidFill>
                        </a:defRPr>
                      </a:pPr>
                      <a:r>
                        <a:t>+30%</a:t>
                      </a:r>
                    </a:p>
                  </a:txBody>
                  <a:tcPr>
                    <a:solidFill>
                      <a:srgbClr val="F1F5F9"/>
                    </a:solidFill>
                  </a:tcPr>
                </a:tc>
              </a:tr>
              <a:tr h="457200">
                <a:tc>
                  <a:txBody>
                    <a:bodyPr/>
                    <a:lstStyle/>
                    <a:p>
                      <a:pPr>
                        <a:defRPr sz="1100">
                          <a:solidFill>
                            <a:srgbClr val="1E293B"/>
                          </a:solidFill>
                        </a:defRPr>
                      </a:pPr>
                      <a:r>
                        <a:t>% crédit commerçant</a:t>
                      </a:r>
                    </a:p>
                  </a:txBody>
                  <a:tcPr>
                    <a:solidFill>
                      <a:srgbClr val="FFFFFF"/>
                    </a:solidFill>
                  </a:tcPr>
                </a:tc>
                <a:tc>
                  <a:txBody>
                    <a:bodyPr/>
                    <a:lstStyle/>
                    <a:p>
                      <a:pPr>
                        <a:defRPr sz="1100">
                          <a:solidFill>
                            <a:srgbClr val="1E293B"/>
                          </a:solidFill>
                        </a:defRPr>
                      </a:pPr>
                      <a:r>
                        <a:t>À mesurer</a:t>
                      </a:r>
                    </a:p>
                  </a:txBody>
                  <a:tcPr>
                    <a:solidFill>
                      <a:srgbClr val="FFFFFF"/>
                    </a:solidFill>
                  </a:tcPr>
                </a:tc>
                <a:tc>
                  <a:txBody>
                    <a:bodyPr/>
                    <a:lstStyle/>
                    <a:p>
                      <a:pPr>
                        <a:defRPr sz="1100">
                          <a:solidFill>
                            <a:srgbClr val="1E293B"/>
                          </a:solidFill>
                        </a:defRPr>
                      </a:pPr>
                      <a:r>
                        <a:t>À mesurer</a:t>
                      </a:r>
                    </a:p>
                  </a:txBody>
                  <a:tcPr>
                    <a:solidFill>
                      <a:srgbClr val="FFFFFF"/>
                    </a:solidFill>
                  </a:tcPr>
                </a:tc>
                <a:tc>
                  <a:txBody>
                    <a:bodyPr/>
                    <a:lstStyle/>
                    <a:p>
                      <a:pPr>
                        <a:defRPr sz="1100">
                          <a:solidFill>
                            <a:srgbClr val="1E293B"/>
                          </a:solidFill>
                        </a:defRPr>
                      </a:pPr>
                      <a:r>
                        <a:t>-50%</a:t>
                      </a:r>
                    </a:p>
                  </a:txBody>
                  <a:tcPr>
                    <a:solidFill>
                      <a:srgbClr val="FFFFFF"/>
                    </a:solidFill>
                  </a:tcPr>
                </a:tc>
              </a:tr>
              <a:tr h="457200">
                <a:tc>
                  <a:txBody>
                    <a:bodyPr/>
                    <a:lstStyle/>
                    <a:p>
                      <a:pPr>
                        <a:defRPr sz="1100">
                          <a:solidFill>
                            <a:srgbClr val="1E293B"/>
                          </a:solidFill>
                        </a:defRPr>
                      </a:pPr>
                      <a:r>
                        <a:t>Tontines/AVEC actives</a:t>
                      </a:r>
                    </a:p>
                  </a:txBody>
                  <a:tcPr>
                    <a:solidFill>
                      <a:srgbClr val="F1F5F9"/>
                    </a:solidFill>
                  </a:tcPr>
                </a:tc>
                <a:tc>
                  <a:txBody>
                    <a:bodyPr/>
                    <a:lstStyle/>
                    <a:p>
                      <a:pPr>
                        <a:defRPr sz="1100">
                          <a:solidFill>
                            <a:srgbClr val="1E293B"/>
                          </a:solidFill>
                        </a:defRPr>
                      </a:pPr>
                      <a:r>
                        <a:t>À compter</a:t>
                      </a:r>
                    </a:p>
                  </a:txBody>
                  <a:tcPr>
                    <a:solidFill>
                      <a:srgbClr val="F1F5F9"/>
                    </a:solidFill>
                  </a:tcPr>
                </a:tc>
                <a:tc>
                  <a:txBody>
                    <a:bodyPr/>
                    <a:lstStyle/>
                    <a:p>
                      <a:pPr>
                        <a:defRPr sz="1100">
                          <a:solidFill>
                            <a:srgbClr val="1E293B"/>
                          </a:solidFill>
                        </a:defRPr>
                      </a:pPr>
                      <a:r>
                        <a:t>À compter</a:t>
                      </a:r>
                    </a:p>
                  </a:txBody>
                  <a:tcPr>
                    <a:solidFill>
                      <a:srgbClr val="F1F5F9"/>
                    </a:solidFill>
                  </a:tcPr>
                </a:tc>
                <a:tc>
                  <a:txBody>
                    <a:bodyPr/>
                    <a:lstStyle/>
                    <a:p>
                      <a:pPr>
                        <a:defRPr sz="1100">
                          <a:solidFill>
                            <a:srgbClr val="1E293B"/>
                          </a:solidFill>
                        </a:defRPr>
                      </a:pPr>
                      <a:r>
                        <a:t>+3</a:t>
                      </a:r>
                    </a:p>
                  </a:txBody>
                  <a:tcPr>
                    <a:solidFill>
                      <a:srgbClr val="F1F5F9"/>
                    </a:solidFill>
                  </a:tcPr>
                </a:tc>
              </a:tr>
              <a:tr h="457200">
                <a:tc>
                  <a:txBody>
                    <a:bodyPr/>
                    <a:lstStyle/>
                    <a:p>
                      <a:pPr>
                        <a:defRPr sz="1100">
                          <a:solidFill>
                            <a:srgbClr val="1E293B"/>
                          </a:solidFill>
                        </a:defRPr>
                      </a:pPr>
                      <a:r>
                        <a:t>Paysans formés</a:t>
                      </a:r>
                    </a:p>
                  </a:txBody>
                  <a:tcPr>
                    <a:solidFill>
                      <a:srgbClr val="FFFFFF"/>
                    </a:solidFill>
                  </a:tcPr>
                </a:tc>
                <a:tc>
                  <a:txBody>
                    <a:bodyPr/>
                    <a:lstStyle/>
                    <a:p>
                      <a:pPr>
                        <a:defRPr sz="1100">
                          <a:solidFill>
                            <a:srgbClr val="1E293B"/>
                          </a:solidFill>
                        </a:defRPr>
                      </a:pPr>
                      <a:r>
                        <a:t>0</a:t>
                      </a:r>
                    </a:p>
                  </a:txBody>
                  <a:tcPr>
                    <a:solidFill>
                      <a:srgbClr val="FFFFFF"/>
                    </a:solidFill>
                  </a:tcPr>
                </a:tc>
                <a:tc>
                  <a:txBody>
                    <a:bodyPr/>
                    <a:lstStyle/>
                    <a:p>
                      <a:pPr>
                        <a:defRPr sz="1100">
                          <a:solidFill>
                            <a:srgbClr val="1E293B"/>
                          </a:solidFill>
                        </a:defRPr>
                      </a:pPr>
                      <a:r>
                        <a:t>À compter</a:t>
                      </a:r>
                    </a:p>
                  </a:txBody>
                  <a:tcPr>
                    <a:solidFill>
                      <a:srgbClr val="FFFFFF"/>
                    </a:solidFill>
                  </a:tcPr>
                </a:tc>
                <a:tc>
                  <a:txBody>
                    <a:bodyPr/>
                    <a:lstStyle/>
                    <a:p>
                      <a:pPr>
                        <a:defRPr sz="1100">
                          <a:solidFill>
                            <a:srgbClr val="1E293B"/>
                          </a:solidFill>
                        </a:defRPr>
                      </a:pPr>
                      <a:r>
                        <a:t>300</a:t>
                      </a:r>
                    </a:p>
                  </a:txBody>
                  <a:tcPr>
                    <a:solidFill>
                      <a:srgbClr val="FFFFFF"/>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32720" cy="2286000"/>
          </a:xfrm>
          <a:prstGeom prst="rect">
            <a:avLst/>
          </a:prstGeom>
          <a:noFill/>
        </p:spPr>
        <p:txBody>
          <a:bodyPr wrap="square">
            <a:spAutoFit/>
          </a:bodyPr>
          <a:lstStyle/>
          <a:p>
            <a:pPr algn="ctr">
              <a:defRPr sz="4000" b="1">
                <a:solidFill>
                  <a:srgbClr val="FFFFFF"/>
                </a:solidFill>
              </a:defRPr>
            </a:pPr>
            <a:r>
              <a:t>Vous êtes maintenant</a:t>
            </a:r>
            <a:br/>
            <a:r>
              <a:t>Formateur en Gestion Financière Paysanne</a:t>
            </a:r>
          </a:p>
        </p:txBody>
      </p:sp>
      <p:sp>
        <p:nvSpPr>
          <p:cNvPr id="4" name="TextBox 3"/>
          <p:cNvSpPr txBox="1"/>
          <p:nvPr/>
        </p:nvSpPr>
        <p:spPr>
          <a:xfrm>
            <a:off x="914400" y="4114800"/>
            <a:ext cx="10332720" cy="1371600"/>
          </a:xfrm>
          <a:prstGeom prst="rect">
            <a:avLst/>
          </a:prstGeom>
          <a:noFill/>
        </p:spPr>
        <p:txBody>
          <a:bodyPr wrap="square">
            <a:spAutoFit/>
          </a:bodyPr>
          <a:lstStyle/>
          <a:p>
            <a:pPr algn="ctr">
              <a:defRPr sz="2000" b="0">
                <a:solidFill>
                  <a:srgbClr val="CCFBF1"/>
                </a:solidFill>
              </a:defRPr>
            </a:pPr>
            <a:r>
              <a:t>Allez sur le terrain. Écoutez les paysans.</a:t>
            </a:r>
            <a:br/>
            <a:r>
              <a:t>Accompagnez-les avec des cailloux, des graines</a:t>
            </a:r>
            <a:br/>
            <a:r>
              <a:t>et beaucoup d'écoute.</a:t>
            </a:r>
            <a:br/>
            <a:br/>
            <a:r>
              <a:t>Bon terrain !</a:t>
            </a:r>
          </a:p>
        </p:txBody>
      </p:sp>
      <p:sp>
        <p:nvSpPr>
          <p:cNvPr id="5" name="TextBox 4"/>
          <p:cNvSpPr txBox="1"/>
          <p:nvPr/>
        </p:nvSpPr>
        <p:spPr>
          <a:xfrm>
            <a:off x="914400" y="5943600"/>
            <a:ext cx="10332720" cy="457200"/>
          </a:xfrm>
          <a:prstGeom prst="rect">
            <a:avLst/>
          </a:prstGeom>
          <a:noFill/>
        </p:spPr>
        <p:txBody>
          <a:bodyPr wrap="square">
            <a:spAutoFit/>
          </a:bodyPr>
          <a:lstStyle/>
          <a:p>
            <a:pPr algn="ctr">
              <a:defRPr sz="1200" b="0">
                <a:solidFill>
                  <a:srgbClr val="99F6E4"/>
                </a:solidFill>
              </a:defRPr>
            </a:pPr>
            <a:r>
              <a:t>DataMEAL Academy — Formation des Formateurs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