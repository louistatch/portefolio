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DataMEAL Academy | TOF-FIN-01 | Parcours 3 mois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Programme — 12 sessions sur 3 mois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16523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Période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Thème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Activité pratique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Posture du formateur rural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Cercle de parole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D'où vient et où va l'argent ?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Cailloux entrants/sortants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Budget familial en graines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 tas + graines maïs/haricots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Épargne, tontine et AVEC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Simulation tontine en cercle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Coût de production agricole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Calcul collectif au tableau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Planifier la campagne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Corde des saisons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Le crédit : opportunité ou piège 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Jeu de rôle 3 prêteurs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Vendre au bon moment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Courbe des prix au sol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Gérer les risques financiers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Méthode des 3 enveloppes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Structurer une session APCA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Préparer une fiche de session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16523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Pratique supervisée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Chaque stagiaire anime 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5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Mois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Plan d'action communautaire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Engagement collectif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Approche andragogique : 5 principes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</a:defRPr>
            </a:pPr>
            <a:r>
              <a:t>Règle d'or du facilitateur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Le formateur parle 20% du temps maximum. Les 80% restants, ce sont les participants qui parlent, réfléchissent, calculent et échangent entre eux.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1. L'adulte a besoin de savoir POURQUOI — Commencer par un problème concret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2. L'adulte apporte son expérience — Faire parler les anciens d'abord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3. L'adulte veut décider lui-même — Proposer, ne jamais imposer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4. L'adulte apprend pour résoudre un problème immédiat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5. L'adulte est motivé par des résultats concrets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Le cycle APCA — Canevas de chaque session</a:t>
            </a:r>
          </a:p>
        </p:txBody>
      </p:sp>
      <p:pic>
        <p:nvPicPr>
          <p:cNvPr id="4" name="Picture 3" descr="cycle_a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Accroche (15 min) → Pratique (60 min) → Conceptualisation (20 min) → Action (15 min) = 2h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9488"/>
                </a:solidFill>
              </a:defRPr>
            </a:pPr>
            <a:r>
              <a:t>MOIS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</a:defRPr>
            </a:pPr>
            <a:r>
              <a:t>Comprendre l'argent du paysan — Semaines 1 à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Posture du formateur-animateur</a:t>
            </a:r>
            <a:br/>
            <a:r>
              <a:t>en milieu rural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  |  Matériel : cercle de chaises, images parlantes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Vous n'êtes pas un professeur, vous êtes un facilitateur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</a:defRPr>
            </a:pPr>
            <a:r>
              <a:t>Le piège du débutant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Un formateur arrive avec des PowerPoint et du jargon comptable. Les paysans s'ennuient et ne reviennent pas. Ce qui marche : s'asseoir sous l'arbre à palabres, écouter d'abord.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Les paysans ont 20-40 ans d'expérience. Ils savent déjà beaucoup.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Votre rôle : faciliter la prise de conscience, PAS enseigner.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Boîte à outils du facilitateur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L'arbre à problèmes — dessiner causes/conséquences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Le cercle de parole — chacun parle à son tour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Les images parlantes — dessins sans texte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Le jeu de rôle — simuler des situations financières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Les cailloux/graines — compter, représenter, répartir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Un formateur rural efficace consacre quelle proportion du temps à écouter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20% écoute, 80% cours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B.  50/50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C.  80% écoute et facilitation, 20% apport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100% cours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D'où vient et où va l'argent</a:t>
            </a:r>
            <a:br/>
            <a:r>
              <a:t>du paysan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  |  Matériel : sol sableux, cailloux 2 couleurs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Carte des flux d'argent du ménage paysan</a:t>
            </a:r>
          </a:p>
        </p:txBody>
      </p:sp>
      <p:pic>
        <p:nvPicPr>
          <p:cNvPr id="4" name="Picture 3" descr="flux_ar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Activité : dessinez un cercle au sol, cailloux verts (revenus) entrants, cailloux rouges (dépenses) sortants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Le déséquilibre saisonnier : 7 mois de déficit</a:t>
            </a:r>
          </a:p>
        </p:txBody>
      </p:sp>
      <p:pic>
        <p:nvPicPr>
          <p:cNvPr id="4" name="Picture 3" descr="budget_saisonn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Les REVENUS sont concentrés sur 2-3 mois, les DÉPENSES sont permanentes toute l'année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Quel problème l'activité des cailloux fait-elle apparaître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Il ne gagne pas assez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Revenus saisonniers mais dépenses permanentes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Trop de cérémonies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Il ne sait pas compter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Construire un budget familial</a:t>
            </a:r>
            <a:br/>
            <a:r>
              <a:t>avec les paysans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3h  |  Matériel : graines (maïs, haricots), 12 cuvettes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L'outil central : le budget en tas de graines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Témoignage terrain (Mali)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« Quand Mamadou a vu que pendant 7 mois il avait plus de haricots que de maïs, il a dit : Ah, c'est pour ça qu'on souffre ! Il le vivait mais ne l'avait jamais VU.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1. 12 tas de sable en ligne = janvier à décembre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2. 100 graines de maïs = tout l'argent gagné en un an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3. « Répartissez dans les mois où vous recevez de l'argent »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4. 100 graines de haricots = les dépenses par mois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5. Le paysan VOIT les mois de galère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Les montants viennent DU PAYSAN, pas de vous.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Pourquoi utiliser des graines plutôt qu'un tableau écrit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C'est moins cher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Les non-alphabétisés participent et VOIENT le déséquilibre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Plus joli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C'est obligatoire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L'épargne paysanne : tontines,</a:t>
            </a:r>
            <a:br/>
            <a:r>
              <a:t>AVEC et stratégies locales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2h30  |  Matériel : dessins, graines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La tontine : 10 membres × 5 000 FCFA/semaine</a:t>
            </a:r>
          </a:p>
        </p:txBody>
      </p:sp>
      <p:pic>
        <p:nvPicPr>
          <p:cNvPr id="4" name="Picture 3" descr="ton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Chaque semaine, tous cotisent et UN membre reçoit la cagnotte. Au bout de 10 semaines, tout le monde a reçu.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Comparaison des formes d'épargne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Avantage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Risque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Sous le matelas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Disponible immédiatement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Vol, tentation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Grenier (stock grain)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+60% de valeur en 6 mois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Insectes, incendie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Tontine simple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Force l'épargne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Défaillance d'un membre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AVEC / VSLA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Épargne + crédit + fonds social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Nécessite formation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Mobile money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Sécurisé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Frais, réseau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Quel est le principal avantage de la tontine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Intérêts élevés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Force l'épargne et donne un gros montant d'un coup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Remplace la banque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Gratuite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9488"/>
                </a:solidFill>
              </a:defRPr>
            </a:pPr>
            <a:r>
              <a:t>MOIS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</a:defRPr>
            </a:pPr>
            <a:r>
              <a:t>Gérer et planifier — Semaines 5 à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Calculer le coût de production</a:t>
            </a:r>
            <a:br/>
            <a:r>
              <a:t>avec les paysans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3h  |  Matériel : grande feuille, graines, dessins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Le paysan connaît-il le vrai coût de sa production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</a:defRPr>
            </a:pPr>
            <a:r>
              <a:t>Le choc du calcul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Au nord-Cameroun, un paysan vendait son sac à 8 000 FCFA. Coût réel : 9 500 FCFA/sac. Il travaillait à PERTE depuis des années.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Animation : « Combien vous coûte un sac de maïs ? »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1. Dessinez un grand champ au tableau/sol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2. « Pour cultiver 1 ha, qu'est-ce qu'il vous faut ? »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3. Le groupe liste tout : semences, engrais, labour...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4. Pour CHAQUE élément : « Combien ça coûte ? »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5. Additionnez ensemble.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Le coût invisible : la main-d'œuvre familiale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« Si votre femme allait vendre au marché,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combien gagnerait-elle ? » = coût d'opportunité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Répartition du coût de production — 1 ha de maïs</a:t>
            </a:r>
          </a:p>
        </p:txBody>
      </p:sp>
      <p:pic>
        <p:nvPicPr>
          <p:cNvPr id="4" name="Picture 3" descr="cout_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Total : 175 000 FCFA — Coût par sac (20 sacs/ha) : 8 750 FCFA = prix plancher de vente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Sac vendu 8 000 FCFA, coût réel 9 500 FCFA. Situation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Bénéfice 1 500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Perte de 1 500 FCFA par sac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Équilibre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Impossible à dire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Planifier financièrement</a:t>
            </a:r>
            <a:br/>
            <a:r>
              <a:t>la campagne agricole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3h  |  Matériel : corde 3m, 12 nœuds, cartons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La corde des saisons — calendrier cultural et trésorerie</a:t>
            </a:r>
          </a:p>
        </p:txBody>
      </p:sp>
      <p:pic>
        <p:nvPicPr>
          <p:cNvPr id="4" name="Picture 3" descr="corde_sai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Placez les activités sur la corde (12 nœuds = 12 mois). Les graines sous chaque nœud = l'argent nécessaire.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Stratégie d'épargne anticipée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</a:defRPr>
            </a:pPr>
            <a:r>
              <a:t>Le cercle vicieux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Avril : plus d'argent → emprunt au commerçant → remboursement en nature (prix le plus bas) → perte de 30-50%. Chaque année le même piège.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Question clé : « En avril, vous avez l'argent pour les intrants ? »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Calcul avec le groupe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Besoins avril : ~80 000 FCFA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Mois pour épargner (nov-mars) : 5 mois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= 16 000 FCFA/mois à mettre de côté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C'est concret, atteignable, et ça brise le cycle d'endettement.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Exercice maison : chaque participant calcule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ses propres besoins avec sa femme/son mari.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Pourquoi le paysan s'endette-t-il en avril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Paresse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Pas d'épargne planifiée pour les intrants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Intrants trop chers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La banque le force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Le crédit agricole :</a:t>
            </a:r>
            <a:br/>
            <a:r>
              <a:t>opportunité ou piège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2h30  |  Matériel : 3 chaises, cartons offres de crédit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Jeu de rôle : Aminata face au crédit</a:t>
            </a:r>
          </a:p>
        </p:txBody>
      </p:sp>
      <p:pic>
        <p:nvPicPr>
          <p:cNvPr id="4" name="Picture 3" descr="comparaison_cr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188720"/>
            <a:ext cx="4572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Aminata a besoin de 100 000 FCFA pour les intrants.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 prêteurs se présentent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A. Commerçant : intrants maintenant, 5 sacs à la récolte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B. Microfinance : 2%/mois sur 8 mois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C. AVEC/VSLA : 5% sur 4 mois, flexible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 règles d'or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1. Emprunter UNIQUEMENT pour investissement productif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2. Calculer le coût TOTAL du remboursement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3. Préférer l'épargne au crédit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Commerçant prête 100 000 FCFA, demande 5 sacs à 30 000 FCFA. Coût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0 FCFA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50 000 FCFA (150 000 - 100 000)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30 000 FCFA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100 000 FCFA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Stratégies de commercialisation :</a:t>
            </a:r>
            <a:br/>
            <a:r>
              <a:t>vendre au bon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2h30  |  Matériel : cailloux pour courbe des prix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Évolution du prix du maïs — vendre au bon moment</a:t>
            </a:r>
          </a:p>
        </p:txBody>
      </p:sp>
      <p:pic>
        <p:nvPicPr>
          <p:cNvPr id="4" name="Picture 3" descr="courbe_p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Le paysan vend à la récolte (prix bas). Stocker 6 mois = +113% par sac !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Gain du stockage — 20 sacs de maïs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Scénario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Prix/sac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Gain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Vente nov.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160 000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Vente mai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17 000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340 000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+180 000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Coût stockage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-15 000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Gain NET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+165 000 (+103%)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20 sacs vendus à 8 000 au lieu de 17 000. Perte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B.  90 000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C.  180 000 FCFA (9 000 × 20)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20 000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9488"/>
                </a:solidFill>
              </a:defRPr>
            </a:pPr>
            <a:r>
              <a:t>MOIS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</a:defRPr>
            </a:pPr>
            <a:r>
              <a:t>Transmettre et pérenniser — Semaines 9 à 12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Gérer les risques :</a:t>
            </a:r>
            <a:br/>
            <a:r>
              <a:t>maladies, sécheresse, vol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2h30  |  Matériel : cartes illustrées, 3 boîtes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La méthode des 3 enveloppes</a:t>
            </a:r>
          </a:p>
        </p:txBody>
      </p:sp>
      <p:pic>
        <p:nvPicPr>
          <p:cNvPr id="4" name="Picture 3" descr="trois_envelop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972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Répartir les revenus de la récolte en 3 parts : INTRANTS (campagne), URGENCE (imprévus), FAMILLE (quotidien)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Les risques qui ruinent les paysans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</a:defRPr>
            </a:pPr>
            <a:r>
              <a:t>L'histoire de Moussa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200 000 FCFA pour un bœuf. Fils malade. Tout part en soins. Plus de bœuf, campagne ratée. Sans fonds séparé, UN événement efface des ANNÉES d'efforts.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Activité : classement des risques (cartes illustrées)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« Le plus fréquent ? Le plus grave ? »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 stratégies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PRÉVENIR — diversifier cultures, variétés résistantes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ATTÉNUER — fonds d'urgence (épargne séparée)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TRANSFÉRER — assurance, mutuelle, fonds social AVEC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Priorité : fonds d'urgence = 2-3 mois de dépenses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SÉPARÉ de l'épargne intrants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Pourquoi le fonds d'urgence doit être SÉPARÉ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Compliquer les choses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Éviter qu'un imprévu détruise la campagne agricole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Gagner des intérêts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Pas nécessaire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Structurer et animer une session</a:t>
            </a:r>
            <a:br/>
            <a:r>
              <a:t>de formation au village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2h  |  Matériel : fiches APCA vierges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Le plan de session APCA</a:t>
            </a:r>
          </a:p>
        </p:txBody>
      </p:sp>
      <p:pic>
        <p:nvPicPr>
          <p:cNvPr id="4" name="Picture 3" descr="cycle_a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188720"/>
            <a:ext cx="4572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Chaque session = 4 phases, 2h maximum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ACCROCHE (15 min) — Problème vécu, histoire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PRATIQUE (60 min) — Cailloux, jeu de rôle, calcul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CONCEPTUALISATION (20 min) — Le GROUPE formule la leçon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ACTION (15 min) — Engagement concret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Préparez une fiche A4 recto-verso pour chaque session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objectif, matériel, déroulement minute par minute,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questions de facilitation.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Exemple : session budget familial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Durée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Le formateur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Les participants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Accroche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Histoire de Mamadou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Réagissent, s'identifient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Pratique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60 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Distribue les graines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Construisent LEUR budget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Concept.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« Qu'avez-vous découvert ?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Formulent la leçon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 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« Que comptez-vous faire ? »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S'engagent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Dans le cycle APCA, le formateur parle combien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Pendant l'Accroche surtout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B.  Pendant la Pratique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C.  20% max — le groupe fait 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Pendant la Conceptualisation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Pratique supervisée :</a:t>
            </a:r>
            <a:br/>
            <a:r>
              <a:t>animez votre première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3h  |  Matériel : matériel du thème choisi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C'est à vous de jouer !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1188720"/>
            <a:ext cx="4389120" cy="4114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3716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</a:defRPr>
            </a:pPr>
            <a:r>
              <a:t>Erreur la plus fréquente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01168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</a:defRPr>
            </a:pPr>
            <a:r>
              <a:t>90% des stagiaires parlent trop lors de leur première animation. C'est normal — on a tous été formés par le modèle scolaire. L'andragogie c'est le contraire.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1. Choisissez UN thème (sessions 1 à 9)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2. Préparez votre fiche APCA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3. Animez 20 min devant vos co-stagiaires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4. Feedback constructif (groupe + superviseur)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Grille d'observation (5 critères, note 1-3)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Pose des questions avant d'expliquer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Utilise du matériel concret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Langage simple, pas de jargon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Respect du cycle APCA et du temps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• Bienveillance, valorise les savoirs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Feedback : méthode sandwich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Positif → 1 amélioration → Positif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822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</a:defRPr>
            </a:pPr>
            <a:r>
              <a:t>Lors du feedback, par quoi commencer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46888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45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A.  Les erreurs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37560"/>
            <a:ext cx="9601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413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B.  Ce qu'il a bien fait (méthode sandwich)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282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C.  Une note chiffrée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5074920"/>
            <a:ext cx="96012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151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D.  Un silence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05840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</a:defRPr>
            </a:pPr>
            <a:r>
              <a:t>Leçon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Capstone : plan d'action</a:t>
            </a:r>
            <a:br/>
            <a:r>
              <a:t>communautaire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Durée : 3h  |  Matériel : fiches plan d'action, tableau de suivi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</a:defRPr>
            </a:pPr>
            <a:r>
              <a:t>Bilan et engagement</a:t>
            </a:r>
          </a:p>
        </p:txBody>
      </p:sp>
      <p:pic>
        <p:nvPicPr>
          <p:cNvPr id="4" name="Picture 3" descr="impact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188720"/>
            <a:ext cx="4572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Ce que vous maîtrisez maintenant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Posture facilitateur — Budget en graines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Épargne/tontine/AVEC — Coût de production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Planification campagne — Crédit et vente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Gestion des risques — Animation APCA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Votre plan d'action :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1. OÙ — quel(s) village(s) ?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2. QUAND — calendrier des 12 sessions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3. QUI — combien de groupes et participants ?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4. COMMENT — matériel nécessaire</a:t>
            </a:r>
          </a:p>
          <a:p>
            <a:pPr>
              <a:spcBef>
                <a:spcPts val="400"/>
              </a:spcBef>
              <a:defRPr sz="1600">
                <a:solidFill>
                  <a:srgbClr val="1E293B"/>
                </a:solidFill>
              </a:defRPr>
            </a:pPr>
            <a:r>
              <a:t>  5. SUIVI — mesurer le changement (avant/après)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93B"/>
                </a:solidFill>
              </a:defRPr>
            </a:pPr>
            <a:r>
              <a:t>Tableau de suivi d'impact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Indicateur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Avant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Après 6 mois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Objectif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% ménages avec budget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mesurer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mesurer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Épargne mensuelle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mesurer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mesurer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+30%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% crédit commerçant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mesurer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mesurer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Tontines/AVEC actives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compter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compter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+3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Paysans formés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À compter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