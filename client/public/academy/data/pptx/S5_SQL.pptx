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4320" y="1371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8F01"/>
                </a:solidFill>
              </a:rPr>
              <a:t>🌱 LouisFarm Data Analytics Academy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274320" y="594360"/>
            <a:ext cx="2194560" cy="475488"/>
          </a:xfrm>
          <a:prstGeom prst="roundRect">
            <a:avLst>
              <a:gd name="adj" fmla="val 15385"/>
            </a:avLst>
          </a:prstGeom>
          <a:solidFill>
            <a:srgbClr val="F18F0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274320" y="594360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SEMAINE 5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274320" y="123444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400" b="1" dirty="0">
                <a:solidFill>
                  <a:srgbClr val="FFFFFF"/>
                </a:solidFill>
              </a:rPr>
              <a:t>SQL &amp; Data Extraction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274320" y="26517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5E8F5"/>
                </a:solidFill>
              </a:rPr>
              <a:t>SELECT · JOIN · CTE · Window Functions · Base : MFB Bénin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223760" y="365760"/>
            <a:ext cx="2286000" cy="2286000"/>
          </a:xfrm>
          <a:prstGeom prst="ellipse">
            <a:avLst/>
          </a:prstGeom>
          <a:solidFill>
            <a:srgbClr val="2E86AB">
              <a:alpha val="13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863840" y="2926080"/>
            <a:ext cx="1463040" cy="1463040"/>
          </a:xfrm>
          <a:prstGeom prst="ellipse">
            <a:avLst/>
          </a:prstGeom>
          <a:solidFill>
            <a:srgbClr val="F18F01">
              <a:alpha val="1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274320" y="3383280"/>
            <a:ext cx="274320" cy="274320"/>
          </a:xfrm>
          <a:prstGeom prst="ellipse">
            <a:avLst/>
          </a:prstGeom>
          <a:solidFill>
            <a:srgbClr val="F18F0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74320" y="33832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401568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5E8F5"/>
                </a:solidFill>
              </a:rPr>
              <a:t>Modèle relationnel : tables, clés, relations 1→N, schéma conceptuel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3822192"/>
            <a:ext cx="274320" cy="274320"/>
          </a:xfrm>
          <a:prstGeom prst="ellipse">
            <a:avLst/>
          </a:prstGeom>
          <a:solidFill>
            <a:srgbClr val="F18F0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274320" y="382219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384048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5E8F5"/>
                </a:solidFill>
              </a:rPr>
              <a:t>SQL fondamental : SELECT, WHERE, GROUP BY, HAVING, ORDER BY, LIMIT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4320" y="4261104"/>
            <a:ext cx="274320" cy="274320"/>
          </a:xfrm>
          <a:prstGeom prst="ellipse">
            <a:avLst/>
          </a:prstGeom>
          <a:solidFill>
            <a:srgbClr val="F18F0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274320" y="426110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4279392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5E8F5"/>
                </a:solidFill>
              </a:rPr>
              <a:t>Les 4 jointures : INNER, LEFT, RIGHT, FULL OUTER — cas d'usage et pièges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74320" y="4700016"/>
            <a:ext cx="274320" cy="274320"/>
          </a:xfrm>
          <a:prstGeom prst="ellipse">
            <a:avLst/>
          </a:prstGeom>
          <a:solidFill>
            <a:srgbClr val="F18F0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274320" y="470001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4718304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5E8F5"/>
                </a:solidFill>
              </a:rPr>
              <a:t>SQL avancé : CTE (WITH ... AS) et Window Functions (RANK, SUM OVER)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74320" y="5029200"/>
            <a:ext cx="274320" cy="274320"/>
          </a:xfrm>
          <a:prstGeom prst="ellipse">
            <a:avLst/>
          </a:prstGeom>
          <a:solidFill>
            <a:srgbClr val="F18F0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274320" y="50292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5047488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5E8F5"/>
                </a:solidFill>
              </a:rPr>
              <a:t>Intégration Python + SQL avec sqlite3 et pandas.read_sql_query()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17A6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274320" y="914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📚  Plan des Leçons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8595360" cy="685800"/>
          </a:xfrm>
          <a:prstGeom prst="roundRect">
            <a:avLst>
              <a:gd name="adj" fmla="val 10667"/>
            </a:avLst>
          </a:prstGeom>
          <a:solidFill>
            <a:srgbClr val="F4F7FB"/>
          </a:solidFill>
          <a:ln w="12700">
            <a:solidFill>
              <a:srgbClr val="D5E8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05840"/>
            <a:ext cx="347472" cy="347472"/>
          </a:xfrm>
          <a:prstGeom prst="ellipse">
            <a:avLst/>
          </a:prstGeom>
          <a:solidFill>
            <a:srgbClr val="117A6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57200" y="10058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905256"/>
            <a:ext cx="6675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5.1 — Modèle relationnel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1207008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</a:rPr>
              <a:t>Tables, clés primaires/étrangères, normalisation, lecture de schéma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7772400" y="10241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17A65"/>
                </a:solidFill>
              </a:rPr>
              <a:t>30 min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1645920"/>
            <a:ext cx="859536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5E8F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810512"/>
            <a:ext cx="347472" cy="347472"/>
          </a:xfrm>
          <a:prstGeom prst="ellipse">
            <a:avLst/>
          </a:prstGeom>
          <a:solidFill>
            <a:srgbClr val="117A6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7200" y="181051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960120" y="1709928"/>
            <a:ext cx="6675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5.2 — SQL fondamental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960120" y="2011680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</a:rPr>
              <a:t>SELECT complet, WHERE, agrégation, GROUP BY, HAVING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0" y="1828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17A65"/>
                </a:solidFill>
              </a:rPr>
              <a:t>45 min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2450592"/>
            <a:ext cx="8595360" cy="685800"/>
          </a:xfrm>
          <a:prstGeom prst="roundRect">
            <a:avLst>
              <a:gd name="adj" fmla="val 10667"/>
            </a:avLst>
          </a:prstGeom>
          <a:solidFill>
            <a:srgbClr val="F4F7FB"/>
          </a:solidFill>
          <a:ln w="12700">
            <a:solidFill>
              <a:srgbClr val="D5E8F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2615184"/>
            <a:ext cx="347472" cy="347472"/>
          </a:xfrm>
          <a:prstGeom prst="ellipse">
            <a:avLst/>
          </a:prstGeom>
          <a:solidFill>
            <a:srgbClr val="117A65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57200" y="261518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960120" y="2514600"/>
            <a:ext cx="6675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5.3 — Les 4 jointures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960120" y="2816352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</a:rPr>
              <a:t>INNER/LEFT/RIGHT/FULL OUTER — exemples et pièges des doublons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7772400" y="263347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17A65"/>
                </a:solidFill>
              </a:rPr>
              <a:t>40 min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3255264"/>
            <a:ext cx="859536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5E8F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419856"/>
            <a:ext cx="347472" cy="347472"/>
          </a:xfrm>
          <a:prstGeom prst="ellipse">
            <a:avLst/>
          </a:prstGeom>
          <a:solidFill>
            <a:srgbClr val="117A65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57200" y="341985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960120" y="3319272"/>
            <a:ext cx="6675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5.4 — CTE et Window Functions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960120" y="3621024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</a:rPr>
              <a:t>WITH ... AS, ROW_NUMBER, RANK, LAG, SUM OVER PARTITION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7772400" y="343814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17A65"/>
                </a:solidFill>
              </a:rPr>
              <a:t>45 min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4320" y="4059936"/>
            <a:ext cx="8595360" cy="685800"/>
          </a:xfrm>
          <a:prstGeom prst="roundRect">
            <a:avLst>
              <a:gd name="adj" fmla="val 10667"/>
            </a:avLst>
          </a:prstGeom>
          <a:solidFill>
            <a:srgbClr val="F4F7FB"/>
          </a:solidFill>
          <a:ln w="12700">
            <a:solidFill>
              <a:srgbClr val="D5E8F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4224528"/>
            <a:ext cx="347472" cy="347472"/>
          </a:xfrm>
          <a:prstGeom prst="ellipse">
            <a:avLst/>
          </a:prstGeom>
          <a:solidFill>
            <a:srgbClr val="117A65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457200" y="422452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960120" y="4123944"/>
            <a:ext cx="6675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5.5 — Python + SQL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960120" y="4425696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</a:rPr>
              <a:t>sqlite3, pandas.read_sql(), pipeline SQL→Viz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7772400" y="424281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17A65"/>
                </a:solidFill>
              </a:rPr>
              <a:t>30 min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17A6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256032" y="164592"/>
            <a:ext cx="8595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17A65"/>
                </a:solidFill>
              </a:rPr>
              <a:t>5.2 — SQL Fondamental : SELECT Complet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256032" y="731520"/>
            <a:ext cx="8503920" cy="27432"/>
          </a:xfrm>
          <a:prstGeom prst="rect">
            <a:avLst/>
          </a:prstGeom>
          <a:solidFill>
            <a:srgbClr val="D5E8F5"/>
          </a:solidFill>
          <a:ln/>
        </p:spPr>
      </p:sp>
      <p:sp>
        <p:nvSpPr>
          <p:cNvPr id="5" name="Shape 3"/>
          <p:cNvSpPr/>
          <p:nvPr/>
        </p:nvSpPr>
        <p:spPr>
          <a:xfrm>
            <a:off x="256032" y="914400"/>
            <a:ext cx="4069080" cy="4069080"/>
          </a:xfrm>
          <a:prstGeom prst="roundRect">
            <a:avLst>
              <a:gd name="adj" fmla="val 2247"/>
            </a:avLst>
          </a:prstGeom>
          <a:solidFill>
            <a:srgbClr val="F4F7FB"/>
          </a:solidFill>
          <a:ln w="12700">
            <a:solidFill>
              <a:srgbClr val="D5E8F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11480" y="969264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7A65"/>
                </a:solidFill>
              </a:rPr>
              <a:t>📚 Concept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365760" y="1298448"/>
            <a:ext cx="38862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</a:rPr>
              <a:t>La structure SQL standard :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</a:rPr>
              <a:t>SELECT colonnes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</a:rPr>
              <a:t>FROM table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</a:rPr>
              <a:t>[WHERE condition]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</a:rPr>
              <a:t>[GROUP BY colonne]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</a:rPr>
              <a:t>[HAVING condition_agrégée]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</a:rPr>
              <a:t>[ORDER BY colonne [ASC|DESC]]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</a:rPr>
              <a:t>[LIMIT n]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</a:rPr>
              <a:t>Fonctions d'agrégation :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</a:rPr>
              <a:t>• COUNT(*) — nombre de lignes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</a:rPr>
              <a:t>• SUM(col) — somme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</a:rPr>
              <a:t>• AVG(col) — moyenne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</a:rPr>
              <a:t>• MIN/MAX(col) — extrêmes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</a:rPr>
              <a:t>⚠️ WHERE filtre AVANT l'agrégation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</a:rPr>
              <a:t>    HAVING filtre APRÈS !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462272" y="914400"/>
            <a:ext cx="4343400" cy="4069080"/>
          </a:xfrm>
          <a:prstGeom prst="roundRect">
            <a:avLst>
              <a:gd name="adj" fmla="val 2247"/>
            </a:avLst>
          </a:prstGeom>
          <a:solidFill>
            <a:srgbClr val="1E2D4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617720" y="969264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8F01"/>
                </a:solidFill>
              </a:rPr>
              <a:t>💻 Code Python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1298448"/>
            <a:ext cx="41148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region,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COUNT(*)             AS nbr_clients,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AVG(age)             AS age_moyen,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SUM(solde_actuel)    AS encours_total,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MAX(solde_actuel)    AS max_compte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clients c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comptes co ON c.id = co.client_id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co.statut = 'Actif'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AND c.age BETWEEN 25 AND 55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region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HAVING COUNT(*) &gt;= 20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encours_total DESC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LIMIT 10;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17A6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256032" y="164592"/>
            <a:ext cx="8595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17A65"/>
                </a:solidFill>
              </a:rPr>
              <a:t>5.4 — CTE et Window Functions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256032" y="731520"/>
            <a:ext cx="8503920" cy="27432"/>
          </a:xfrm>
          <a:prstGeom prst="rect">
            <a:avLst/>
          </a:prstGeom>
          <a:solidFill>
            <a:srgbClr val="D5E8F5"/>
          </a:solidFill>
          <a:ln/>
        </p:spPr>
      </p:sp>
      <p:sp>
        <p:nvSpPr>
          <p:cNvPr id="5" name="Shape 3"/>
          <p:cNvSpPr/>
          <p:nvPr/>
        </p:nvSpPr>
        <p:spPr>
          <a:xfrm>
            <a:off x="256032" y="914400"/>
            <a:ext cx="4069080" cy="4069080"/>
          </a:xfrm>
          <a:prstGeom prst="roundRect">
            <a:avLst>
              <a:gd name="adj" fmla="val 2247"/>
            </a:avLst>
          </a:prstGeom>
          <a:solidFill>
            <a:srgbClr val="F4F7FB"/>
          </a:solidFill>
          <a:ln w="12700">
            <a:solidFill>
              <a:srgbClr val="D5E8F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11480" y="969264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7A65"/>
                </a:solidFill>
              </a:rPr>
              <a:t>📚 Concept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365760" y="1298448"/>
            <a:ext cx="38862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</a:rPr>
              <a:t>CTE = sous-requête nommée pour la lisibilité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</a:rPr>
              <a:t>WITH nom_cte AS (SELECT ...) SELECT ...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</a:rPr>
              <a:t>Window Functions = calcul sur "fenêtres"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</a:rPr>
              <a:t>→ Ne réduisent pas les lignes !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</a:rPr>
              <a:t>→ Calculent "à côté" des données existantes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</a:rPr>
              <a:t>Principaux types :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</a:rPr>
              <a:t>• ROW_NUMBER() → numérotation séquentielle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</a:rPr>
              <a:t>• RANK() → classement (avec ex-æquo)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</a:rPr>
              <a:t>• LAG(col, n) → valeur n lignes avant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</a:rPr>
              <a:t>• LEAD(col, n) → valeur n lignes après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</a:rPr>
              <a:t>• SUM(col) OVER (PARTITION BY region)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</a:rPr>
              <a:t>  → somme glissante par groupe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462272" y="914400"/>
            <a:ext cx="4343400" cy="4069080"/>
          </a:xfrm>
          <a:prstGeom prst="roundRect">
            <a:avLst>
              <a:gd name="adj" fmla="val 2247"/>
            </a:avLst>
          </a:prstGeom>
          <a:solidFill>
            <a:srgbClr val="1E2D4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617720" y="969264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8F01"/>
                </a:solidFill>
              </a:rPr>
              <a:t>💻 Code Python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1298448"/>
            <a:ext cx="41148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CTE : top clients par volume TX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tx_par_compte AS (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SELECT compte_id,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COUNT(*)   AS nbr_tx,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SUM(montant) AS total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FROM transactions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GROUP BY compte_id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c.nom, c.region, tx.nbr_tx, tx.total,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 Window Function : rang régional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RANK() OVER (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PARTITION BY c.region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ORDER BY tx.total DESC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 AS rang_regional,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 Cumul dans la région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SUM(tx.total) OVER (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PARTITION BY c.region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 AS total_regional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clients c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comptes co ON c.id = co.client_id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tx_par_compte tx ON co.id = tx.compte_id;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oundRect">
            <a:avLst/>
          </a:prstGeom>
          <a:solidFill>
            <a:srgbClr val="117A6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274320" y="91440"/>
            <a:ext cx="8595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🧪  Exercice 5 — Analyse SQL — Base MFB Bénin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274320" y="996696"/>
            <a:ext cx="2286000" cy="274320"/>
          </a:xfrm>
          <a:prstGeom prst="roundRect">
            <a:avLst>
              <a:gd name="adj" fmla="val 20000"/>
            </a:avLst>
          </a:prstGeom>
          <a:solidFill>
            <a:srgbClr val="117A65">
              <a:alpha val="15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274320" y="99669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7A65"/>
                </a:solidFill>
              </a:rPr>
              <a:t>Tâche 1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2697480" y="960120"/>
            <a:ext cx="6217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GROUP BY : nombre de clients actifs et encours total par région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801368"/>
            <a:ext cx="2286000" cy="274320"/>
          </a:xfrm>
          <a:prstGeom prst="roundRect">
            <a:avLst>
              <a:gd name="adj" fmla="val 20000"/>
            </a:avLst>
          </a:prstGeom>
          <a:solidFill>
            <a:srgbClr val="117A65">
              <a:alpha val="15000"/>
            </a:srgbClr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74320" y="180136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7A65"/>
                </a:solidFill>
              </a:rPr>
              <a:t>Tâche 2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2697480" y="1764792"/>
            <a:ext cx="6217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INNER JOIN 3 tables : clients + comptes + transactions agrégées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2606040"/>
            <a:ext cx="2286000" cy="274320"/>
          </a:xfrm>
          <a:prstGeom prst="roundRect">
            <a:avLst>
              <a:gd name="adj" fmla="val 20000"/>
            </a:avLst>
          </a:prstGeom>
          <a:solidFill>
            <a:srgbClr val="117A65">
              <a:alpha val="15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74320" y="26060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7A65"/>
                </a:solidFill>
              </a:rPr>
              <a:t>Tâche 3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2697480" y="2569464"/>
            <a:ext cx="6217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CTE : top 10 comptes par volume de transactions sur l'année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3410712"/>
            <a:ext cx="2286000" cy="274320"/>
          </a:xfrm>
          <a:prstGeom prst="roundRect">
            <a:avLst>
              <a:gd name="adj" fmla="val 20000"/>
            </a:avLst>
          </a:prstGeom>
          <a:solidFill>
            <a:srgbClr val="117A65">
              <a:alpha val="15000"/>
            </a:srgbClr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274320" y="341071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7A65"/>
                </a:solidFill>
              </a:rPr>
              <a:t>Tâche 4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2697480" y="3374136"/>
            <a:ext cx="6217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RANK() OVER (PARTITION BY region) : classer les agences par performance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4215384"/>
            <a:ext cx="2286000" cy="274320"/>
          </a:xfrm>
          <a:prstGeom prst="roundRect">
            <a:avLst>
              <a:gd name="adj" fmla="val 20000"/>
            </a:avLst>
          </a:prstGeom>
          <a:solidFill>
            <a:srgbClr val="117A65">
              <a:alpha val="15000"/>
            </a:srgbClr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274320" y="421538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7A65"/>
                </a:solidFill>
              </a:rPr>
              <a:t>Tâche 5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2697480" y="4178808"/>
            <a:ext cx="6217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Pipeline SQL → Python → 2 visualisations pandas depuis les requêtes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74320" y="4645152"/>
            <a:ext cx="8595360" cy="347472"/>
          </a:xfrm>
          <a:prstGeom prst="roundRect">
            <a:avLst>
              <a:gd name="adj" fmla="val 18421"/>
            </a:avLst>
          </a:prstGeom>
          <a:solidFill>
            <a:srgbClr val="E8F4F8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11480" y="4663440"/>
            <a:ext cx="8321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5276"/>
                </a:solidFill>
              </a:rPr>
              <a:t>💡 Hint : conn = sqlite3.connect("mfb_benin.sqlite")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5276"/>
                </a:solidFill>
              </a:rPr>
              <a:t>df = pd.read_sql("SELECT ...", conn)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7A6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4320" y="182880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8F01"/>
                </a:solidFill>
              </a:rPr>
              <a:t>📋  Critères de Validation — CRT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274320" y="768096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5E8F5"/>
                </a:solidFill>
              </a:rPr>
              <a:t>Semaine 5 — SQL &amp; Data Extraction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298448"/>
            <a:ext cx="2651760" cy="1371600"/>
          </a:xfrm>
          <a:prstGeom prst="roundRect">
            <a:avLst>
              <a:gd name="adj" fmla="val 6667"/>
            </a:avLst>
          </a:prstGeom>
          <a:solidFill>
            <a:srgbClr val="FFFFFF">
              <a:alpha val="85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88720" y="1389888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90195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E8F5"/>
                </a:solidFill>
              </a:rPr>
              <a:t>Score minimum CRT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2860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18F01"/>
                </a:solidFill>
              </a:rPr>
              <a:t>≥ 70%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0" y="1298448"/>
            <a:ext cx="2651760" cy="1371600"/>
          </a:xfrm>
          <a:prstGeom prst="roundRect">
            <a:avLst>
              <a:gd name="adj" fmla="val 6667"/>
            </a:avLst>
          </a:prstGeom>
          <a:solidFill>
            <a:srgbClr val="FFFFFF">
              <a:alpha val="85000"/>
            </a:srgbClr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023360" y="1389888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📁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3291840" y="190195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E8F5"/>
                </a:solidFill>
              </a:rPr>
              <a:t>Livrable soumis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3291840" y="22860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18F01"/>
                </a:solidFill>
              </a:rPr>
              <a:t>Notebook validé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35040" y="1298448"/>
            <a:ext cx="2651760" cy="1371600"/>
          </a:xfrm>
          <a:prstGeom prst="roundRect">
            <a:avLst>
              <a:gd name="adj" fmla="val 6667"/>
            </a:avLst>
          </a:prstGeom>
          <a:solidFill>
            <a:srgbClr val="FFFFFF">
              <a:alpha val="85000"/>
            </a:srgbClr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858000" y="1389888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🔓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6126480" y="190195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E8F5"/>
                </a:solidFill>
              </a:rPr>
              <a:t>Déblocage Sem +1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6126480" y="22860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18F01"/>
                </a:solidFill>
              </a:rPr>
              <a:t>Auto si CRT OK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274320" y="29260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Critères d'évaluation de la semaine :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274320" y="3337560"/>
            <a:ext cx="201168" cy="201168"/>
          </a:xfrm>
          <a:prstGeom prst="ellipse">
            <a:avLst/>
          </a:prstGeom>
          <a:solidFill>
            <a:srgbClr val="F18F0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66928" y="329184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5E8F5"/>
                </a:solidFill>
              </a:rPr>
              <a:t>Écrire une requête INNER JOIN correcte sur 2 tables avec agrégation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3685032"/>
            <a:ext cx="201168" cy="201168"/>
          </a:xfrm>
          <a:prstGeom prst="ellipse">
            <a:avLst/>
          </a:prstGeom>
          <a:solidFill>
            <a:srgbClr val="F18F0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66928" y="3639312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5E8F5"/>
                </a:solidFill>
              </a:rPr>
              <a:t>Utiliser GROUP BY + HAVING correctement (différence avec WHERE)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4032504"/>
            <a:ext cx="201168" cy="201168"/>
          </a:xfrm>
          <a:prstGeom prst="ellipse">
            <a:avLst/>
          </a:prstGeom>
          <a:solidFill>
            <a:srgbClr val="F18F0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66928" y="3986784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5E8F5"/>
                </a:solidFill>
              </a:rPr>
              <a:t>Implémenter une CTE pour structurer une requête complexe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4320" y="4379976"/>
            <a:ext cx="201168" cy="201168"/>
          </a:xfrm>
          <a:prstGeom prst="ellipse">
            <a:avLst/>
          </a:prstGeom>
          <a:solidFill>
            <a:srgbClr val="F18F0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66928" y="4334256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5E8F5"/>
                </a:solidFill>
              </a:rPr>
              <a:t>Appliquer une Window Function RANK() ou SUM OVER PARTITION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" y="4727448"/>
            <a:ext cx="201168" cy="201168"/>
          </a:xfrm>
          <a:prstGeom prst="ellipse">
            <a:avLst/>
          </a:prstGeom>
          <a:solidFill>
            <a:srgbClr val="F18F0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66928" y="4681728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5E8F5"/>
                </a:solidFill>
              </a:rPr>
              <a:t>6 requêtes SQL correctes + notebook avec 2 visualisations soumis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2026-09-10T02:16:35Z</dcterms:created>
  <dcterms:modified xsi:type="dcterms:W3CDTF">2026-09-10T02:16:35Z</dcterms:modified>
</cp:coreProperties>
</file>