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74320" y="13716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18F01"/>
                </a:solidFill>
              </a:rPr>
              <a:t>🌱 LouisFarm Data Analytics Academy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274320" y="594360"/>
            <a:ext cx="2194560" cy="475488"/>
          </a:xfrm>
          <a:prstGeom prst="roundRect">
            <a:avLst>
              <a:gd name="adj" fmla="val 15385"/>
            </a:avLst>
          </a:prstGeom>
          <a:solidFill>
            <a:srgbClr val="F18F0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274320" y="594360"/>
            <a:ext cx="21945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SEMAINE 8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274320" y="1234440"/>
            <a:ext cx="82296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4200"/>
              </a:lnSpc>
              <a:buNone/>
            </a:pPr>
            <a:r>
              <a:rPr lang="en-US" sz="3400" b="1" dirty="0">
                <a:solidFill>
                  <a:srgbClr val="FFFFFF"/>
                </a:solidFill>
              </a:rPr>
              <a:t>Séries Temporelles &amp; Prévision</a:t>
            </a:r>
            <a:endParaRPr lang="en-US" sz="3400" dirty="0"/>
          </a:p>
        </p:txBody>
      </p:sp>
      <p:sp>
        <p:nvSpPr>
          <p:cNvPr id="6" name="Text 4"/>
          <p:cNvSpPr txBox="1"/>
          <p:nvPr/>
        </p:nvSpPr>
        <p:spPr>
          <a:xfrm>
            <a:off x="274320" y="265176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5E8F5"/>
                </a:solidFill>
              </a:rPr>
              <a:t>statsmodels · ARIMA · ACF/PACF · Dataset : Prix Cacao CI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7223760" y="365760"/>
            <a:ext cx="2286000" cy="2286000"/>
          </a:xfrm>
          <a:prstGeom prst="ellipse">
            <a:avLst/>
          </a:prstGeom>
          <a:solidFill>
            <a:srgbClr val="2E86AB">
              <a:alpha val="13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7863840" y="2926080"/>
            <a:ext cx="1463040" cy="1463040"/>
          </a:xfrm>
          <a:prstGeom prst="ellipse">
            <a:avLst/>
          </a:prstGeom>
          <a:solidFill>
            <a:srgbClr val="F18F01">
              <a:alpha val="15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274320" y="3383280"/>
            <a:ext cx="274320" cy="274320"/>
          </a:xfrm>
          <a:prstGeom prst="ellipse">
            <a:avLst/>
          </a:prstGeom>
          <a:solidFill>
            <a:srgbClr val="F18F01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274320" y="338328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1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640080" y="3401568"/>
            <a:ext cx="8046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5E8F5"/>
                </a:solidFill>
              </a:rPr>
              <a:t>Composantes d'une série temporelle : tendance, saisonnalité, résidu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" y="3822192"/>
            <a:ext cx="274320" cy="274320"/>
          </a:xfrm>
          <a:prstGeom prst="ellipse">
            <a:avLst/>
          </a:prstGeom>
          <a:solidFill>
            <a:srgbClr val="F18F01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274320" y="3822192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2</a:t>
            </a:r>
            <a:endParaRPr lang="en-US" sz="1000" dirty="0"/>
          </a:p>
        </p:txBody>
      </p:sp>
      <p:sp>
        <p:nvSpPr>
          <p:cNvPr id="14" name="Text 12"/>
          <p:cNvSpPr txBox="1"/>
          <p:nvPr/>
        </p:nvSpPr>
        <p:spPr>
          <a:xfrm>
            <a:off x="640080" y="3840480"/>
            <a:ext cx="8046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5E8F5"/>
                </a:solidFill>
              </a:rPr>
              <a:t>Stationnarité : test ADF, différenciation et vérification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274320" y="4261104"/>
            <a:ext cx="274320" cy="274320"/>
          </a:xfrm>
          <a:prstGeom prst="ellipse">
            <a:avLst/>
          </a:prstGeom>
          <a:solidFill>
            <a:srgbClr val="F18F01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274320" y="4261104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3</a:t>
            </a:r>
            <a:endParaRPr lang="en-US" sz="1000" dirty="0"/>
          </a:p>
        </p:txBody>
      </p:sp>
      <p:sp>
        <p:nvSpPr>
          <p:cNvPr id="17" name="Text 15"/>
          <p:cNvSpPr txBox="1"/>
          <p:nvPr/>
        </p:nvSpPr>
        <p:spPr>
          <a:xfrm>
            <a:off x="640080" y="4279392"/>
            <a:ext cx="8046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5E8F5"/>
                </a:solidFill>
              </a:rPr>
              <a:t>ACF et PACF : identification des ordres p, d et q du modèle ARIMA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274320" y="4700016"/>
            <a:ext cx="274320" cy="274320"/>
          </a:xfrm>
          <a:prstGeom prst="ellipse">
            <a:avLst/>
          </a:prstGeom>
          <a:solidFill>
            <a:srgbClr val="F18F01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274320" y="4700016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4</a:t>
            </a:r>
            <a:endParaRPr lang="en-US" sz="1000" dirty="0"/>
          </a:p>
        </p:txBody>
      </p:sp>
      <p:sp>
        <p:nvSpPr>
          <p:cNvPr id="20" name="Text 18"/>
          <p:cNvSpPr txBox="1"/>
          <p:nvPr/>
        </p:nvSpPr>
        <p:spPr>
          <a:xfrm>
            <a:off x="640080" y="4718304"/>
            <a:ext cx="8046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5E8F5"/>
                </a:solidFill>
              </a:rPr>
              <a:t>Modèles AR, ARMA, ARIMA : construction, évaluation et comparaison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274320" y="5029200"/>
            <a:ext cx="274320" cy="274320"/>
          </a:xfrm>
          <a:prstGeom prst="ellipse">
            <a:avLst/>
          </a:prstGeom>
          <a:solidFill>
            <a:srgbClr val="F18F01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274320" y="502920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5</a:t>
            </a:r>
            <a:endParaRPr lang="en-US" sz="1000" dirty="0"/>
          </a:p>
        </p:txBody>
      </p:sp>
      <p:sp>
        <p:nvSpPr>
          <p:cNvPr id="23" name="Text 21"/>
          <p:cNvSpPr txBox="1"/>
          <p:nvPr/>
        </p:nvSpPr>
        <p:spPr>
          <a:xfrm>
            <a:off x="640080" y="5047488"/>
            <a:ext cx="8046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5E8F5"/>
                </a:solidFill>
              </a:rPr>
              <a:t>Prévisions avec intervalles de confiance — communication des limites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6B5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274320" y="9144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📚  Plan des Leçons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74320" y="841248"/>
            <a:ext cx="8595360" cy="685800"/>
          </a:xfrm>
          <a:prstGeom prst="roundRect">
            <a:avLst>
              <a:gd name="adj" fmla="val 10667"/>
            </a:avLst>
          </a:prstGeom>
          <a:solidFill>
            <a:srgbClr val="F4F7FB"/>
          </a:solidFill>
          <a:ln w="12700">
            <a:solidFill>
              <a:srgbClr val="D5E8F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005840"/>
            <a:ext cx="347472" cy="347472"/>
          </a:xfrm>
          <a:prstGeom prst="ellipse">
            <a:avLst/>
          </a:prstGeom>
          <a:solidFill>
            <a:srgbClr val="1A6B5A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457200" y="1005840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1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960120" y="905256"/>
            <a:ext cx="6675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3A5F"/>
                </a:solidFill>
              </a:rPr>
              <a:t>8.1 — Composantes et décomposition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960120" y="1207008"/>
            <a:ext cx="6675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F8C8D"/>
                </a:solidFill>
              </a:rPr>
              <a:t>Tendance, saisonnalité, résidu — seasonal_decompose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7772400" y="1024128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A6B5A"/>
                </a:solidFill>
              </a:rPr>
              <a:t>35 min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74320" y="1645920"/>
            <a:ext cx="859536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12700">
            <a:solidFill>
              <a:srgbClr val="D5E8F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7200" y="1810512"/>
            <a:ext cx="347472" cy="347472"/>
          </a:xfrm>
          <a:prstGeom prst="ellipse">
            <a:avLst/>
          </a:prstGeom>
          <a:solidFill>
            <a:srgbClr val="1A6B5A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457200" y="1810512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2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960120" y="1709928"/>
            <a:ext cx="6675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3A5F"/>
                </a:solidFill>
              </a:rPr>
              <a:t>8.2 — Stationnarité et ADF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960120" y="2011680"/>
            <a:ext cx="6675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F8C8D"/>
                </a:solidFill>
              </a:rPr>
              <a:t>Test ADF, p-value, différenciation (diff(1), diff(2))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7772400" y="18288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A6B5A"/>
                </a:solidFill>
              </a:rPr>
              <a:t>40 min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74320" y="2450592"/>
            <a:ext cx="8595360" cy="685800"/>
          </a:xfrm>
          <a:prstGeom prst="roundRect">
            <a:avLst>
              <a:gd name="adj" fmla="val 10667"/>
            </a:avLst>
          </a:prstGeom>
          <a:solidFill>
            <a:srgbClr val="F4F7FB"/>
          </a:solidFill>
          <a:ln w="12700">
            <a:solidFill>
              <a:srgbClr val="D5E8F5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57200" y="2615184"/>
            <a:ext cx="347472" cy="347472"/>
          </a:xfrm>
          <a:prstGeom prst="ellipse">
            <a:avLst/>
          </a:prstGeom>
          <a:solidFill>
            <a:srgbClr val="1A6B5A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457200" y="2615184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3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960120" y="2514600"/>
            <a:ext cx="6675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3A5F"/>
                </a:solidFill>
              </a:rPr>
              <a:t>8.3 — ACF et PACF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960120" y="2816352"/>
            <a:ext cx="6675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F8C8D"/>
                </a:solidFill>
              </a:rPr>
              <a:t>Graphiques d'autocorrélation pour identifier p et q</a:t>
            </a:r>
            <a:endParaRPr lang="en-US" sz="1000" dirty="0"/>
          </a:p>
        </p:txBody>
      </p:sp>
      <p:sp>
        <p:nvSpPr>
          <p:cNvPr id="21" name="Text 19"/>
          <p:cNvSpPr txBox="1"/>
          <p:nvPr/>
        </p:nvSpPr>
        <p:spPr>
          <a:xfrm>
            <a:off x="7772400" y="263347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A6B5A"/>
                </a:solidFill>
              </a:rPr>
              <a:t>40 min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274320" y="3255264"/>
            <a:ext cx="859536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12700">
            <a:solidFill>
              <a:srgbClr val="D5E8F5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57200" y="3419856"/>
            <a:ext cx="347472" cy="347472"/>
          </a:xfrm>
          <a:prstGeom prst="ellipse">
            <a:avLst/>
          </a:prstGeom>
          <a:solidFill>
            <a:srgbClr val="1A6B5A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457200" y="3419856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4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960120" y="3319272"/>
            <a:ext cx="6675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3A5F"/>
                </a:solidFill>
              </a:rPr>
              <a:t>8.4 — Modèles AR, ARMA, ARIMA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960120" y="3621024"/>
            <a:ext cx="6675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F8C8D"/>
                </a:solidFill>
              </a:rPr>
              <a:t>Construction, fit, résidus, comparaison MAE/RMSE</a:t>
            </a:r>
            <a:endParaRPr lang="en-US" sz="1000" dirty="0"/>
          </a:p>
        </p:txBody>
      </p:sp>
      <p:sp>
        <p:nvSpPr>
          <p:cNvPr id="27" name="Text 25"/>
          <p:cNvSpPr txBox="1"/>
          <p:nvPr/>
        </p:nvSpPr>
        <p:spPr>
          <a:xfrm>
            <a:off x="7772400" y="3438144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A6B5A"/>
                </a:solidFill>
              </a:rPr>
              <a:t>45 min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274320" y="4059936"/>
            <a:ext cx="8595360" cy="685800"/>
          </a:xfrm>
          <a:prstGeom prst="roundRect">
            <a:avLst>
              <a:gd name="adj" fmla="val 10667"/>
            </a:avLst>
          </a:prstGeom>
          <a:solidFill>
            <a:srgbClr val="F4F7FB"/>
          </a:solidFill>
          <a:ln w="12700">
            <a:solidFill>
              <a:srgbClr val="D5E8F5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57200" y="4224528"/>
            <a:ext cx="347472" cy="347472"/>
          </a:xfrm>
          <a:prstGeom prst="ellipse">
            <a:avLst/>
          </a:prstGeom>
          <a:solidFill>
            <a:srgbClr val="1A6B5A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457200" y="4224528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5</a:t>
            </a:r>
            <a:endParaRPr lang="en-US" sz="1200" dirty="0"/>
          </a:p>
        </p:txBody>
      </p:sp>
      <p:sp>
        <p:nvSpPr>
          <p:cNvPr id="31" name="Text 29"/>
          <p:cNvSpPr txBox="1"/>
          <p:nvPr/>
        </p:nvSpPr>
        <p:spPr>
          <a:xfrm>
            <a:off x="960120" y="4123944"/>
            <a:ext cx="6675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3A5F"/>
                </a:solidFill>
              </a:rPr>
              <a:t>8.5 — Prévisions et communication</a:t>
            </a:r>
            <a:endParaRPr lang="en-US" sz="1300" dirty="0"/>
          </a:p>
        </p:txBody>
      </p:sp>
      <p:sp>
        <p:nvSpPr>
          <p:cNvPr id="32" name="Text 30"/>
          <p:cNvSpPr txBox="1"/>
          <p:nvPr/>
        </p:nvSpPr>
        <p:spPr>
          <a:xfrm>
            <a:off x="960120" y="4425696"/>
            <a:ext cx="6675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F8C8D"/>
                </a:solidFill>
              </a:rPr>
              <a:t>Intervalles de confiance, horizons, limites, note aux coopératives</a:t>
            </a:r>
            <a:endParaRPr lang="en-US" sz="1000" dirty="0"/>
          </a:p>
        </p:txBody>
      </p:sp>
      <p:sp>
        <p:nvSpPr>
          <p:cNvPr id="33" name="Text 31"/>
          <p:cNvSpPr txBox="1"/>
          <p:nvPr/>
        </p:nvSpPr>
        <p:spPr>
          <a:xfrm>
            <a:off x="7772400" y="4242816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A6B5A"/>
                </a:solidFill>
              </a:rPr>
              <a:t>30 min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1A6B5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256032" y="164592"/>
            <a:ext cx="85953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A6B5A"/>
                </a:solidFill>
              </a:rPr>
              <a:t>8.2 — Test ADF : Détecter la Stationnarité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256032" y="731520"/>
            <a:ext cx="8503920" cy="27432"/>
          </a:xfrm>
          <a:prstGeom prst="rect">
            <a:avLst/>
          </a:prstGeom>
          <a:solidFill>
            <a:srgbClr val="D5E8F5"/>
          </a:solidFill>
          <a:ln/>
        </p:spPr>
      </p:sp>
      <p:sp>
        <p:nvSpPr>
          <p:cNvPr id="5" name="Shape 3"/>
          <p:cNvSpPr/>
          <p:nvPr/>
        </p:nvSpPr>
        <p:spPr>
          <a:xfrm>
            <a:off x="256032" y="914400"/>
            <a:ext cx="4069080" cy="4069080"/>
          </a:xfrm>
          <a:prstGeom prst="roundRect">
            <a:avLst>
              <a:gd name="adj" fmla="val 2247"/>
            </a:avLst>
          </a:prstGeom>
          <a:solidFill>
            <a:srgbClr val="F4F7FB"/>
          </a:solidFill>
          <a:ln w="12700">
            <a:solidFill>
              <a:srgbClr val="D5E8F5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11480" y="969264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6B5A"/>
                </a:solidFill>
              </a:rPr>
              <a:t>📚 Concept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365760" y="1298448"/>
            <a:ext cx="3886200" cy="3566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050" dirty="0">
                <a:solidFill>
                  <a:srgbClr val="2C3E50"/>
                </a:solidFill>
              </a:rPr>
              <a:t>Stationnarité = propriétés statistiques stables dans le temps.</a:t>
            </a:r>
            <a:endParaRPr lang="en-US" sz="1050" dirty="0"/>
          </a:p>
          <a:p>
            <a:pPr indent="0" marL="0">
              <a:lnSpc>
                <a:spcPts val="1700"/>
              </a:lnSpc>
              <a:buNone/>
            </a:pPr>
            <a:endParaRPr lang="en-US" sz="10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050" dirty="0">
                <a:solidFill>
                  <a:srgbClr val="2C3E50"/>
                </a:solidFill>
              </a:rPr>
              <a:t>Une série stationnaire a :</a:t>
            </a:r>
            <a:endParaRPr lang="en-US" sz="10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050" dirty="0">
                <a:solidFill>
                  <a:srgbClr val="2C3E50"/>
                </a:solidFill>
              </a:rPr>
              <a:t>  • Moyenne constante</a:t>
            </a:r>
            <a:endParaRPr lang="en-US" sz="10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050" dirty="0">
                <a:solidFill>
                  <a:srgbClr val="2C3E50"/>
                </a:solidFill>
              </a:rPr>
              <a:t>  • Variance constante</a:t>
            </a:r>
            <a:endParaRPr lang="en-US" sz="10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050" dirty="0">
                <a:solidFill>
                  <a:srgbClr val="2C3E50"/>
                </a:solidFill>
              </a:rPr>
              <a:t>  • Autocorrélation dépend seulement du lag</a:t>
            </a:r>
            <a:endParaRPr lang="en-US" sz="1050" dirty="0"/>
          </a:p>
          <a:p>
            <a:pPr indent="0" marL="0">
              <a:lnSpc>
                <a:spcPts val="1700"/>
              </a:lnSpc>
              <a:buNone/>
            </a:pPr>
            <a:endParaRPr lang="en-US" sz="10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050" dirty="0">
                <a:solidFill>
                  <a:srgbClr val="2C3E50"/>
                </a:solidFill>
              </a:rPr>
              <a:t>Test ADF (Augmented Dickey-Fuller) :</a:t>
            </a:r>
            <a:endParaRPr lang="en-US" sz="10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050" dirty="0">
                <a:solidFill>
                  <a:srgbClr val="2C3E50"/>
                </a:solidFill>
              </a:rPr>
              <a:t>  H0 : Série NON stationnaire (racine unitaire)</a:t>
            </a:r>
            <a:endParaRPr lang="en-US" sz="10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050" dirty="0">
                <a:solidFill>
                  <a:srgbClr val="2C3E50"/>
                </a:solidFill>
              </a:rPr>
              <a:t>  H1 : Série stationnaire</a:t>
            </a:r>
            <a:endParaRPr lang="en-US" sz="1050" dirty="0"/>
          </a:p>
          <a:p>
            <a:pPr indent="0" marL="0">
              <a:lnSpc>
                <a:spcPts val="1700"/>
              </a:lnSpc>
              <a:buNone/>
            </a:pPr>
            <a:endParaRPr lang="en-US" sz="10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050" dirty="0">
                <a:solidFill>
                  <a:srgbClr val="2C3E50"/>
                </a:solidFill>
              </a:rPr>
              <a:t>  p-value &lt; 0.05 → Rejeter H0 → STATIONNAIRE ✅</a:t>
            </a:r>
            <a:endParaRPr lang="en-US" sz="10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050" dirty="0">
                <a:solidFill>
                  <a:srgbClr val="2C3E50"/>
                </a:solidFill>
              </a:rPr>
              <a:t>  p-value ≥ 0.05 → NON stationnaire</a:t>
            </a:r>
            <a:endParaRPr lang="en-US" sz="10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050" dirty="0">
                <a:solidFill>
                  <a:srgbClr val="2C3E50"/>
                </a:solidFill>
              </a:rPr>
              <a:t>  → Différencier : ts.diff().dropna()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462272" y="914400"/>
            <a:ext cx="4343400" cy="4069080"/>
          </a:xfrm>
          <a:prstGeom prst="roundRect">
            <a:avLst>
              <a:gd name="adj" fmla="val 2247"/>
            </a:avLst>
          </a:prstGeom>
          <a:solidFill>
            <a:srgbClr val="1E2D40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4617720" y="969264"/>
            <a:ext cx="4023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18F01"/>
                </a:solidFill>
              </a:rPr>
              <a:t>💻 Code Python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4572000" y="1298448"/>
            <a:ext cx="4114800" cy="3566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50"/>
              </a:lnSpc>
              <a:buNone/>
            </a:pPr>
            <a:r>
              <a:rPr lang="en-US" sz="900" dirty="0">
                <a:solidFill>
                  <a:srgbClr val="A8D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statsmodels.tsa.stattools import adfuller</a:t>
            </a:r>
            <a:endParaRPr lang="en-US" sz="900" dirty="0"/>
          </a:p>
          <a:p>
            <a:pPr indent="0" marL="0">
              <a:lnSpc>
                <a:spcPts val="1550"/>
              </a:lnSpc>
              <a:buNone/>
            </a:pPr>
            <a:endParaRPr lang="en-US" sz="900" dirty="0"/>
          </a:p>
          <a:p>
            <a:pPr indent="0" marL="0">
              <a:lnSpc>
                <a:spcPts val="1550"/>
              </a:lnSpc>
              <a:buNone/>
            </a:pPr>
            <a:r>
              <a:rPr lang="en-US" sz="900" dirty="0">
                <a:solidFill>
                  <a:srgbClr val="A8D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Test sur la série originale</a:t>
            </a:r>
            <a:endParaRPr lang="en-US" sz="900" dirty="0"/>
          </a:p>
          <a:p>
            <a:pPr indent="0" marL="0">
              <a:lnSpc>
                <a:spcPts val="1550"/>
              </a:lnSpc>
              <a:buNone/>
            </a:pPr>
            <a:r>
              <a:rPr lang="en-US" sz="900" dirty="0">
                <a:solidFill>
                  <a:srgbClr val="A8D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result = adfuller(ts, autolag="AIC")</a:t>
            </a:r>
            <a:endParaRPr lang="en-US" sz="900" dirty="0"/>
          </a:p>
          <a:p>
            <a:pPr indent="0" marL="0">
              <a:lnSpc>
                <a:spcPts val="1550"/>
              </a:lnSpc>
              <a:buNone/>
            </a:pPr>
            <a:r>
              <a:rPr lang="en-US" sz="900" dirty="0">
                <a:solidFill>
                  <a:srgbClr val="A8D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print(f"Stat ADF  : {result[0]:.4f}")</a:t>
            </a:r>
            <a:endParaRPr lang="en-US" sz="900" dirty="0"/>
          </a:p>
          <a:p>
            <a:pPr indent="0" marL="0">
              <a:lnSpc>
                <a:spcPts val="1550"/>
              </a:lnSpc>
              <a:buNone/>
            </a:pPr>
            <a:r>
              <a:rPr lang="en-US" sz="900" dirty="0">
                <a:solidFill>
                  <a:srgbClr val="A8D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print(f"p-value   : {result[1]:.4f}")</a:t>
            </a:r>
            <a:endParaRPr lang="en-US" sz="900" dirty="0"/>
          </a:p>
          <a:p>
            <a:pPr indent="0" marL="0">
              <a:lnSpc>
                <a:spcPts val="1550"/>
              </a:lnSpc>
              <a:buNone/>
            </a:pPr>
            <a:r>
              <a:rPr lang="en-US" sz="900" dirty="0">
                <a:solidFill>
                  <a:srgbClr val="A8D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print(f"Val crit. : {result[4]}")</a:t>
            </a:r>
            <a:endParaRPr lang="en-US" sz="900" dirty="0"/>
          </a:p>
          <a:p>
            <a:pPr indent="0" marL="0">
              <a:lnSpc>
                <a:spcPts val="1550"/>
              </a:lnSpc>
              <a:buNone/>
            </a:pPr>
            <a:endParaRPr lang="en-US" sz="900" dirty="0"/>
          </a:p>
          <a:p>
            <a:pPr indent="0" marL="0">
              <a:lnSpc>
                <a:spcPts val="1550"/>
              </a:lnSpc>
              <a:buNone/>
            </a:pPr>
            <a:r>
              <a:rPr lang="en-US" sz="900" dirty="0">
                <a:solidFill>
                  <a:srgbClr val="A8D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result[1] &gt;= 0.05:</a:t>
            </a:r>
            <a:endParaRPr lang="en-US" sz="900" dirty="0"/>
          </a:p>
          <a:p>
            <a:pPr indent="0" marL="0">
              <a:lnSpc>
                <a:spcPts val="1550"/>
              </a:lnSpc>
              <a:buNone/>
            </a:pPr>
            <a:r>
              <a:rPr lang="en-US" sz="900" dirty="0">
                <a:solidFill>
                  <a:srgbClr val="A8D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print("→ NON stationnaire, différencier")</a:t>
            </a:r>
            <a:endParaRPr lang="en-US" sz="900" dirty="0"/>
          </a:p>
          <a:p>
            <a:pPr indent="0" marL="0">
              <a:lnSpc>
                <a:spcPts val="1550"/>
              </a:lnSpc>
              <a:buNone/>
            </a:pPr>
            <a:r>
              <a:rPr lang="en-US" sz="900" dirty="0">
                <a:solidFill>
                  <a:srgbClr val="A8D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ts_diff = ts.diff().dropna()</a:t>
            </a:r>
            <a:endParaRPr lang="en-US" sz="900" dirty="0"/>
          </a:p>
          <a:p>
            <a:pPr indent="0" marL="0">
              <a:lnSpc>
                <a:spcPts val="1550"/>
              </a:lnSpc>
              <a:buNone/>
            </a:pPr>
            <a:endParaRPr lang="en-US" sz="900" dirty="0"/>
          </a:p>
          <a:p>
            <a:pPr indent="0" marL="0">
              <a:lnSpc>
                <a:spcPts val="1550"/>
              </a:lnSpc>
              <a:buNone/>
            </a:pPr>
            <a:r>
              <a:rPr lang="en-US" sz="900" dirty="0">
                <a:solidFill>
                  <a:srgbClr val="A8D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# Re-tester</a:t>
            </a:r>
            <a:endParaRPr lang="en-US" sz="900" dirty="0"/>
          </a:p>
          <a:p>
            <a:pPr indent="0" marL="0">
              <a:lnSpc>
                <a:spcPts val="1550"/>
              </a:lnSpc>
              <a:buNone/>
            </a:pPr>
            <a:r>
              <a:rPr lang="en-US" sz="900" dirty="0">
                <a:solidFill>
                  <a:srgbClr val="A8D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r2 = adfuller(ts_diff)</a:t>
            </a:r>
            <a:endParaRPr lang="en-US" sz="900" dirty="0"/>
          </a:p>
          <a:p>
            <a:pPr indent="0" marL="0">
              <a:lnSpc>
                <a:spcPts val="1550"/>
              </a:lnSpc>
              <a:buNone/>
            </a:pPr>
            <a:r>
              <a:rPr lang="en-US" sz="900" dirty="0">
                <a:solidFill>
                  <a:srgbClr val="A8D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print(f"Après diff(1) p={r2[1]:.4f}")</a:t>
            </a:r>
            <a:endParaRPr lang="en-US" sz="900" dirty="0"/>
          </a:p>
          <a:p>
            <a:pPr indent="0" marL="0">
              <a:lnSpc>
                <a:spcPts val="1550"/>
              </a:lnSpc>
              <a:buNone/>
            </a:pPr>
            <a:r>
              <a:rPr lang="en-US" sz="900" dirty="0">
                <a:solidFill>
                  <a:srgbClr val="A8D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r2[1] &lt; 0.05:</a:t>
            </a:r>
            <a:endParaRPr lang="en-US" sz="900" dirty="0"/>
          </a:p>
          <a:p>
            <a:pPr indent="0" marL="0">
              <a:lnSpc>
                <a:spcPts val="1550"/>
              </a:lnSpc>
              <a:buNone/>
            </a:pPr>
            <a:r>
              <a:rPr lang="en-US" sz="900" dirty="0">
                <a:solidFill>
                  <a:srgbClr val="A8D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print("→ Stationnaire ✅ d=1")</a:t>
            </a:r>
            <a:endParaRPr lang="en-US" sz="900" dirty="0"/>
          </a:p>
          <a:p>
            <a:pPr indent="0" marL="0">
              <a:lnSpc>
                <a:spcPts val="1550"/>
              </a:lnSpc>
              <a:buNone/>
            </a:pPr>
            <a:r>
              <a:rPr lang="en-US" sz="900" dirty="0">
                <a:solidFill>
                  <a:srgbClr val="A8D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else:</a:t>
            </a:r>
            <a:endParaRPr lang="en-US" sz="900" dirty="0"/>
          </a:p>
          <a:p>
            <a:pPr indent="0" marL="0">
              <a:lnSpc>
                <a:spcPts val="1550"/>
              </a:lnSpc>
              <a:buNone/>
            </a:pPr>
            <a:r>
              <a:rPr lang="en-US" sz="900" dirty="0">
                <a:solidFill>
                  <a:srgbClr val="A8D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ts_diff2 = ts_diff.diff().dropna()</a:t>
            </a:r>
            <a:endParaRPr lang="en-US" sz="900" dirty="0"/>
          </a:p>
          <a:p>
            <a:pPr indent="0" marL="0">
              <a:lnSpc>
                <a:spcPts val="1550"/>
              </a:lnSpc>
              <a:buNone/>
            </a:pPr>
            <a:r>
              <a:rPr lang="en-US" sz="900" dirty="0">
                <a:solidFill>
                  <a:srgbClr val="A8D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# → d=2, ARIMA(p,2,q)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1A6B5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256032" y="164592"/>
            <a:ext cx="85953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A6B5A"/>
                </a:solidFill>
              </a:rPr>
              <a:t>8.4 — ARIMA : Construction et Sélection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256032" y="731520"/>
            <a:ext cx="8503920" cy="27432"/>
          </a:xfrm>
          <a:prstGeom prst="rect">
            <a:avLst/>
          </a:prstGeom>
          <a:solidFill>
            <a:srgbClr val="D5E8F5"/>
          </a:solidFill>
          <a:ln/>
        </p:spPr>
      </p:sp>
      <p:sp>
        <p:nvSpPr>
          <p:cNvPr id="5" name="Shape 3"/>
          <p:cNvSpPr/>
          <p:nvPr/>
        </p:nvSpPr>
        <p:spPr>
          <a:xfrm>
            <a:off x="256032" y="914400"/>
            <a:ext cx="4069080" cy="4069080"/>
          </a:xfrm>
          <a:prstGeom prst="roundRect">
            <a:avLst>
              <a:gd name="adj" fmla="val 2247"/>
            </a:avLst>
          </a:prstGeom>
          <a:solidFill>
            <a:srgbClr val="F4F7FB"/>
          </a:solidFill>
          <a:ln w="12700">
            <a:solidFill>
              <a:srgbClr val="D5E8F5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11480" y="969264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6B5A"/>
                </a:solidFill>
              </a:rPr>
              <a:t>📚 Concept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365760" y="1298448"/>
            <a:ext cx="3886200" cy="3566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050" dirty="0">
                <a:solidFill>
                  <a:srgbClr val="2C3E50"/>
                </a:solidFill>
              </a:rPr>
              <a:t>ARIMA(p, d, q) :</a:t>
            </a:r>
            <a:endParaRPr lang="en-US" sz="10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050" dirty="0">
                <a:solidFill>
                  <a:srgbClr val="2C3E50"/>
                </a:solidFill>
              </a:rPr>
              <a:t>  p = ordre AR → lag PACF non-significatif</a:t>
            </a:r>
            <a:endParaRPr lang="en-US" sz="10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050" dirty="0">
                <a:solidFill>
                  <a:srgbClr val="2C3E50"/>
                </a:solidFill>
              </a:rPr>
              <a:t>  d = différenciation pour stationnariser</a:t>
            </a:r>
            <a:endParaRPr lang="en-US" sz="10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050" dirty="0">
                <a:solidFill>
                  <a:srgbClr val="2C3E50"/>
                </a:solidFill>
              </a:rPr>
              <a:t>  q = ordre MA → lag ACF non-significatif</a:t>
            </a:r>
            <a:endParaRPr lang="en-US" sz="1050" dirty="0"/>
          </a:p>
          <a:p>
            <a:pPr indent="0" marL="0">
              <a:lnSpc>
                <a:spcPts val="1700"/>
              </a:lnSpc>
              <a:buNone/>
            </a:pPr>
            <a:endParaRPr lang="en-US" sz="10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050" dirty="0">
                <a:solidFill>
                  <a:srgbClr val="2C3E50"/>
                </a:solidFill>
              </a:rPr>
              <a:t>Lecture des graphiques :</a:t>
            </a:r>
            <a:endParaRPr lang="en-US" sz="10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050" dirty="0">
                <a:solidFill>
                  <a:srgbClr val="2C3E50"/>
                </a:solidFill>
              </a:rPr>
              <a:t>• PACF coupe au lag k → AR(k) → p=k</a:t>
            </a:r>
            <a:endParaRPr lang="en-US" sz="10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050" dirty="0">
                <a:solidFill>
                  <a:srgbClr val="2C3E50"/>
                </a:solidFill>
              </a:rPr>
              <a:t>• ACF coupe au lag k → MA(k) → q=k</a:t>
            </a:r>
            <a:endParaRPr lang="en-US" sz="1050" dirty="0"/>
          </a:p>
          <a:p>
            <a:pPr indent="0" marL="0">
              <a:lnSpc>
                <a:spcPts val="1700"/>
              </a:lnSpc>
              <a:buNone/>
            </a:pPr>
            <a:endParaRPr lang="en-US" sz="10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050" dirty="0">
                <a:solidFill>
                  <a:srgbClr val="2C3E50"/>
                </a:solidFill>
              </a:rPr>
              <a:t>Principe de parcimonie :</a:t>
            </a:r>
            <a:endParaRPr lang="en-US" sz="10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050" dirty="0">
                <a:solidFill>
                  <a:srgbClr val="2C3E50"/>
                </a:solidFill>
              </a:rPr>
              <a:t>Choisir le modèle le PLUS SIMPLE qui explique les données.</a:t>
            </a:r>
            <a:endParaRPr lang="en-US" sz="1050" dirty="0"/>
          </a:p>
          <a:p>
            <a:pPr indent="0" marL="0">
              <a:lnSpc>
                <a:spcPts val="1700"/>
              </a:lnSpc>
              <a:buNone/>
            </a:pPr>
            <a:endParaRPr lang="en-US" sz="10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050" dirty="0">
                <a:solidFill>
                  <a:srgbClr val="2C3E50"/>
                </a:solidFill>
              </a:rPr>
              <a:t>Évaluation temporelle :</a:t>
            </a:r>
            <a:endParaRPr lang="en-US" sz="10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050" dirty="0">
                <a:solidFill>
                  <a:srgbClr val="2C3E50"/>
                </a:solidFill>
              </a:rPr>
              <a:t>• Split CHRONOLOGIQUE (jamais random !)</a:t>
            </a:r>
            <a:endParaRPr lang="en-US" sz="10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050" dirty="0">
                <a:solidFill>
                  <a:srgbClr val="2C3E50"/>
                </a:solidFill>
              </a:rPr>
              <a:t>• MAE et RMSE sur la période de test</a:t>
            </a:r>
            <a:endParaRPr lang="en-US" sz="10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050" dirty="0">
                <a:solidFill>
                  <a:srgbClr val="2C3E50"/>
                </a:solidFill>
              </a:rPr>
              <a:t>• Diagnostics des résidus (ljung_box)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462272" y="914400"/>
            <a:ext cx="4343400" cy="4069080"/>
          </a:xfrm>
          <a:prstGeom prst="roundRect">
            <a:avLst>
              <a:gd name="adj" fmla="val 2247"/>
            </a:avLst>
          </a:prstGeom>
          <a:solidFill>
            <a:srgbClr val="1E2D40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4617720" y="969264"/>
            <a:ext cx="4023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18F01"/>
                </a:solidFill>
              </a:rPr>
              <a:t>💻 Code Python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4572000" y="1298448"/>
            <a:ext cx="4114800" cy="3566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50"/>
              </a:lnSpc>
              <a:buNone/>
            </a:pPr>
            <a:r>
              <a:rPr lang="en-US" sz="900" dirty="0">
                <a:solidFill>
                  <a:srgbClr val="A8D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statsmodels.tsa.arima.model import ARIMA</a:t>
            </a:r>
            <a:endParaRPr lang="en-US" sz="900" dirty="0"/>
          </a:p>
          <a:p>
            <a:pPr indent="0" marL="0">
              <a:lnSpc>
                <a:spcPts val="1550"/>
              </a:lnSpc>
              <a:buNone/>
            </a:pPr>
            <a:r>
              <a:rPr lang="en-US" sz="900" dirty="0">
                <a:solidFill>
                  <a:srgbClr val="A8D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statsmodels.graphics.tsaplots import (</a:t>
            </a:r>
            <a:endParaRPr lang="en-US" sz="900" dirty="0"/>
          </a:p>
          <a:p>
            <a:pPr indent="0" marL="0">
              <a:lnSpc>
                <a:spcPts val="1550"/>
              </a:lnSpc>
              <a:buNone/>
            </a:pPr>
            <a:r>
              <a:rPr lang="en-US" sz="900" dirty="0">
                <a:solidFill>
                  <a:srgbClr val="A8D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plot_acf, plot_pacf</a:t>
            </a:r>
            <a:endParaRPr lang="en-US" sz="900" dirty="0"/>
          </a:p>
          <a:p>
            <a:pPr indent="0" marL="0">
              <a:lnSpc>
                <a:spcPts val="1550"/>
              </a:lnSpc>
              <a:buNone/>
            </a:pPr>
            <a:r>
              <a:rPr lang="en-US" sz="900" dirty="0">
                <a:solidFill>
                  <a:srgbClr val="A8D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900" dirty="0"/>
          </a:p>
          <a:p>
            <a:pPr indent="0" marL="0">
              <a:lnSpc>
                <a:spcPts val="1550"/>
              </a:lnSpc>
              <a:buNone/>
            </a:pPr>
            <a:endParaRPr lang="en-US" sz="900" dirty="0"/>
          </a:p>
          <a:p>
            <a:pPr indent="0" marL="0">
              <a:lnSpc>
                <a:spcPts val="1550"/>
              </a:lnSpc>
              <a:buNone/>
            </a:pPr>
            <a:r>
              <a:rPr lang="en-US" sz="900" dirty="0">
                <a:solidFill>
                  <a:srgbClr val="A8D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Visualiser pour choisir p et q</a:t>
            </a:r>
            <a:endParaRPr lang="en-US" sz="900" dirty="0"/>
          </a:p>
          <a:p>
            <a:pPr indent="0" marL="0">
              <a:lnSpc>
                <a:spcPts val="1550"/>
              </a:lnSpc>
              <a:buNone/>
            </a:pPr>
            <a:r>
              <a:rPr lang="en-US" sz="900" dirty="0">
                <a:solidFill>
                  <a:srgbClr val="A8D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plot_acf(ts_diff, lags=24)</a:t>
            </a:r>
            <a:endParaRPr lang="en-US" sz="900" dirty="0"/>
          </a:p>
          <a:p>
            <a:pPr indent="0" marL="0">
              <a:lnSpc>
                <a:spcPts val="1550"/>
              </a:lnSpc>
              <a:buNone/>
            </a:pPr>
            <a:r>
              <a:rPr lang="en-US" sz="900" dirty="0">
                <a:solidFill>
                  <a:srgbClr val="A8D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plot_pacf(ts_diff, lags=24, method="ywm")</a:t>
            </a:r>
            <a:endParaRPr lang="en-US" sz="900" dirty="0"/>
          </a:p>
          <a:p>
            <a:pPr indent="0" marL="0">
              <a:lnSpc>
                <a:spcPts val="1550"/>
              </a:lnSpc>
              <a:buNone/>
            </a:pPr>
            <a:endParaRPr lang="en-US" sz="900" dirty="0"/>
          </a:p>
          <a:p>
            <a:pPr indent="0" marL="0">
              <a:lnSpc>
                <a:spcPts val="1550"/>
              </a:lnSpc>
              <a:buNone/>
            </a:pPr>
            <a:r>
              <a:rPr lang="en-US" sz="900" dirty="0">
                <a:solidFill>
                  <a:srgbClr val="A8D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Split chronologique OBLIGATOIRE</a:t>
            </a:r>
            <a:endParaRPr lang="en-US" sz="900" dirty="0"/>
          </a:p>
          <a:p>
            <a:pPr indent="0" marL="0">
              <a:lnSpc>
                <a:spcPts val="1550"/>
              </a:lnSpc>
              <a:buNone/>
            </a:pPr>
            <a:r>
              <a:rPr lang="en-US" sz="900" dirty="0">
                <a:solidFill>
                  <a:srgbClr val="A8D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n_test = 18</a:t>
            </a:r>
            <a:endParaRPr lang="en-US" sz="900" dirty="0"/>
          </a:p>
          <a:p>
            <a:pPr indent="0" marL="0">
              <a:lnSpc>
                <a:spcPts val="1550"/>
              </a:lnSpc>
              <a:buNone/>
            </a:pPr>
            <a:r>
              <a:rPr lang="en-US" sz="900" dirty="0">
                <a:solidFill>
                  <a:srgbClr val="A8D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ts_train = ts.iloc[:-n_test]</a:t>
            </a:r>
            <a:endParaRPr lang="en-US" sz="900" dirty="0"/>
          </a:p>
          <a:p>
            <a:pPr indent="0" marL="0">
              <a:lnSpc>
                <a:spcPts val="1550"/>
              </a:lnSpc>
              <a:buNone/>
            </a:pPr>
            <a:r>
              <a:rPr lang="en-US" sz="900" dirty="0">
                <a:solidFill>
                  <a:srgbClr val="A8D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ts_test  = ts.iloc[-n_test:]</a:t>
            </a:r>
            <a:endParaRPr lang="en-US" sz="900" dirty="0"/>
          </a:p>
          <a:p>
            <a:pPr indent="0" marL="0">
              <a:lnSpc>
                <a:spcPts val="1550"/>
              </a:lnSpc>
              <a:buNone/>
            </a:pPr>
            <a:endParaRPr lang="en-US" sz="900" dirty="0"/>
          </a:p>
          <a:p>
            <a:pPr indent="0" marL="0">
              <a:lnSpc>
                <a:spcPts val="1550"/>
              </a:lnSpc>
              <a:buNone/>
            </a:pPr>
            <a:r>
              <a:rPr lang="en-US" sz="900" dirty="0">
                <a:solidFill>
                  <a:srgbClr val="A8D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Construire et évaluer 3 modèles</a:t>
            </a:r>
            <a:endParaRPr lang="en-US" sz="900" dirty="0"/>
          </a:p>
          <a:p>
            <a:pPr indent="0" marL="0">
              <a:lnSpc>
                <a:spcPts val="1550"/>
              </a:lnSpc>
              <a:buNone/>
            </a:pPr>
            <a:r>
              <a:rPr lang="en-US" sz="900" dirty="0">
                <a:solidFill>
                  <a:srgbClr val="A8D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order in [(1,1,1),(2,1,2),(0,1,1)]:</a:t>
            </a:r>
            <a:endParaRPr lang="en-US" sz="900" dirty="0"/>
          </a:p>
          <a:p>
            <a:pPr indent="0" marL="0">
              <a:lnSpc>
                <a:spcPts val="1550"/>
              </a:lnSpc>
              <a:buNone/>
            </a:pPr>
            <a:r>
              <a:rPr lang="en-US" sz="900" dirty="0">
                <a:solidFill>
                  <a:srgbClr val="A8D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model = ARIMA(ts_train, order=order)</a:t>
            </a:r>
            <a:endParaRPr lang="en-US" sz="900" dirty="0"/>
          </a:p>
          <a:p>
            <a:pPr indent="0" marL="0">
              <a:lnSpc>
                <a:spcPts val="1550"/>
              </a:lnSpc>
              <a:buNone/>
            </a:pPr>
            <a:r>
              <a:rPr lang="en-US" sz="900" dirty="0">
                <a:solidFill>
                  <a:srgbClr val="A8D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fit = model.fit()</a:t>
            </a:r>
            <a:endParaRPr lang="en-US" sz="900" dirty="0"/>
          </a:p>
          <a:p>
            <a:pPr indent="0" marL="0">
              <a:lnSpc>
                <a:spcPts val="1550"/>
              </a:lnSpc>
              <a:buNone/>
            </a:pPr>
            <a:r>
              <a:rPr lang="en-US" sz="900" dirty="0">
                <a:solidFill>
                  <a:srgbClr val="A8D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pred = fit.forecast(steps=n_test)</a:t>
            </a:r>
            <a:endParaRPr lang="en-US" sz="900" dirty="0"/>
          </a:p>
          <a:p>
            <a:pPr indent="0" marL="0">
              <a:lnSpc>
                <a:spcPts val="1550"/>
              </a:lnSpc>
              <a:buNone/>
            </a:pPr>
            <a:r>
              <a:rPr lang="en-US" sz="900" dirty="0">
                <a:solidFill>
                  <a:srgbClr val="A8D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mae = mean_absolute_error(ts_test, pred)</a:t>
            </a:r>
            <a:endParaRPr lang="en-US" sz="900" dirty="0"/>
          </a:p>
          <a:p>
            <a:pPr indent="0" marL="0">
              <a:lnSpc>
                <a:spcPts val="1550"/>
              </a:lnSpc>
              <a:buNone/>
            </a:pPr>
            <a:r>
              <a:rPr lang="en-US" sz="900" dirty="0">
                <a:solidFill>
                  <a:srgbClr val="A8D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print(f"ARIMA{order}: MAE={mae:.1f} USD")</a:t>
            </a:r>
            <a:endParaRPr lang="en-US" sz="900" dirty="0"/>
          </a:p>
          <a:p>
            <a:pPr indent="0" marL="0">
              <a:lnSpc>
                <a:spcPts val="1550"/>
              </a:lnSpc>
              <a:buNone/>
            </a:pPr>
            <a:endParaRPr lang="en-US" sz="900" dirty="0"/>
          </a:p>
          <a:p>
            <a:pPr indent="0" marL="0">
              <a:lnSpc>
                <a:spcPts val="1550"/>
              </a:lnSpc>
              <a:buNone/>
            </a:pPr>
            <a:r>
              <a:rPr lang="en-US" sz="900" dirty="0">
                <a:solidFill>
                  <a:srgbClr val="A8D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Prévision avec IC</a:t>
            </a:r>
            <a:endParaRPr lang="en-US" sz="900" dirty="0"/>
          </a:p>
          <a:p>
            <a:pPr indent="0" marL="0">
              <a:lnSpc>
                <a:spcPts val="1550"/>
              </a:lnSpc>
              <a:buNone/>
            </a:pPr>
            <a:r>
              <a:rPr lang="en-US" sz="900" dirty="0">
                <a:solidFill>
                  <a:srgbClr val="A8D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fc = fit.get_forecast(steps=6)</a:t>
            </a:r>
            <a:endParaRPr lang="en-US" sz="900" dirty="0"/>
          </a:p>
          <a:p>
            <a:pPr indent="0" marL="0">
              <a:lnSpc>
                <a:spcPts val="1550"/>
              </a:lnSpc>
              <a:buNone/>
            </a:pPr>
            <a:r>
              <a:rPr lang="en-US" sz="900" dirty="0">
                <a:solidFill>
                  <a:srgbClr val="A8D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ci = fc.conf_int(alpha=0.05)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oundRect">
            <a:avLst/>
          </a:prstGeom>
          <a:solidFill>
            <a:srgbClr val="1A6B5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274320" y="91440"/>
            <a:ext cx="85953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</a:rPr>
              <a:t>🧪  Exercice 8 — Prévision Prix Cacao — BCC Côte d'Ivoire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274320" y="996696"/>
            <a:ext cx="2286000" cy="274320"/>
          </a:xfrm>
          <a:prstGeom prst="roundRect">
            <a:avLst>
              <a:gd name="adj" fmla="val 20000"/>
            </a:avLst>
          </a:prstGeom>
          <a:solidFill>
            <a:srgbClr val="1A6B5A">
              <a:alpha val="15000"/>
            </a:srgbClr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274320" y="996696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6B5A"/>
                </a:solidFill>
              </a:rPr>
              <a:t>Tâche 1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2697480" y="960120"/>
            <a:ext cx="6217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</a:rPr>
              <a:t>Décomposer la série et identifier visuellement tendance et saisonnalité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74320" y="1801368"/>
            <a:ext cx="2286000" cy="274320"/>
          </a:xfrm>
          <a:prstGeom prst="roundRect">
            <a:avLst>
              <a:gd name="adj" fmla="val 20000"/>
            </a:avLst>
          </a:prstGeom>
          <a:solidFill>
            <a:srgbClr val="1A6B5A">
              <a:alpha val="15000"/>
            </a:srgbClr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274320" y="1801368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6B5A"/>
                </a:solidFill>
              </a:rPr>
              <a:t>Tâche 2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2697480" y="1764792"/>
            <a:ext cx="6217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</a:rPr>
              <a:t>Test ADF → différencier si nécessaire → re-tester jusqu'à stationnarité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74320" y="2606040"/>
            <a:ext cx="2286000" cy="274320"/>
          </a:xfrm>
          <a:prstGeom prst="roundRect">
            <a:avLst>
              <a:gd name="adj" fmla="val 20000"/>
            </a:avLst>
          </a:prstGeom>
          <a:solidFill>
            <a:srgbClr val="1A6B5A">
              <a:alpha val="15000"/>
            </a:srgbClr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274320" y="260604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6B5A"/>
                </a:solidFill>
              </a:rPr>
              <a:t>Tâche 3</a:t>
            </a:r>
            <a:endParaRPr lang="en-US" sz="900" dirty="0"/>
          </a:p>
        </p:txBody>
      </p:sp>
      <p:sp>
        <p:nvSpPr>
          <p:cNvPr id="12" name="Text 10"/>
          <p:cNvSpPr txBox="1"/>
          <p:nvPr/>
        </p:nvSpPr>
        <p:spPr>
          <a:xfrm>
            <a:off x="2697480" y="2569464"/>
            <a:ext cx="6217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</a:rPr>
              <a:t>ACF et PACF sur la série stationnaire → choisir p et q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74320" y="3410712"/>
            <a:ext cx="2286000" cy="274320"/>
          </a:xfrm>
          <a:prstGeom prst="roundRect">
            <a:avLst>
              <a:gd name="adj" fmla="val 20000"/>
            </a:avLst>
          </a:prstGeom>
          <a:solidFill>
            <a:srgbClr val="1A6B5A">
              <a:alpha val="15000"/>
            </a:srgbClr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274320" y="3410712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6B5A"/>
                </a:solidFill>
              </a:rPr>
              <a:t>Tâche 4</a:t>
            </a:r>
            <a:endParaRPr lang="en-US" sz="900" dirty="0"/>
          </a:p>
        </p:txBody>
      </p:sp>
      <p:sp>
        <p:nvSpPr>
          <p:cNvPr id="15" name="Text 13"/>
          <p:cNvSpPr txBox="1"/>
          <p:nvPr/>
        </p:nvSpPr>
        <p:spPr>
          <a:xfrm>
            <a:off x="2697480" y="3374136"/>
            <a:ext cx="6217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</a:rPr>
              <a:t>Construire et comparer AR(3), ARIMA(1,1,1) et ARIMA(2,1,2) sur 18 mois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274320" y="4215384"/>
            <a:ext cx="2286000" cy="274320"/>
          </a:xfrm>
          <a:prstGeom prst="roundRect">
            <a:avLst>
              <a:gd name="adj" fmla="val 20000"/>
            </a:avLst>
          </a:prstGeom>
          <a:solidFill>
            <a:srgbClr val="1A6B5A">
              <a:alpha val="15000"/>
            </a:srgbClr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274320" y="4215384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6B5A"/>
                </a:solidFill>
              </a:rPr>
              <a:t>Tâche 5</a:t>
            </a:r>
            <a:endParaRPr lang="en-US" sz="900" dirty="0"/>
          </a:p>
        </p:txBody>
      </p:sp>
      <p:sp>
        <p:nvSpPr>
          <p:cNvPr id="18" name="Text 16"/>
          <p:cNvSpPr txBox="1"/>
          <p:nvPr/>
        </p:nvSpPr>
        <p:spPr>
          <a:xfrm>
            <a:off x="2697480" y="4178808"/>
            <a:ext cx="6217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</a:rPr>
              <a:t>Prévision 6 mois avec IC 95% + rédiger une note aux coopératives de la BCC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274320" y="4645152"/>
            <a:ext cx="8595360" cy="347472"/>
          </a:xfrm>
          <a:prstGeom prst="roundRect">
            <a:avLst>
              <a:gd name="adj" fmla="val 18421"/>
            </a:avLst>
          </a:prstGeom>
          <a:solidFill>
            <a:srgbClr val="E8F4F8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411480" y="4663440"/>
            <a:ext cx="83210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5276"/>
                </a:solidFill>
              </a:rPr>
              <a:t>💡 Hint : Split chronologique OBLIGATOIRE : train = tout sauf les 18 derniers mois du dataset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A6B5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74320" y="182880"/>
            <a:ext cx="84124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18F01"/>
                </a:solidFill>
              </a:rPr>
              <a:t>📋  Critères de Validation — CRT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274320" y="768096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5E8F5"/>
                </a:solidFill>
              </a:rPr>
              <a:t>Semaine 8 — Séries Temporelles &amp; Prévision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65760" y="1298448"/>
            <a:ext cx="2651760" cy="1371600"/>
          </a:xfrm>
          <a:prstGeom prst="roundRect">
            <a:avLst>
              <a:gd name="adj" fmla="val 6667"/>
            </a:avLst>
          </a:prstGeom>
          <a:solidFill>
            <a:srgbClr val="FFFFFF">
              <a:alpha val="85000"/>
            </a:srgbClr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188720" y="1389888"/>
            <a:ext cx="1005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🎯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901952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5E8F5"/>
                </a:solidFill>
              </a:rPr>
              <a:t>Score minimum CRT</a:t>
            </a:r>
            <a:endParaRPr lang="en-US" sz="95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228600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18F01"/>
                </a:solidFill>
              </a:rPr>
              <a:t>≥ 70%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200400" y="1298448"/>
            <a:ext cx="2651760" cy="1371600"/>
          </a:xfrm>
          <a:prstGeom prst="roundRect">
            <a:avLst>
              <a:gd name="adj" fmla="val 6667"/>
            </a:avLst>
          </a:prstGeom>
          <a:solidFill>
            <a:srgbClr val="FFFFFF">
              <a:alpha val="85000"/>
            </a:srgbClr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4023360" y="1389888"/>
            <a:ext cx="1005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📁</a:t>
            </a:r>
            <a:endParaRPr lang="en-US" sz="2200" dirty="0"/>
          </a:p>
        </p:txBody>
      </p:sp>
      <p:sp>
        <p:nvSpPr>
          <p:cNvPr id="10" name="Text 8"/>
          <p:cNvSpPr txBox="1"/>
          <p:nvPr/>
        </p:nvSpPr>
        <p:spPr>
          <a:xfrm>
            <a:off x="3291840" y="1901952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5E8F5"/>
                </a:solidFill>
              </a:rPr>
              <a:t>Livrable soumis</a:t>
            </a:r>
            <a:endParaRPr lang="en-US" sz="950" dirty="0"/>
          </a:p>
        </p:txBody>
      </p:sp>
      <p:sp>
        <p:nvSpPr>
          <p:cNvPr id="11" name="Text 9"/>
          <p:cNvSpPr txBox="1"/>
          <p:nvPr/>
        </p:nvSpPr>
        <p:spPr>
          <a:xfrm>
            <a:off x="3291840" y="228600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18F01"/>
                </a:solidFill>
              </a:rPr>
              <a:t>Notebook validé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035040" y="1298448"/>
            <a:ext cx="2651760" cy="1371600"/>
          </a:xfrm>
          <a:prstGeom prst="roundRect">
            <a:avLst>
              <a:gd name="adj" fmla="val 6667"/>
            </a:avLst>
          </a:prstGeom>
          <a:solidFill>
            <a:srgbClr val="FFFFFF">
              <a:alpha val="85000"/>
            </a:srgbClr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858000" y="1389888"/>
            <a:ext cx="1005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🔓</a:t>
            </a:r>
            <a:endParaRPr lang="en-US" sz="2200" dirty="0"/>
          </a:p>
        </p:txBody>
      </p:sp>
      <p:sp>
        <p:nvSpPr>
          <p:cNvPr id="14" name="Text 12"/>
          <p:cNvSpPr txBox="1"/>
          <p:nvPr/>
        </p:nvSpPr>
        <p:spPr>
          <a:xfrm>
            <a:off x="6126480" y="1901952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5E8F5"/>
                </a:solidFill>
              </a:rPr>
              <a:t>Déblocage Sem +1</a:t>
            </a:r>
            <a:endParaRPr lang="en-US" sz="950" dirty="0"/>
          </a:p>
        </p:txBody>
      </p:sp>
      <p:sp>
        <p:nvSpPr>
          <p:cNvPr id="15" name="Text 13"/>
          <p:cNvSpPr txBox="1"/>
          <p:nvPr/>
        </p:nvSpPr>
        <p:spPr>
          <a:xfrm>
            <a:off x="6126480" y="228600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18F01"/>
                </a:solidFill>
              </a:rPr>
              <a:t>Auto si CRT OK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274320" y="292608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Critères d'évaluation de la semaine :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274320" y="3337560"/>
            <a:ext cx="201168" cy="201168"/>
          </a:xfrm>
          <a:prstGeom prst="ellipse">
            <a:avLst/>
          </a:prstGeom>
          <a:solidFill>
            <a:srgbClr val="F18F01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566928" y="3291840"/>
            <a:ext cx="8229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5E8F5"/>
                </a:solidFill>
              </a:rPr>
              <a:t>Interpréter le résultat d'un test ADF (statistique, p-value, conclusion)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274320" y="3685032"/>
            <a:ext cx="201168" cy="201168"/>
          </a:xfrm>
          <a:prstGeom prst="ellipse">
            <a:avLst/>
          </a:prstGeom>
          <a:solidFill>
            <a:srgbClr val="F18F01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566928" y="3639312"/>
            <a:ext cx="8229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5E8F5"/>
                </a:solidFill>
              </a:rPr>
              <a:t>Lire un graphique ACF/PACF pour identifier p et q du modèle ARIMA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274320" y="4032504"/>
            <a:ext cx="201168" cy="201168"/>
          </a:xfrm>
          <a:prstGeom prst="ellipse">
            <a:avLst/>
          </a:prstGeom>
          <a:solidFill>
            <a:srgbClr val="F18F01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566928" y="3986784"/>
            <a:ext cx="8229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5E8F5"/>
                </a:solidFill>
              </a:rPr>
              <a:t>Expliquer pourquoi le split temporel doit être chronologique (pas random)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74320" y="4379976"/>
            <a:ext cx="201168" cy="201168"/>
          </a:xfrm>
          <a:prstGeom prst="ellipse">
            <a:avLst/>
          </a:prstGeom>
          <a:solidFill>
            <a:srgbClr val="F18F01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566928" y="4334256"/>
            <a:ext cx="8229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5E8F5"/>
                </a:solidFill>
              </a:rPr>
              <a:t>3 modèles comparés par MAE et RMSE sur la période de test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274320" y="4727448"/>
            <a:ext cx="201168" cy="201168"/>
          </a:xfrm>
          <a:prstGeom prst="ellipse">
            <a:avLst/>
          </a:prstGeom>
          <a:solidFill>
            <a:srgbClr val="F18F01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566928" y="4681728"/>
            <a:ext cx="8229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5E8F5"/>
                </a:solidFill>
              </a:rPr>
              <a:t>Prévisions avec intervalles de confiance + note coopératives soumise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2026-09-10T02:16:35Z</dcterms:created>
  <dcterms:modified xsi:type="dcterms:W3CDTF">2026-09-10T02:16:35Z</dcterms:modified>
</cp:coreProperties>
</file>